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B9B3-1F68-4849-B30B-DF46538D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77B71-0BB6-4D09-BF29-98FCBB63D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58A6E-4D53-4D40-A388-F7D123E8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168F7-F55B-4CB1-BAD5-CB60F7CC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F3AFA-A5AC-4C3F-87E8-26E92B2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916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EC48-DFFA-4F86-9C9F-64F75A63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5D2C-EB8E-4405-BD05-3B63F185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071D-5544-4057-A859-D34FD19A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C9EA-B3A5-42CF-9440-F8356432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3986D-5F67-4DFB-8049-4E1BB559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83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F838-E4C6-43E1-9C0B-FEE1202A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4A677-92AC-48E9-BEAE-0A2C0D893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8E499-87F5-4A3E-A8E0-C59DE200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18B6D-1E6E-4BEF-92D8-8058BA68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4C19A-61C5-4B7C-989D-FE61A651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352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5665-ED27-4775-8CF7-3064CCD3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7E1F-4982-4055-B6F2-A0C887507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F193-D189-4179-82BF-A42B6793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09898-7DD9-4D76-A0A1-907EEA0A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2DFD9-442F-45C7-8514-6F144481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045C3-A8A3-470F-BDD0-FDC0C07D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997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43BE-C342-4BD6-8D41-B3E106E7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DBBA2-C4A6-44FD-882F-FB735B882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E69CE-FE1A-40AC-A2D6-6FA6C7B79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95CEE-7052-4B3D-B888-9E393425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2006C-BB9D-4E15-A6A2-9A4F33C17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B2E9F-D3BC-46AB-B4D7-4D65618A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A24B4-C676-4B2E-B988-BD4D60A3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0DA75-C4A2-427C-A31E-16E35ED8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351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6E23-B2A9-4C05-98D7-75E511C4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943C8-55FD-4676-B4A9-B7B6335C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D7238-B898-4FA1-8FE9-DC60641A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6435A-718C-4FA0-9957-7E60C033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876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586A0-A51C-452B-AF4B-3D97D7F27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FA70B-E74F-4AB3-98E8-162CE4B7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026-2B37-4142-A2D7-92FEB573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238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6732-3AB2-40BD-B526-0BC0A2A7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35C8-9806-4FD1-B0C4-639A43D1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12A4-74CA-4F74-B2BA-D75FC7126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B68E4-5B8F-4772-B988-4F9C917D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5BD92-97D2-4FBE-8C86-225B9974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0C83D-4654-4F85-B345-5FCDB54E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236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172C-05E1-431E-9910-E9391924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733B4-AACA-42A1-BF11-E81A2FAF9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0BC53-280D-4C19-8BEA-780C9AEBF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544CF-79BA-4C35-86E4-81E8510A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342E8-8386-4DF0-89E5-69AAADDC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B66F4-4112-49C8-B97B-CE6AFA1F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967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F2FB-B763-4286-A7DF-1D51747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8CAB8-9340-4A76-B11D-39E026D26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05C06-3832-4A80-BFBB-B11BA75F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B3F30-AFE1-4309-92A1-BCDA3448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B810-68AA-49F1-8691-8B1EC2AA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11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64F4E-AF2C-44EC-B0BE-5A3F59EB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006E7-3364-4253-B236-80487B946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E2677-8BCD-4209-A889-5D255EC3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7FEBB-C15E-41D5-A798-0C119256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19D9A-FA5C-4FD3-B475-E1F079CA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588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ECB86-2835-4AEC-8E64-9F352D05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02C7F-41A9-4032-A53F-A78486590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826CB-CB3F-443E-956D-49DB5C205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FDAA9-4C3D-4856-A78D-9927E6DD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CD670-673A-4957-9233-543114D70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46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2A163D-5438-4B1F-BD4C-515903D6E28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0BA04-FC83-4D69-BAD7-399F862605EF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E603B-EBAB-4055-B1B6-9317320DF7C1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MANUAL DE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5C11B-7F0B-4283-8DC5-3260179B370A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1C00205-63FB-44C3-834C-81E6F6D6D88C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3868D-254A-492A-8A86-B4B6B4956497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F1BB7-51F3-4990-A1C7-93427B3A4941}"/>
              </a:ext>
            </a:extLst>
          </p:cNvPr>
          <p:cNvSpPr/>
          <p:nvPr/>
        </p:nvSpPr>
        <p:spPr>
          <a:xfrm>
            <a:off x="0" y="101600"/>
            <a:ext cx="12192000" cy="63754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B8987C-9493-4CAE-8C2B-AA79A5033930}"/>
              </a:ext>
            </a:extLst>
          </p:cNvPr>
          <p:cNvSpPr/>
          <p:nvPr/>
        </p:nvSpPr>
        <p:spPr>
          <a:xfrm>
            <a:off x="0" y="101600"/>
            <a:ext cx="4191000" cy="6375400"/>
          </a:xfrm>
          <a:prstGeom prst="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B81DEE-7C67-4D90-8144-768488872B2C}"/>
              </a:ext>
            </a:extLst>
          </p:cNvPr>
          <p:cNvSpPr txBox="1"/>
          <p:nvPr/>
        </p:nvSpPr>
        <p:spPr>
          <a:xfrm>
            <a:off x="685800" y="965200"/>
            <a:ext cx="2921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3200" b="1">
                <a:solidFill>
                  <a:srgbClr val="FFFFFF"/>
                </a:solidFill>
                <a:latin typeface="Aptos"/>
              </a:rPr>
              <a:t>KittyHP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A2259-85AE-4D9C-B409-6CC43F39E1B1}"/>
              </a:ext>
            </a:extLst>
          </p:cNvPr>
          <p:cNvSpPr txBox="1"/>
          <p:nvPr/>
        </p:nvSpPr>
        <p:spPr>
          <a:xfrm>
            <a:off x="685800" y="1968500"/>
            <a:ext cx="31115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3100" b="1">
                <a:solidFill>
                  <a:srgbClr val="FFFFFF"/>
                </a:solidFill>
                <a:latin typeface="Aptos"/>
              </a:rPr>
              <a:t>Manual de usuario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305D2-D7B2-4BEE-9D92-57BA8E4455B3}"/>
              </a:ext>
            </a:extLst>
          </p:cNvPr>
          <p:cNvSpPr txBox="1"/>
          <p:nvPr/>
        </p:nvSpPr>
        <p:spPr>
          <a:xfrm>
            <a:off x="698500" y="3302000"/>
            <a:ext cx="292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C8DBF2"/>
                </a:solidFill>
                <a:latin typeface="Aptos"/>
              </a:rPr>
              <a:t>Reportes de reparación y Overall FPF Trend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13C88-B517-4016-9A69-182597C7D824}"/>
              </a:ext>
            </a:extLst>
          </p:cNvPr>
          <p:cNvSpPr txBox="1"/>
          <p:nvPr/>
        </p:nvSpPr>
        <p:spPr>
          <a:xfrm>
            <a:off x="698500" y="54864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C8DBF2"/>
                </a:solidFill>
                <a:latin typeface="Aptos"/>
              </a:rPr>
              <a:t>Versión 1.0 · Julio 2026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9E43D1-ABBE-40D5-91B4-B0AF26EA41D3}"/>
              </a:ext>
            </a:extLst>
          </p:cNvPr>
          <p:cNvSpPr/>
          <p:nvPr/>
        </p:nvSpPr>
        <p:spPr>
          <a:xfrm>
            <a:off x="4635500" y="952500"/>
            <a:ext cx="6921500" cy="394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9BC290-BB5A-4A4C-A6FE-D0C32EC601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1016000"/>
            <a:ext cx="6794500" cy="38227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B2A5B4-D0CB-4E38-9D4A-ED4384D53E42}"/>
              </a:ext>
            </a:extLst>
          </p:cNvPr>
          <p:cNvSpPr/>
          <p:nvPr/>
        </p:nvSpPr>
        <p:spPr>
          <a:xfrm>
            <a:off x="4889500" y="5105400"/>
            <a:ext cx="641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C6601-161F-4272-89B0-ADEED6DC68DD}"/>
              </a:ext>
            </a:extLst>
          </p:cNvPr>
          <p:cNvSpPr txBox="1"/>
          <p:nvPr/>
        </p:nvSpPr>
        <p:spPr>
          <a:xfrm>
            <a:off x="5207000" y="5308600"/>
            <a:ext cx="5778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E5799"/>
                </a:solidFill>
                <a:latin typeface="Aptos"/>
              </a:rPr>
              <a:t>Guía rápida, operativa y visual</a:t>
            </a:r>
          </a:p>
        </p:txBody>
      </p:sp>
    </p:spTree>
    <p:extLst>
      <p:ext uri="{BB962C8B-B14F-4D97-AF65-F5344CB8AC3E}">
        <p14:creationId xmlns:p14="http://schemas.microsoft.com/office/powerpoint/2010/main" val="182636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7DB38-6866-406A-B548-BFC2FB4886D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B9418-37CF-4F3F-AFAB-64501D9FC57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75EFE-9000-43B2-A0BD-5F258DAFF0E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INTRODUCCIÓN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F7C9A-6618-4F68-9F9F-5895154BBF8A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8A05DAE9-4BC3-4607-86E7-DCBC930986D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BC22E-7070-4208-A7C8-33E1FDA13D38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EE862-4B38-46E3-8DD5-87F042285BCB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¿Qué cubre este manual?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04036-5980-4B2D-96BE-35A33A966903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Un recorrido completo por el uso diario del sistema.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52F695-D432-4228-AD92-2A2183BF2E71}"/>
              </a:ext>
            </a:extLst>
          </p:cNvPr>
          <p:cNvSpPr/>
          <p:nvPr/>
        </p:nvSpPr>
        <p:spPr>
          <a:xfrm>
            <a:off x="50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9ED7AA-CD1B-4EF2-A90C-495FE101A26A}"/>
              </a:ext>
            </a:extLst>
          </p:cNvPr>
          <p:cNvSpPr/>
          <p:nvPr/>
        </p:nvSpPr>
        <p:spPr>
          <a:xfrm>
            <a:off x="508000" y="1968500"/>
            <a:ext cx="3429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9D7FF-1B18-49E5-BCB0-49EB9C649A31}"/>
              </a:ext>
            </a:extLst>
          </p:cNvPr>
          <p:cNvSpPr txBox="1"/>
          <p:nvPr/>
        </p:nvSpPr>
        <p:spPr>
          <a:xfrm>
            <a:off x="78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ADMIN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64956-171B-416B-B574-DA834EF00624}"/>
              </a:ext>
            </a:extLst>
          </p:cNvPr>
          <p:cNvSpPr txBox="1"/>
          <p:nvPr/>
        </p:nvSpPr>
        <p:spPr>
          <a:xfrm>
            <a:off x="78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Acceso completo.
Usuarios, catálogos, reportes y Overall.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1C2C61-7D0A-48D5-9EE5-0DA48B3BB7BA}"/>
              </a:ext>
            </a:extLst>
          </p:cNvPr>
          <p:cNvSpPr/>
          <p:nvPr/>
        </p:nvSpPr>
        <p:spPr>
          <a:xfrm>
            <a:off x="431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8759D-5585-411E-9B58-E2831AD49F84}"/>
              </a:ext>
            </a:extLst>
          </p:cNvPr>
          <p:cNvSpPr/>
          <p:nvPr/>
        </p:nvSpPr>
        <p:spPr>
          <a:xfrm>
            <a:off x="4318000" y="1968500"/>
            <a:ext cx="3429000" cy="101600"/>
          </a:xfrm>
          <a:prstGeom prst="rect">
            <a:avLst/>
          </a:prstGeom>
          <a:solidFill>
            <a:srgbClr val="168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37817-8D8C-4BDA-B790-755413C92B81}"/>
              </a:ext>
            </a:extLst>
          </p:cNvPr>
          <p:cNvSpPr txBox="1"/>
          <p:nvPr/>
        </p:nvSpPr>
        <p:spPr>
          <a:xfrm>
            <a:off x="459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USER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09CEF-4914-46B5-A1FF-5F5AF81E175B}"/>
              </a:ext>
            </a:extLst>
          </p:cNvPr>
          <p:cNvSpPr txBox="1"/>
          <p:nvPr/>
        </p:nvSpPr>
        <p:spPr>
          <a:xfrm>
            <a:off x="459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Opera reportes y Overall.
No administra usuarios.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D810E2-3188-4E6C-9EA6-57DF11AB0FA3}"/>
              </a:ext>
            </a:extLst>
          </p:cNvPr>
          <p:cNvSpPr/>
          <p:nvPr/>
        </p:nvSpPr>
        <p:spPr>
          <a:xfrm>
            <a:off x="812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CBCB21-E4FF-4E8D-88FE-03AE22A24FE3}"/>
              </a:ext>
            </a:extLst>
          </p:cNvPr>
          <p:cNvSpPr/>
          <p:nvPr/>
        </p:nvSpPr>
        <p:spPr>
          <a:xfrm>
            <a:off x="8128000" y="1968500"/>
            <a:ext cx="3429000" cy="101600"/>
          </a:xfrm>
          <a:prstGeom prst="rect">
            <a:avLst/>
          </a:prstGeom>
          <a:solidFill>
            <a:srgbClr val="5D6B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9A581-A82A-4899-B305-53982B01A76D}"/>
              </a:ext>
            </a:extLst>
          </p:cNvPr>
          <p:cNvSpPr txBox="1"/>
          <p:nvPr/>
        </p:nvSpPr>
        <p:spPr>
          <a:xfrm>
            <a:off x="840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5D6B82"/>
                </a:solidFill>
                <a:latin typeface="Aptos"/>
              </a:rPr>
              <a:t>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F1F49-0034-4A6A-BBCA-7E0339DDD3FC}"/>
              </a:ext>
            </a:extLst>
          </p:cNvPr>
          <p:cNvSpPr txBox="1"/>
          <p:nvPr/>
        </p:nvSpPr>
        <p:spPr>
          <a:xfrm>
            <a:off x="840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Consulta información.
Sin edición ni descarga de Excel.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E5D0A-0B31-45EE-B2A7-93290D769DBF}"/>
              </a:ext>
            </a:extLst>
          </p:cNvPr>
          <p:cNvSpPr/>
          <p:nvPr/>
        </p:nvSpPr>
        <p:spPr>
          <a:xfrm>
            <a:off x="508000" y="4699000"/>
            <a:ext cx="11049000" cy="12065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3E178-5FFE-49CE-8636-71F5BB090B5E}"/>
              </a:ext>
            </a:extLst>
          </p:cNvPr>
          <p:cNvSpPr txBox="1"/>
          <p:nvPr/>
        </p:nvSpPr>
        <p:spPr>
          <a:xfrm>
            <a:off x="762000" y="49276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Flujo recomendado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33FEC3-9BC0-4922-9E11-03C1034002C4}"/>
              </a:ext>
            </a:extLst>
          </p:cNvPr>
          <p:cNvSpPr txBox="1"/>
          <p:nvPr/>
        </p:nvSpPr>
        <p:spPr>
          <a:xfrm>
            <a:off x="762000" y="53340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600" b="1">
                <a:solidFill>
                  <a:srgbClr val="0B2F5B"/>
                </a:solidFill>
                <a:latin typeface="Aptos"/>
              </a:rPr>
              <a:t>Ingresar  →  revisar Reportes  →  importar o crear  →  validar Overall  →  completar evidencia</a:t>
            </a:r>
          </a:p>
        </p:txBody>
      </p:sp>
    </p:spTree>
    <p:extLst>
      <p:ext uri="{BB962C8B-B14F-4D97-AF65-F5344CB8AC3E}">
        <p14:creationId xmlns:p14="http://schemas.microsoft.com/office/powerpoint/2010/main" val="426574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38FA26-27C2-465B-BF83-8112BF96443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FA041-8609-4763-96D3-EC80E7B3D50E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55167-FE5D-42F1-A605-16E8D3CF0E4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ACCESO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CE9BD-88C1-4262-8DB8-683D890499F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57C762BA-82FB-4655-801F-A2ED87825E97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C5AEA-F816-4E3F-AF30-E77929067689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D732B-9913-40D6-BEC6-7999A2E8732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1. Iniciar sesión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9A8E3-BF5C-4D11-AB2C-754D8B4AEE5D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Usa tu cuenta corporativa de Inventec.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BA9782-CBB7-4F26-AF0B-3101ED44E27E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85904-7008-4A60-96EB-1D0F2D09BE98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Escribe únicamente Apellido.Nombre.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63098-8383-4841-9AF7-6E181AF468B2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5A3B7-25BD-44A6-B4A6-75136E5418DA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Ingresa la contraseña y selecciona Ingresar.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197418-70C3-47E4-98A5-EE4ADF895213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FD209-DD94-48ED-9E81-8B29944E7420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Usa “¿La olvidaste?” para recuperar acceso.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9718DD-A127-45DE-BAB1-484A57B0C8F5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4FF415-ADD8-4543-BFD1-1B64441B08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3F632F08-B09D-447D-B55C-1C3DDFF19E35}"/>
              </a:ext>
            </a:extLst>
          </p:cNvPr>
          <p:cNvSpPr/>
          <p:nvPr/>
        </p:nvSpPr>
        <p:spPr>
          <a:xfrm>
            <a:off x="6680200" y="36322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E4CA9-A991-48B3-869E-0F46058CF40D}"/>
              </a:ext>
            </a:extLst>
          </p:cNvPr>
          <p:cNvSpPr txBox="1"/>
          <p:nvPr/>
        </p:nvSpPr>
        <p:spPr>
          <a:xfrm>
            <a:off x="6692900" y="36830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5017F-E3DB-4509-A515-3B1EE3D6873E}"/>
              </a:ext>
            </a:extLst>
          </p:cNvPr>
          <p:cNvSpPr txBox="1"/>
          <p:nvPr/>
        </p:nvSpPr>
        <p:spPr>
          <a:xfrm>
            <a:off x="6985000" y="3619500"/>
            <a:ext cx="165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Correo corporativo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E860AA-6BC4-4CA8-8DF1-6CA4699C06EA}"/>
              </a:ext>
            </a:extLst>
          </p:cNvPr>
          <p:cNvCxnSpPr/>
          <p:nvPr/>
        </p:nvCxnSpPr>
        <p:spPr>
          <a:xfrm>
            <a:off x="6858000" y="3810000"/>
            <a:ext cx="1079500" cy="889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5EE7382-E32F-4153-840D-9DCC69ACEEDA}"/>
              </a:ext>
            </a:extLst>
          </p:cNvPr>
          <p:cNvSpPr/>
          <p:nvPr/>
        </p:nvSpPr>
        <p:spPr>
          <a:xfrm>
            <a:off x="6680200" y="41783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287532-5AE7-42EA-95EF-E0BC9A1EC781}"/>
              </a:ext>
            </a:extLst>
          </p:cNvPr>
          <p:cNvSpPr txBox="1"/>
          <p:nvPr/>
        </p:nvSpPr>
        <p:spPr>
          <a:xfrm>
            <a:off x="6692900" y="42291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D43622-1189-4707-B413-76CD7901DDA5}"/>
              </a:ext>
            </a:extLst>
          </p:cNvPr>
          <p:cNvSpPr txBox="1"/>
          <p:nvPr/>
        </p:nvSpPr>
        <p:spPr>
          <a:xfrm>
            <a:off x="6985000" y="41656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Contraseña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925499-0DA0-49E8-91FE-1EC1E015B4CD}"/>
              </a:ext>
            </a:extLst>
          </p:cNvPr>
          <p:cNvCxnSpPr/>
          <p:nvPr/>
        </p:nvCxnSpPr>
        <p:spPr>
          <a:xfrm>
            <a:off x="6858000" y="4356100"/>
            <a:ext cx="1079500" cy="762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EAA3CFD-0157-44C0-8592-A8F1E260911F}"/>
              </a:ext>
            </a:extLst>
          </p:cNvPr>
          <p:cNvSpPr/>
          <p:nvPr/>
        </p:nvSpPr>
        <p:spPr>
          <a:xfrm>
            <a:off x="8737600" y="48514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7480D4-EAFE-4DC4-9296-38603366A373}"/>
              </a:ext>
            </a:extLst>
          </p:cNvPr>
          <p:cNvSpPr txBox="1"/>
          <p:nvPr/>
        </p:nvSpPr>
        <p:spPr>
          <a:xfrm>
            <a:off x="8750300" y="49022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88150-317B-4867-93DD-0557A40E2B10}"/>
              </a:ext>
            </a:extLst>
          </p:cNvPr>
          <p:cNvSpPr txBox="1"/>
          <p:nvPr/>
        </p:nvSpPr>
        <p:spPr>
          <a:xfrm>
            <a:off x="9105900" y="48641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Ingresar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193EB6-08CC-44B8-82A0-3EE2F86BE37F}"/>
              </a:ext>
            </a:extLst>
          </p:cNvPr>
          <p:cNvCxnSpPr/>
          <p:nvPr/>
        </p:nvCxnSpPr>
        <p:spPr>
          <a:xfrm flipV="1">
            <a:off x="8940800" y="4851400"/>
            <a:ext cx="508000" cy="1651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17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35FE64-4091-4B93-A644-AB45D191ED4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48639-E40E-4F66-A03C-F350F4A4654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60270-ACCD-4167-8BCE-13D5364A1695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ACCESO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01CD5-6900-485B-8EE7-2D9B8A9A8BEE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2171E38F-6810-4EAF-B9D0-3E967E6E2C0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96070-0A47-4DFC-87B9-6884AC8D73C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0FE8F-57B8-4DBE-8F83-C30EDBFCF9E2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2. Registro y recuperación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A6BD2-C646-442D-9001-CAA06794E785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Las dos rutas están disponibles desde la pantalla de acceso.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CA0BF8-F859-451B-A436-1620CAE9EA1A}"/>
              </a:ext>
            </a:extLst>
          </p:cNvPr>
          <p:cNvSpPr/>
          <p:nvPr/>
        </p:nvSpPr>
        <p:spPr>
          <a:xfrm>
            <a:off x="444500" y="1778000"/>
            <a:ext cx="54610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E86BA5-7D08-451A-B457-D380F6A0748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41500"/>
            <a:ext cx="5334000" cy="29972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09C6EC-5AC1-4529-8CED-221B682BE470}"/>
              </a:ext>
            </a:extLst>
          </p:cNvPr>
          <p:cNvSpPr/>
          <p:nvPr/>
        </p:nvSpPr>
        <p:spPr>
          <a:xfrm>
            <a:off x="6286500" y="1778000"/>
            <a:ext cx="54610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7BE35D-B92B-4675-98E3-DB8629C98F8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841500"/>
            <a:ext cx="5334000" cy="299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E65C1F-D513-4B03-AC39-5BD68944798A}"/>
              </a:ext>
            </a:extLst>
          </p:cNvPr>
          <p:cNvSpPr txBox="1"/>
          <p:nvPr/>
        </p:nvSpPr>
        <p:spPr>
          <a:xfrm>
            <a:off x="508000" y="5016500"/>
            <a:ext cx="254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Registro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67A11-7CED-4CAF-8AE6-370E63FC37CF}"/>
              </a:ext>
            </a:extLst>
          </p:cNvPr>
          <p:cNvSpPr txBox="1"/>
          <p:nvPr/>
        </p:nvSpPr>
        <p:spPr>
          <a:xfrm>
            <a:off x="508000" y="5372100"/>
            <a:ext cx="533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Completa correo, contraseña y el código de verificación enviado.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8A62B-7808-4D76-8E52-5B115BDB0F9A}"/>
              </a:ext>
            </a:extLst>
          </p:cNvPr>
          <p:cNvSpPr txBox="1"/>
          <p:nvPr/>
        </p:nvSpPr>
        <p:spPr>
          <a:xfrm>
            <a:off x="6350000" y="5016500"/>
            <a:ext cx="330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Recuperar contraseña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FBA656-2F2E-4ECB-A20D-64B34516B8CA}"/>
              </a:ext>
            </a:extLst>
          </p:cNvPr>
          <p:cNvSpPr txBox="1"/>
          <p:nvPr/>
        </p:nvSpPr>
        <p:spPr>
          <a:xfrm>
            <a:off x="6350000" y="5372100"/>
            <a:ext cx="533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Solicita el código, valida tu identidad y define una nueva contraseña.</a:t>
            </a:r>
          </a:p>
        </p:txBody>
      </p:sp>
    </p:spTree>
    <p:extLst>
      <p:ext uri="{BB962C8B-B14F-4D97-AF65-F5344CB8AC3E}">
        <p14:creationId xmlns:p14="http://schemas.microsoft.com/office/powerpoint/2010/main" val="252735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623B0-C514-40CE-990B-8109AE15073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AD966-EFEB-48D2-8DAD-9B3645156F9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88D0A-AF0B-4B8E-BDC1-7D6D35D9F368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NAVEGACIÓN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3B81-5BF1-47BC-949E-3B7FD1CB5617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1C2D2AA-0FFC-44DE-8E43-35A8B2BBCFE6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61691-D644-4EEF-9E34-3E026A8051B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3255F-F301-4F5C-B519-D09EBFB82EA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3. Navegación principal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5400D-77D8-425F-8D5D-45355AAE45CE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barra superior permanece disponible en todas las interfaces.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062C39-CE33-4B9C-B612-4E5CF110CC57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0917B-B59A-4B5B-81E4-05F4E9B5B355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Reportes: operación diaria.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D67851-208B-455B-83C6-713AAB657B53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58DCA-2BAA-4E0B-B537-6082CB5AE06A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Overall FPF Trend: métricas semanales.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C82772-C299-4476-A9AF-BBF350635D9C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28273D-3456-4E79-BC25-4FF2C22EAA00}"/>
              </a:ext>
            </a:extLst>
          </p:cNvPr>
          <p:cNvSpPr txBox="1"/>
          <p:nvPr/>
        </p:nvSpPr>
        <p:spPr>
          <a:xfrm>
            <a:off x="762000" y="3238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Configuración: usuarios y catálogos.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1B154D-38E0-4DA6-AE07-B9A6809B4E77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FA4E26-272E-4E85-B62F-FE95955193E2}"/>
              </a:ext>
            </a:extLst>
          </p:cNvPr>
          <p:cNvSpPr txBox="1"/>
          <p:nvPr/>
        </p:nvSpPr>
        <p:spPr>
          <a:xfrm>
            <a:off x="762000" y="3937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Cuenta y Salir: sesión activa.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DB8210-07AF-41A4-8784-E5E0AB1322FC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9139DE-0E23-44DB-82D6-1F621252FB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C7E0E59-AC31-4B55-8FA5-648CA93FD94B}"/>
              </a:ext>
            </a:extLst>
          </p:cNvPr>
          <p:cNvSpPr/>
          <p:nvPr/>
        </p:nvSpPr>
        <p:spPr>
          <a:xfrm>
            <a:off x="4445000" y="1689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80B71-6095-4445-A793-5DB6DB039A61}"/>
              </a:ext>
            </a:extLst>
          </p:cNvPr>
          <p:cNvSpPr txBox="1"/>
          <p:nvPr/>
        </p:nvSpPr>
        <p:spPr>
          <a:xfrm>
            <a:off x="4457700" y="1739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264994-6513-4F08-A99F-0F988E70541D}"/>
              </a:ext>
            </a:extLst>
          </p:cNvPr>
          <p:cNvSpPr txBox="1"/>
          <p:nvPr/>
        </p:nvSpPr>
        <p:spPr>
          <a:xfrm>
            <a:off x="4826000" y="16891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Reportes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67D949-512A-4D64-96AA-7C770DFB00A3}"/>
              </a:ext>
            </a:extLst>
          </p:cNvPr>
          <p:cNvSpPr/>
          <p:nvPr/>
        </p:nvSpPr>
        <p:spPr>
          <a:xfrm>
            <a:off x="5651500" y="1689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19D451-2C4F-4AE0-80EB-802EEF57D231}"/>
              </a:ext>
            </a:extLst>
          </p:cNvPr>
          <p:cNvSpPr txBox="1"/>
          <p:nvPr/>
        </p:nvSpPr>
        <p:spPr>
          <a:xfrm>
            <a:off x="5664200" y="1739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6917BA-C8C1-44DC-BE7F-1DC3652DD517}"/>
              </a:ext>
            </a:extLst>
          </p:cNvPr>
          <p:cNvSpPr txBox="1"/>
          <p:nvPr/>
        </p:nvSpPr>
        <p:spPr>
          <a:xfrm>
            <a:off x="6032500" y="16891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Overall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2C3C4C-EBDB-4C3C-8FFF-5AD05024D0F3}"/>
              </a:ext>
            </a:extLst>
          </p:cNvPr>
          <p:cNvSpPr/>
          <p:nvPr/>
        </p:nvSpPr>
        <p:spPr>
          <a:xfrm>
            <a:off x="7048500" y="1689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750DB9-46CF-4702-859C-854BF1D390C6}"/>
              </a:ext>
            </a:extLst>
          </p:cNvPr>
          <p:cNvSpPr txBox="1"/>
          <p:nvPr/>
        </p:nvSpPr>
        <p:spPr>
          <a:xfrm>
            <a:off x="7061200" y="1739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F7B79D-5372-480B-B415-DF0408F3EF99}"/>
              </a:ext>
            </a:extLst>
          </p:cNvPr>
          <p:cNvSpPr txBox="1"/>
          <p:nvPr/>
        </p:nvSpPr>
        <p:spPr>
          <a:xfrm>
            <a:off x="7429500" y="16891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Configuración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05F0D1-EC72-4723-95E7-5014253266C2}"/>
              </a:ext>
            </a:extLst>
          </p:cNvPr>
          <p:cNvSpPr/>
          <p:nvPr/>
        </p:nvSpPr>
        <p:spPr>
          <a:xfrm>
            <a:off x="10731500" y="1689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B8467-F35E-4A63-800C-74BDA88D71B9}"/>
              </a:ext>
            </a:extLst>
          </p:cNvPr>
          <p:cNvSpPr txBox="1"/>
          <p:nvPr/>
        </p:nvSpPr>
        <p:spPr>
          <a:xfrm>
            <a:off x="10744200" y="1739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CFDADB-223E-4A22-A005-05769EACFD98}"/>
              </a:ext>
            </a:extLst>
          </p:cNvPr>
          <p:cNvSpPr txBox="1"/>
          <p:nvPr/>
        </p:nvSpPr>
        <p:spPr>
          <a:xfrm>
            <a:off x="11112500" y="1689100"/>
            <a:ext cx="76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Sesión</a:t>
            </a:r>
          </a:p>
        </p:txBody>
      </p:sp>
    </p:spTree>
    <p:extLst>
      <p:ext uri="{BB962C8B-B14F-4D97-AF65-F5344CB8AC3E}">
        <p14:creationId xmlns:p14="http://schemas.microsoft.com/office/powerpoint/2010/main" val="914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58F28-F462-40F2-8DF1-D188B17D874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A88BC-CE29-4742-954B-39F8FCB6A87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2705D-B720-4108-A13A-A258D8A3FC8F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4EB5D-562A-4294-9EC3-E85D6BA3882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8A48308-99E3-4332-BFC6-5A0515B86AC8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D7E5E-3725-4EE8-A3BA-EB8FF20C4B33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5ED7F-CC73-46AA-B0DC-0AA7D9C09E0F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4. Consultar y filtrar reportes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CB56D-D82E-4CF0-8600-B287FEFE8053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filtros se conservan al refrescar la página.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6F68A6-1BDF-4897-BD54-A410E3C5F27F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66377-C9C7-46EE-8DCA-881E72C4F34C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Busca por issue, family, categoría o parte.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761D76-81FF-4B7B-8BDE-31E651D05C6B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960AB-985C-492F-9449-46B915FE6C64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Combina fechas y filtros de columna.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8821E4-D702-4AD4-A69A-A2EBC79D21E7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F69253-2FD9-49F5-8214-17E9B501AEEA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Limpia filtros para volver al listado completo.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2D94BA-A0CC-4345-9853-F167695BA3D1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35FE3-2196-4BB1-8738-D2ED11E3AFEA}"/>
              </a:ext>
            </a:extLst>
          </p:cNvPr>
          <p:cNvSpPr txBox="1"/>
          <p:nvPr/>
        </p:nvSpPr>
        <p:spPr>
          <a:xfrm>
            <a:off x="762000" y="3937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El contador refleja el resultado visible.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319C43-E8F6-43D1-AC89-6CED92DE7AA1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919BAE-C5C9-4877-A296-A8A34D8FF7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0A73781-CB64-4B62-B722-91E67B114E34}"/>
              </a:ext>
            </a:extLst>
          </p:cNvPr>
          <p:cNvSpPr/>
          <p:nvPr/>
        </p:nvSpPr>
        <p:spPr>
          <a:xfrm>
            <a:off x="3632200" y="1943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DA4FDE-AFAF-46CF-A9E9-1333E77541B8}"/>
              </a:ext>
            </a:extLst>
          </p:cNvPr>
          <p:cNvSpPr txBox="1"/>
          <p:nvPr/>
        </p:nvSpPr>
        <p:spPr>
          <a:xfrm>
            <a:off x="3644900" y="1993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1A311-69B3-4686-A373-B5D7A6D05C06}"/>
              </a:ext>
            </a:extLst>
          </p:cNvPr>
          <p:cNvSpPr txBox="1"/>
          <p:nvPr/>
        </p:nvSpPr>
        <p:spPr>
          <a:xfrm>
            <a:off x="4038600" y="1943100"/>
            <a:ext cx="1079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Búsqueda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7CB703-5E95-498F-AA17-06510A5D1303}"/>
              </a:ext>
            </a:extLst>
          </p:cNvPr>
          <p:cNvSpPr/>
          <p:nvPr/>
        </p:nvSpPr>
        <p:spPr>
          <a:xfrm>
            <a:off x="5461000" y="1943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2D1800-DF68-4C46-B993-9DB0E35F7344}"/>
              </a:ext>
            </a:extLst>
          </p:cNvPr>
          <p:cNvSpPr txBox="1"/>
          <p:nvPr/>
        </p:nvSpPr>
        <p:spPr>
          <a:xfrm>
            <a:off x="5473700" y="1993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13970-FB71-42CF-B9CF-48AD50D4C8CA}"/>
              </a:ext>
            </a:extLst>
          </p:cNvPr>
          <p:cNvSpPr txBox="1"/>
          <p:nvPr/>
        </p:nvSpPr>
        <p:spPr>
          <a:xfrm>
            <a:off x="5867400" y="19431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Rango de fechas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232796-E842-4D19-BE12-AF3B8566C128}"/>
              </a:ext>
            </a:extLst>
          </p:cNvPr>
          <p:cNvCxnSpPr/>
          <p:nvPr/>
        </p:nvCxnSpPr>
        <p:spPr>
          <a:xfrm flipV="1">
            <a:off x="3810000" y="2095500"/>
            <a:ext cx="381000" cy="1651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B86B64-143A-4B52-8767-9064B042151A}"/>
              </a:ext>
            </a:extLst>
          </p:cNvPr>
          <p:cNvCxnSpPr/>
          <p:nvPr/>
        </p:nvCxnSpPr>
        <p:spPr>
          <a:xfrm flipV="1">
            <a:off x="5638800" y="2095500"/>
            <a:ext cx="558800" cy="1651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99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C3F4A0-F9F7-4E31-B503-C2381FD0A0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FB82-1D43-4B89-BD23-6CCA753E977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6BBC9-EAF8-45C4-95CD-9BD288DD1F8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AB51F-0310-4BB9-BD16-44F43E8F26CB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F5FF281-4CD3-4856-85BD-FB8A77E0564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DA87A-5334-4FCE-9F30-042CAB1ED46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04C3F-00B5-421E-A291-9EEB9C64296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5. Acciones del listado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3FB40-A550-436D-B948-BA394F55C7BC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Cada fila concentra consulta, edición, imágenes y revisión.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9FC817-5078-43A5-ACF6-2E818B63EADC}"/>
              </a:ext>
            </a:extLst>
          </p:cNvPr>
          <p:cNvSpPr/>
          <p:nvPr/>
        </p:nvSpPr>
        <p:spPr>
          <a:xfrm>
            <a:off x="533400" y="1841500"/>
            <a:ext cx="11112500" cy="11176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1CF23B-FB80-4049-A771-A01576F96C26}"/>
              </a:ext>
            </a:extLst>
          </p:cNvPr>
          <p:cNvSpPr/>
          <p:nvPr/>
        </p:nvSpPr>
        <p:spPr>
          <a:xfrm>
            <a:off x="812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C7817-CCE1-42BA-8C98-7B0E8382FA9A}"/>
              </a:ext>
            </a:extLst>
          </p:cNvPr>
          <p:cNvSpPr txBox="1"/>
          <p:nvPr/>
        </p:nvSpPr>
        <p:spPr>
          <a:xfrm>
            <a:off x="825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5F342-D074-44FC-9C6C-3FCDD0A5D80B}"/>
              </a:ext>
            </a:extLst>
          </p:cNvPr>
          <p:cNvSpPr txBox="1"/>
          <p:nvPr/>
        </p:nvSpPr>
        <p:spPr>
          <a:xfrm>
            <a:off x="1219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Ver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AF5282-6099-45B7-985A-A22E66A1966A}"/>
              </a:ext>
            </a:extLst>
          </p:cNvPr>
          <p:cNvSpPr/>
          <p:nvPr/>
        </p:nvSpPr>
        <p:spPr>
          <a:xfrm>
            <a:off x="29083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649305-8EAF-4CB1-8DA7-ECE9C1340685}"/>
              </a:ext>
            </a:extLst>
          </p:cNvPr>
          <p:cNvSpPr txBox="1"/>
          <p:nvPr/>
        </p:nvSpPr>
        <p:spPr>
          <a:xfrm>
            <a:off x="29210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374D2-4761-4F3A-A413-01F2B25F1FEF}"/>
              </a:ext>
            </a:extLst>
          </p:cNvPr>
          <p:cNvSpPr txBox="1"/>
          <p:nvPr/>
        </p:nvSpPr>
        <p:spPr>
          <a:xfrm>
            <a:off x="33147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Editar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3F35BE-292D-4BE5-B8B3-86E7AAB57F61}"/>
              </a:ext>
            </a:extLst>
          </p:cNvPr>
          <p:cNvSpPr/>
          <p:nvPr/>
        </p:nvSpPr>
        <p:spPr>
          <a:xfrm>
            <a:off x="5003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373AC-FA28-4340-BC95-90FC0F23D22A}"/>
              </a:ext>
            </a:extLst>
          </p:cNvPr>
          <p:cNvSpPr txBox="1"/>
          <p:nvPr/>
        </p:nvSpPr>
        <p:spPr>
          <a:xfrm>
            <a:off x="5016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E6441-732B-4311-9684-13EDC107FD47}"/>
              </a:ext>
            </a:extLst>
          </p:cNvPr>
          <p:cNvSpPr txBox="1"/>
          <p:nvPr/>
        </p:nvSpPr>
        <p:spPr>
          <a:xfrm>
            <a:off x="5410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Eliminar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18A50E-B55D-4578-90C9-89184CF793DD}"/>
              </a:ext>
            </a:extLst>
          </p:cNvPr>
          <p:cNvSpPr/>
          <p:nvPr/>
        </p:nvSpPr>
        <p:spPr>
          <a:xfrm>
            <a:off x="70993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BEBBA-F956-43F5-A935-BD3258B4BB96}"/>
              </a:ext>
            </a:extLst>
          </p:cNvPr>
          <p:cNvSpPr txBox="1"/>
          <p:nvPr/>
        </p:nvSpPr>
        <p:spPr>
          <a:xfrm>
            <a:off x="71120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C94AA1-E347-46AE-A7B0-F3919EBA14D8}"/>
              </a:ext>
            </a:extLst>
          </p:cNvPr>
          <p:cNvSpPr txBox="1"/>
          <p:nvPr/>
        </p:nvSpPr>
        <p:spPr>
          <a:xfrm>
            <a:off x="75057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Doble clic: marcar revisión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9271C6-FAB3-484F-8611-44BD6A6325EC}"/>
              </a:ext>
            </a:extLst>
          </p:cNvPr>
          <p:cNvSpPr/>
          <p:nvPr/>
        </p:nvSpPr>
        <p:spPr>
          <a:xfrm>
            <a:off x="9194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864E1-8CC1-44B0-9BDF-4BADAAAFCB42}"/>
              </a:ext>
            </a:extLst>
          </p:cNvPr>
          <p:cNvSpPr txBox="1"/>
          <p:nvPr/>
        </p:nvSpPr>
        <p:spPr>
          <a:xfrm>
            <a:off x="9207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F98FE-E89F-459E-B522-BD37DA246BF0}"/>
              </a:ext>
            </a:extLst>
          </p:cNvPr>
          <p:cNvSpPr txBox="1"/>
          <p:nvPr/>
        </p:nvSpPr>
        <p:spPr>
          <a:xfrm>
            <a:off x="9601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Carrusel: navegar imágenes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D551C-3A83-4C4F-BBE7-E9146AB41517}"/>
              </a:ext>
            </a:extLst>
          </p:cNvPr>
          <p:cNvSpPr txBox="1"/>
          <p:nvPr/>
        </p:nvSpPr>
        <p:spPr>
          <a:xfrm>
            <a:off x="762000" y="3429000"/>
            <a:ext cx="10604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172033"/>
                </a:solidFill>
                <a:latin typeface="Aptos"/>
              </a:rPr>
              <a:t>La fila amarilla indica que el registro quedó marcado para revisión. El estado se guarda en la base de datos y no se pierde al refrescar.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0CF8D8-4EAC-45BC-B773-3679A9376F22}"/>
              </a:ext>
            </a:extLst>
          </p:cNvPr>
          <p:cNvSpPr/>
          <p:nvPr/>
        </p:nvSpPr>
        <p:spPr>
          <a:xfrm>
            <a:off x="762000" y="4381500"/>
            <a:ext cx="10604500" cy="889000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E7C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B7950C-906B-45F0-BEB4-C8804FA01FBC}"/>
              </a:ext>
            </a:extLst>
          </p:cNvPr>
          <p:cNvSpPr txBox="1"/>
          <p:nvPr/>
        </p:nvSpPr>
        <p:spPr>
          <a:xfrm>
            <a:off x="1041400" y="4622800"/>
            <a:ext cx="114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8A5B00"/>
                </a:solidFill>
                <a:latin typeface="Aptos"/>
              </a:rPr>
              <a:t>Consejo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8EBB2-9460-4F9F-BEC5-6DA7E2283583}"/>
              </a:ext>
            </a:extLst>
          </p:cNvPr>
          <p:cNvSpPr txBox="1"/>
          <p:nvPr/>
        </p:nvSpPr>
        <p:spPr>
          <a:xfrm>
            <a:off x="2159000" y="4572000"/>
            <a:ext cx="876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Antes de eliminar, el sistema muestra una confirmación bloqueante. ESC cancela; confirma solo cuando estés seguro.</a:t>
            </a:r>
          </a:p>
        </p:txBody>
      </p:sp>
    </p:spTree>
    <p:extLst>
      <p:ext uri="{BB962C8B-B14F-4D97-AF65-F5344CB8AC3E}">
        <p14:creationId xmlns:p14="http://schemas.microsoft.com/office/powerpoint/2010/main" val="282597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668862-4586-4AF2-8831-02004EFC611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BD4EC-A306-4B09-9456-A5D66678E2E4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B3D2C-23A9-46D2-8108-E5AC20B37A99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D4391-4255-4C79-B55C-68FF3ADBBC81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B7BE440-FE34-49AC-88A3-D4FF9E87026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14009-C361-47F5-820D-D1BED2BDDD15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9E90C-6A73-4C69-A39B-6F5D961F778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6. Crear un reporte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F7313-9B49-43D4-B0C6-747850348A7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campos pueden completarse según la información disponible.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23C6E5-CAB7-490E-83C5-C287E6228937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7E475-E4BE-4FC3-818E-6BF3A5C08ADE}"/>
              </a:ext>
            </a:extLst>
          </p:cNvPr>
          <p:cNvSpPr txBox="1"/>
          <p:nvPr/>
        </p:nvSpPr>
        <p:spPr>
          <a:xfrm>
            <a:off x="762000" y="1841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172033"/>
                </a:solidFill>
                <a:latin typeface="Aptos"/>
              </a:rPr>
              <a:t>Selecciona Family, Top issue, Category y Major part.</a:t>
            </a:r>
            <a:endParaRPr lang="es-MX" sz="12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097DD8-A04E-4A39-9BDF-917151CB96AC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680F0-8EA6-4B09-A5A2-E52F0A80DFAE}"/>
              </a:ext>
            </a:extLst>
          </p:cNvPr>
          <p:cNvSpPr txBox="1"/>
          <p:nvPr/>
        </p:nvSpPr>
        <p:spPr>
          <a:xfrm>
            <a:off x="762000" y="25400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Captura cantidades; F/R se calcula con Failure ÷ Build.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163A9-09ED-41CD-9C91-97FAA4C6EF8E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A7E22-970D-4D56-91DF-B35598DB8615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Return puede operarse en modo manual o automático.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3DBFBF-596C-40AD-9214-AF07ED353953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88299-692D-4F3A-8F05-97698F88E9A3}"/>
              </a:ext>
            </a:extLst>
          </p:cNvPr>
          <p:cNvSpPr txBox="1"/>
          <p:nvPr/>
        </p:nvSpPr>
        <p:spPr>
          <a:xfrm>
            <a:off x="762000" y="3937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Guarda desde el encabezado fijo.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469AB2-F2F6-447C-8651-E71F15E18CB8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22AA23-640D-403A-8E93-9985E19B7F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B144468-BC1A-41CE-B117-F4F373AB33DF}"/>
              </a:ext>
            </a:extLst>
          </p:cNvPr>
          <p:cNvSpPr/>
          <p:nvPr/>
        </p:nvSpPr>
        <p:spPr>
          <a:xfrm>
            <a:off x="9817100" y="18161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C18BD-A279-4BAC-90F7-E1EBB281B4C8}"/>
              </a:ext>
            </a:extLst>
          </p:cNvPr>
          <p:cNvSpPr txBox="1"/>
          <p:nvPr/>
        </p:nvSpPr>
        <p:spPr>
          <a:xfrm>
            <a:off x="9829800" y="18669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0DEFF-E63D-4038-98F3-DA585455AA1D}"/>
              </a:ext>
            </a:extLst>
          </p:cNvPr>
          <p:cNvSpPr txBox="1"/>
          <p:nvPr/>
        </p:nvSpPr>
        <p:spPr>
          <a:xfrm>
            <a:off x="10160000" y="1816100"/>
            <a:ext cx="139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Guardar reporte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916F97-DDA1-4743-BBE5-F04A5431FA5E}"/>
              </a:ext>
            </a:extLst>
          </p:cNvPr>
          <p:cNvCxnSpPr/>
          <p:nvPr/>
        </p:nvCxnSpPr>
        <p:spPr>
          <a:xfrm flipV="1">
            <a:off x="9982200" y="2006600"/>
            <a:ext cx="812800" cy="1270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02AF07-CFF3-4580-BA68-A10EDE6E02B1}"/>
              </a:ext>
            </a:extLst>
          </p:cNvPr>
          <p:cNvSpPr/>
          <p:nvPr/>
        </p:nvSpPr>
        <p:spPr>
          <a:xfrm>
            <a:off x="9080500" y="3225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AEA8CE-3CBC-42FE-9D08-605CF67DABDB}"/>
              </a:ext>
            </a:extLst>
          </p:cNvPr>
          <p:cNvSpPr txBox="1"/>
          <p:nvPr/>
        </p:nvSpPr>
        <p:spPr>
          <a:xfrm>
            <a:off x="9093200" y="3276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699B3C-D658-4A07-AA03-148ACB8F5DF2}"/>
              </a:ext>
            </a:extLst>
          </p:cNvPr>
          <p:cNvSpPr txBox="1"/>
          <p:nvPr/>
        </p:nvSpPr>
        <p:spPr>
          <a:xfrm>
            <a:off x="9499600" y="32258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Imágenes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40E3F0-7B76-44DB-97B7-672D9B6C644D}"/>
              </a:ext>
            </a:extLst>
          </p:cNvPr>
          <p:cNvCxnSpPr/>
          <p:nvPr/>
        </p:nvCxnSpPr>
        <p:spPr>
          <a:xfrm flipV="1">
            <a:off x="9271000" y="3238500"/>
            <a:ext cx="1079500" cy="3048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12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40D7A-6CCC-4635-8CC8-BB828D08D1A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88A52-A34E-481B-82EA-92D7C9D1CD0A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C596D-152C-40CA-9461-3ED87DAD055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7041E-51B6-48E6-9C23-D3DC9AE90E66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8692532-E03E-4169-946D-7A8247994ED7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0B615-E14A-429E-9316-91BA2E702D93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FD57B-26AB-4243-98E4-A3A57403993D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7. Detalles e imágenes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521B5-F3A8-46F0-8C88-FCD565FAB4A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información de origen permite rastrear las unidades agrupadas.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368CCD-546A-4C2F-AC39-741089E95837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C10035-03AE-403B-A260-2BE500570A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229D07-D9FD-46AE-9D40-5AB230CCBBAE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290921-0551-4F5C-83C7-53ABC540399C}"/>
              </a:ext>
            </a:extLst>
          </p:cNvPr>
          <p:cNvSpPr txBox="1"/>
          <p:nvPr/>
        </p:nvSpPr>
        <p:spPr>
          <a:xfrm>
            <a:off x="711200" y="1841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Detalles: Family completa, SN y Remark.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B03175-268E-4D85-BBB8-81D97DC192F7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121FDA-D9C4-4689-9C1C-284E020785B6}"/>
              </a:ext>
            </a:extLst>
          </p:cNvPr>
          <p:cNvSpPr txBox="1"/>
          <p:nvPr/>
        </p:nvSpPr>
        <p:spPr>
          <a:xfrm>
            <a:off x="711200" y="25400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En edición, Category permite reasignar una unidad.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661B31-4BE0-4611-9EEF-38816D66D4D1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C82FB8-BE40-4E66-9AB0-6EAA513422D3}"/>
              </a:ext>
            </a:extLst>
          </p:cNvPr>
          <p:cNvSpPr txBox="1"/>
          <p:nvPr/>
        </p:nvSpPr>
        <p:spPr>
          <a:xfrm>
            <a:off x="711200" y="32385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Fail picture y Evidence aceptan varias imágenes.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498FD8-1011-4E5C-B661-DA96A97688F1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ED5DF-FF90-4ABB-9566-56C35BF12E6E}"/>
              </a:ext>
            </a:extLst>
          </p:cNvPr>
          <p:cNvSpPr txBox="1"/>
          <p:nvPr/>
        </p:nvSpPr>
        <p:spPr>
          <a:xfrm>
            <a:off x="711200" y="39370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Usa flechas, contador y eliminar en el carrusel.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A4BB10-B8B7-400F-AB11-D4411A1BA3E0}"/>
              </a:ext>
            </a:extLst>
          </p:cNvPr>
          <p:cNvSpPr/>
          <p:nvPr/>
        </p:nvSpPr>
        <p:spPr>
          <a:xfrm>
            <a:off x="4572000" y="4635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B81531-0ED4-46E3-8B81-720A6CAF5BE1}"/>
              </a:ext>
            </a:extLst>
          </p:cNvPr>
          <p:cNvSpPr txBox="1"/>
          <p:nvPr/>
        </p:nvSpPr>
        <p:spPr>
          <a:xfrm>
            <a:off x="4584700" y="4686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5FC4F6-FBBF-4C92-99C3-916EE5F44A38}"/>
              </a:ext>
            </a:extLst>
          </p:cNvPr>
          <p:cNvSpPr txBox="1"/>
          <p:nvPr/>
        </p:nvSpPr>
        <p:spPr>
          <a:xfrm>
            <a:off x="4978400" y="46355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Tabla Detalles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BF1A73-699A-4150-B8EA-B47276F0B986}"/>
              </a:ext>
            </a:extLst>
          </p:cNvPr>
          <p:cNvCxnSpPr/>
          <p:nvPr/>
        </p:nvCxnSpPr>
        <p:spPr>
          <a:xfrm>
            <a:off x="4749800" y="4953000"/>
            <a:ext cx="1663700" cy="3556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4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A74F1-8448-4458-9C63-1137168F9D5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AA786-4AB7-42DC-80D3-C8C5DF4330F7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97316-D5A4-46F6-A28C-B030149A2CCC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CEB6C2-1CF9-462D-B8FC-6056C2976137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3D23BC5-9770-4783-B162-F1177ACDC3F2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5FF01-CFAF-4480-B884-ED0DE6E3A087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0D54B-0508-4FE6-AE2A-ECB242BB870E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8. Importar un archivo 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A7B09-ACE9-45E0-AA8D-28F2B7655BB8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importación siempre pasa por una vista previa antes de guardar.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856FF8-3B02-4C20-8834-F481EB8EE1B8}"/>
              </a:ext>
            </a:extLst>
          </p:cNvPr>
          <p:cNvSpPr/>
          <p:nvPr/>
        </p:nvSpPr>
        <p:spPr>
          <a:xfrm>
            <a:off x="5334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E2C005-01A0-49DC-9665-2C5AEACD7CE6}"/>
              </a:ext>
            </a:extLst>
          </p:cNvPr>
          <p:cNvSpPr/>
          <p:nvPr/>
        </p:nvSpPr>
        <p:spPr>
          <a:xfrm>
            <a:off x="7366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8DCB2-B7CF-4CA8-A974-9AE81F7174DE}"/>
              </a:ext>
            </a:extLst>
          </p:cNvPr>
          <p:cNvSpPr txBox="1"/>
          <p:nvPr/>
        </p:nvSpPr>
        <p:spPr>
          <a:xfrm>
            <a:off x="7493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19E2-5769-4FED-A5C5-6E1AB356FCCF}"/>
              </a:ext>
            </a:extLst>
          </p:cNvPr>
          <p:cNvSpPr txBox="1"/>
          <p:nvPr/>
        </p:nvSpPr>
        <p:spPr>
          <a:xfrm>
            <a:off x="7366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Seleccionar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8CE5E9-11C9-4946-8B94-9D9646C59716}"/>
              </a:ext>
            </a:extLst>
          </p:cNvPr>
          <p:cNvSpPr txBox="1"/>
          <p:nvPr/>
        </p:nvSpPr>
        <p:spPr>
          <a:xfrm>
            <a:off x="7366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Importar Excel y elegir el archivo.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E511AF-CE54-4B69-85DD-ABC776C029B7}"/>
              </a:ext>
            </a:extLst>
          </p:cNvPr>
          <p:cNvSpPr/>
          <p:nvPr/>
        </p:nvSpPr>
        <p:spPr>
          <a:xfrm>
            <a:off x="29210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209DA0-BB6F-45E2-B3E7-9CE08525D7F5}"/>
              </a:ext>
            </a:extLst>
          </p:cNvPr>
          <p:cNvSpPr/>
          <p:nvPr/>
        </p:nvSpPr>
        <p:spPr>
          <a:xfrm>
            <a:off x="31242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54030-4B85-4A46-A39E-0D62EFD551C0}"/>
              </a:ext>
            </a:extLst>
          </p:cNvPr>
          <p:cNvSpPr txBox="1"/>
          <p:nvPr/>
        </p:nvSpPr>
        <p:spPr>
          <a:xfrm>
            <a:off x="31369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39C8F-2E9D-48D5-93AB-18373DA7D57A}"/>
              </a:ext>
            </a:extLst>
          </p:cNvPr>
          <p:cNvSpPr txBox="1"/>
          <p:nvPr/>
        </p:nvSpPr>
        <p:spPr>
          <a:xfrm>
            <a:off x="31242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Validar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1615E-8301-448A-B2BE-48C373AFA53C}"/>
              </a:ext>
            </a:extLst>
          </p:cNvPr>
          <p:cNvSpPr txBox="1"/>
          <p:nvPr/>
        </p:nvSpPr>
        <p:spPr>
          <a:xfrm>
            <a:off x="31242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Pestañas exactas: Station-50_Fail y Station-50_Input.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DF3D5D-03D8-4785-AE31-FA31E4453928}"/>
              </a:ext>
            </a:extLst>
          </p:cNvPr>
          <p:cNvSpPr/>
          <p:nvPr/>
        </p:nvSpPr>
        <p:spPr>
          <a:xfrm>
            <a:off x="53086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07641C-887D-40C9-9177-884FA92D50F4}"/>
              </a:ext>
            </a:extLst>
          </p:cNvPr>
          <p:cNvSpPr/>
          <p:nvPr/>
        </p:nvSpPr>
        <p:spPr>
          <a:xfrm>
            <a:off x="55118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108A4B-B3EA-4CFC-A3DB-94BE7D0CF15A}"/>
              </a:ext>
            </a:extLst>
          </p:cNvPr>
          <p:cNvSpPr txBox="1"/>
          <p:nvPr/>
        </p:nvSpPr>
        <p:spPr>
          <a:xfrm>
            <a:off x="55245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0AF15B-EE42-4289-84DB-A37D2E41DD38}"/>
              </a:ext>
            </a:extLst>
          </p:cNvPr>
          <p:cNvSpPr txBox="1"/>
          <p:nvPr/>
        </p:nvSpPr>
        <p:spPr>
          <a:xfrm>
            <a:off x="55118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Revisar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4E1446-44B4-4DBF-AB44-E5844E0BE2D9}"/>
              </a:ext>
            </a:extLst>
          </p:cNvPr>
          <p:cNvSpPr txBox="1"/>
          <p:nvPr/>
        </p:nvSpPr>
        <p:spPr>
          <a:xfrm>
            <a:off x="55118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Editar filas, fecha, categorías y partes.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8877AE-DBAE-4E1B-B758-AEF178D65542}"/>
              </a:ext>
            </a:extLst>
          </p:cNvPr>
          <p:cNvSpPr/>
          <p:nvPr/>
        </p:nvSpPr>
        <p:spPr>
          <a:xfrm>
            <a:off x="76962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008F60B-5F28-4A2A-ABFB-5834EA6B696F}"/>
              </a:ext>
            </a:extLst>
          </p:cNvPr>
          <p:cNvSpPr/>
          <p:nvPr/>
        </p:nvSpPr>
        <p:spPr>
          <a:xfrm>
            <a:off x="78994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C15811-3069-4FB8-B68A-6CC9CC96EA24}"/>
              </a:ext>
            </a:extLst>
          </p:cNvPr>
          <p:cNvSpPr txBox="1"/>
          <p:nvPr/>
        </p:nvSpPr>
        <p:spPr>
          <a:xfrm>
            <a:off x="79121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4DDEFB-853A-4C78-B2E2-643902E4C411}"/>
              </a:ext>
            </a:extLst>
          </p:cNvPr>
          <p:cNvSpPr txBox="1"/>
          <p:nvPr/>
        </p:nvSpPr>
        <p:spPr>
          <a:xfrm>
            <a:off x="78994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Excluir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042176-67FD-41C4-912A-5F2A900E234B}"/>
              </a:ext>
            </a:extLst>
          </p:cNvPr>
          <p:cNvSpPr txBox="1"/>
          <p:nvPr/>
        </p:nvSpPr>
        <p:spPr>
          <a:xfrm>
            <a:off x="78994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Aplicar exclusiones o eliminar filas.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93D46D-4CC7-46B7-84BC-E8DD71D4F71C}"/>
              </a:ext>
            </a:extLst>
          </p:cNvPr>
          <p:cNvSpPr/>
          <p:nvPr/>
        </p:nvSpPr>
        <p:spPr>
          <a:xfrm>
            <a:off x="100838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F9A792B-6882-42C8-863E-9D0A60FF574E}"/>
              </a:ext>
            </a:extLst>
          </p:cNvPr>
          <p:cNvSpPr/>
          <p:nvPr/>
        </p:nvSpPr>
        <p:spPr>
          <a:xfrm>
            <a:off x="102870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E6EA7C-700B-4C92-8C04-7062205085E4}"/>
              </a:ext>
            </a:extLst>
          </p:cNvPr>
          <p:cNvSpPr txBox="1"/>
          <p:nvPr/>
        </p:nvSpPr>
        <p:spPr>
          <a:xfrm>
            <a:off x="102997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75744F-0441-47AF-BE97-870F3AAAC7A4}"/>
              </a:ext>
            </a:extLst>
          </p:cNvPr>
          <p:cNvSpPr txBox="1"/>
          <p:nvPr/>
        </p:nvSpPr>
        <p:spPr>
          <a:xfrm>
            <a:off x="102870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Confirmar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8DA6C4-4F5B-4EF1-9692-7428C0791C2F}"/>
              </a:ext>
            </a:extLst>
          </p:cNvPr>
          <p:cNvSpPr txBox="1"/>
          <p:nvPr/>
        </p:nvSpPr>
        <p:spPr>
          <a:xfrm>
            <a:off x="102870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Crear o actualizar los registros.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1DC3D0-86AF-474A-ACB1-DBB0CDD5CD1C}"/>
              </a:ext>
            </a:extLst>
          </p:cNvPr>
          <p:cNvSpPr/>
          <p:nvPr/>
        </p:nvSpPr>
        <p:spPr>
          <a:xfrm>
            <a:off x="533400" y="4699000"/>
            <a:ext cx="11518900" cy="1092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8FC106-B1D3-490C-B4F0-9189AA4C798A}"/>
              </a:ext>
            </a:extLst>
          </p:cNvPr>
          <p:cNvSpPr txBox="1"/>
          <p:nvPr/>
        </p:nvSpPr>
        <p:spPr>
          <a:xfrm>
            <a:off x="787400" y="4927600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1E5799"/>
                </a:solidFill>
                <a:latin typeface="Aptos"/>
              </a:rPr>
              <a:t>Nombre esperado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0B7C11-721E-46D5-9898-5CD8686D5D64}"/>
              </a:ext>
            </a:extLst>
          </p:cNvPr>
          <p:cNvSpPr txBox="1"/>
          <p:nvPr/>
        </p:nvSpPr>
        <p:spPr>
          <a:xfrm>
            <a:off x="2603500" y="4902200"/>
            <a:ext cx="292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600" b="1">
                <a:solidFill>
                  <a:srgbClr val="0B2F5B"/>
                </a:solidFill>
                <a:latin typeface="Aptos"/>
              </a:rPr>
              <a:t>Reporte MM DD Est.50.xlsx</a:t>
            </a:r>
            <a:endParaRPr lang="es-MX" sz="1600" b="1">
              <a:solidFill>
                <a:srgbClr val="0B2F5B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7520E1-8F5A-4A0A-9FA5-DDEEDE937E73}"/>
              </a:ext>
            </a:extLst>
          </p:cNvPr>
          <p:cNvSpPr txBox="1"/>
          <p:nvPr/>
        </p:nvSpPr>
        <p:spPr>
          <a:xfrm>
            <a:off x="787400" y="53340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La fecha detectada se propone en la vista previa y alimenta Reportes y Overall.</a:t>
            </a:r>
          </a:p>
        </p:txBody>
      </p:sp>
    </p:spTree>
    <p:extLst>
      <p:ext uri="{BB962C8B-B14F-4D97-AF65-F5344CB8AC3E}">
        <p14:creationId xmlns:p14="http://schemas.microsoft.com/office/powerpoint/2010/main" val="475304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497EF-9849-47CD-A980-A3C45ACA256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E8FDA-D2F7-4E19-9CC6-1383DF16B45A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2332C-2689-4714-AD0C-F7841463ED8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9712D7-07D4-4807-97EF-CA4C1C140A62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14013F3F-E981-4FDD-A782-2013EB02C583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2D87-D4F4-4D75-885E-EDF28ADCC565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84543-2CC1-4120-B3E3-FC75F407574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9. Vista previa de importación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57D9E-4E28-491A-B168-800741F703AA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Nada se guarda hasta seleccionar “Confirmar importación”.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08E3A7-0E4F-4269-9A2E-263E2424E610}"/>
              </a:ext>
            </a:extLst>
          </p:cNvPr>
          <p:cNvSpPr/>
          <p:nvPr/>
        </p:nvSpPr>
        <p:spPr>
          <a:xfrm>
            <a:off x="444500" y="1778000"/>
            <a:ext cx="11303000" cy="403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F4A13F-AD69-4FD0-86BD-F0A59647DFE4}"/>
              </a:ext>
            </a:extLst>
          </p:cNvPr>
          <p:cNvSpPr/>
          <p:nvPr/>
        </p:nvSpPr>
        <p:spPr>
          <a:xfrm>
            <a:off x="444500" y="1778000"/>
            <a:ext cx="11303000" cy="7366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49C9B-BCA8-4523-A98E-49BE4331F5DC}"/>
              </a:ext>
            </a:extLst>
          </p:cNvPr>
          <p:cNvSpPr txBox="1"/>
          <p:nvPr/>
        </p:nvSpPr>
        <p:spPr>
          <a:xfrm>
            <a:off x="698500" y="1993900"/>
            <a:ext cx="330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72033"/>
                </a:solidFill>
                <a:latin typeface="Aptos"/>
              </a:rPr>
              <a:t>Vista previa de importación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C13E2-2BFA-4CAE-9D90-8D3F99AE761B}"/>
              </a:ext>
            </a:extLst>
          </p:cNvPr>
          <p:cNvSpPr txBox="1"/>
          <p:nvPr/>
        </p:nvSpPr>
        <p:spPr>
          <a:xfrm>
            <a:off x="4191000" y="20320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5D6B82"/>
                </a:solidFill>
                <a:latin typeface="Aptos"/>
              </a:rPr>
              <a:t>Family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DB4884-A49D-45DC-A810-0FB367FE85F1}"/>
              </a:ext>
            </a:extLst>
          </p:cNvPr>
          <p:cNvSpPr/>
          <p:nvPr/>
        </p:nvSpPr>
        <p:spPr>
          <a:xfrm>
            <a:off x="4889500" y="1917700"/>
            <a:ext cx="15240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BBD8A-9F87-4E86-8BE7-C899FF0CECFA}"/>
              </a:ext>
            </a:extLst>
          </p:cNvPr>
          <p:cNvSpPr txBox="1"/>
          <p:nvPr/>
        </p:nvSpPr>
        <p:spPr>
          <a:xfrm>
            <a:off x="5080000" y="2032000"/>
            <a:ext cx="114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Todas   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B90B6-D3A0-4414-AA71-5FBF193F27DD}"/>
              </a:ext>
            </a:extLst>
          </p:cNvPr>
          <p:cNvSpPr txBox="1"/>
          <p:nvPr/>
        </p:nvSpPr>
        <p:spPr>
          <a:xfrm>
            <a:off x="6604000" y="2032000"/>
            <a:ext cx="57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5D6B82"/>
                </a:solidFill>
                <a:latin typeface="Aptos"/>
              </a:rPr>
              <a:t>Fecha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D0CDF8-C7D6-4F15-8859-8D93B6D3F6B9}"/>
              </a:ext>
            </a:extLst>
          </p:cNvPr>
          <p:cNvSpPr/>
          <p:nvPr/>
        </p:nvSpPr>
        <p:spPr>
          <a:xfrm>
            <a:off x="7175500" y="1917700"/>
            <a:ext cx="1460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F4DAE-6ED4-4965-81E5-05ECB2D85CC8}"/>
              </a:ext>
            </a:extLst>
          </p:cNvPr>
          <p:cNvSpPr txBox="1"/>
          <p:nvPr/>
        </p:nvSpPr>
        <p:spPr>
          <a:xfrm>
            <a:off x="7340600" y="2032000"/>
            <a:ext cx="114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07/23/2026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7DCAD8-27FD-4B18-998E-3F7960450447}"/>
              </a:ext>
            </a:extLst>
          </p:cNvPr>
          <p:cNvSpPr/>
          <p:nvPr/>
        </p:nvSpPr>
        <p:spPr>
          <a:xfrm>
            <a:off x="8890000" y="1917700"/>
            <a:ext cx="1168400" cy="43180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7A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BD1F95-E6A3-4B85-9486-D1BB971DCCF3}"/>
              </a:ext>
            </a:extLst>
          </p:cNvPr>
          <p:cNvSpPr txBox="1"/>
          <p:nvPr/>
        </p:nvSpPr>
        <p:spPr>
          <a:xfrm>
            <a:off x="9067800" y="2032000"/>
            <a:ext cx="838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9A5B00"/>
                </a:solidFill>
                <a:latin typeface="Aptos"/>
              </a:rPr>
              <a:t>Exclusiones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8D8FFC-076D-4906-8B38-FD1CA9B7C1C0}"/>
              </a:ext>
            </a:extLst>
          </p:cNvPr>
          <p:cNvSpPr/>
          <p:nvPr/>
        </p:nvSpPr>
        <p:spPr>
          <a:xfrm>
            <a:off x="10172700" y="1917700"/>
            <a:ext cx="133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F9A28E-FAD7-4B25-8BBF-E6347AF7CC13}"/>
              </a:ext>
            </a:extLst>
          </p:cNvPr>
          <p:cNvSpPr txBox="1"/>
          <p:nvPr/>
        </p:nvSpPr>
        <p:spPr>
          <a:xfrm>
            <a:off x="10312400" y="2032000"/>
            <a:ext cx="1054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900" b="1">
                <a:solidFill>
                  <a:srgbClr val="172033"/>
                </a:solidFill>
                <a:latin typeface="Aptos"/>
              </a:rPr>
              <a:t>Restablecer todo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3EB-6C78-423C-B24F-866BD4E1734B}"/>
              </a:ext>
            </a:extLst>
          </p:cNvPr>
          <p:cNvSpPr txBox="1"/>
          <p:nvPr/>
        </p:nvSpPr>
        <p:spPr>
          <a:xfrm>
            <a:off x="698500" y="27559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988BE7-5D5A-4472-AFEE-5C8359E0B34B}"/>
              </a:ext>
            </a:extLst>
          </p:cNvPr>
          <p:cNvSpPr txBox="1"/>
          <p:nvPr/>
        </p:nvSpPr>
        <p:spPr>
          <a:xfrm>
            <a:off x="2095500" y="27559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Top Issue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79033-0188-41FC-998C-FB06D554287A}"/>
              </a:ext>
            </a:extLst>
          </p:cNvPr>
          <p:cNvSpPr txBox="1"/>
          <p:nvPr/>
        </p:nvSpPr>
        <p:spPr>
          <a:xfrm>
            <a:off x="5461000" y="2755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Failure Qty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7856-BB53-4150-81FB-9BF88FA85F6F}"/>
              </a:ext>
            </a:extLst>
          </p:cNvPr>
          <p:cNvSpPr txBox="1"/>
          <p:nvPr/>
        </p:nvSpPr>
        <p:spPr>
          <a:xfrm>
            <a:off x="6731000" y="2755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Build Qty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EE7A3-0712-4065-914C-7F29C724D2DD}"/>
              </a:ext>
            </a:extLst>
          </p:cNvPr>
          <p:cNvSpPr txBox="1"/>
          <p:nvPr/>
        </p:nvSpPr>
        <p:spPr>
          <a:xfrm>
            <a:off x="7937500" y="27559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F/R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D4E0A9-0636-4033-9097-6D32035BEE9A}"/>
              </a:ext>
            </a:extLst>
          </p:cNvPr>
          <p:cNvSpPr txBox="1"/>
          <p:nvPr/>
        </p:nvSpPr>
        <p:spPr>
          <a:xfrm>
            <a:off x="8763000" y="27559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Category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7A4B81-0CB6-49A6-AC31-E0ECA914C69E}"/>
              </a:ext>
            </a:extLst>
          </p:cNvPr>
          <p:cNvSpPr txBox="1"/>
          <p:nvPr/>
        </p:nvSpPr>
        <p:spPr>
          <a:xfrm>
            <a:off x="10223500" y="27559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Major Part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9DF6F08-6468-415A-B509-D1D7DC2CFD9C}"/>
              </a:ext>
            </a:extLst>
          </p:cNvPr>
          <p:cNvSpPr/>
          <p:nvPr/>
        </p:nvSpPr>
        <p:spPr>
          <a:xfrm>
            <a:off x="609600" y="31242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3F9855-A59E-4CC6-A40E-4985C1D79D28}"/>
              </a:ext>
            </a:extLst>
          </p:cNvPr>
          <p:cNvSpPr txBox="1"/>
          <p:nvPr/>
        </p:nvSpPr>
        <p:spPr>
          <a:xfrm>
            <a:off x="762000" y="32766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26EE8-0C33-4095-8991-48DD0C5DA090}"/>
              </a:ext>
            </a:extLst>
          </p:cNvPr>
          <p:cNvSpPr txBox="1"/>
          <p:nvPr/>
        </p:nvSpPr>
        <p:spPr>
          <a:xfrm>
            <a:off x="2222500" y="32766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Type-c test fail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F393D1-32E3-4E24-8FB5-87A34DA92CE1}"/>
              </a:ext>
            </a:extLst>
          </p:cNvPr>
          <p:cNvSpPr txBox="1"/>
          <p:nvPr/>
        </p:nvSpPr>
        <p:spPr>
          <a:xfrm>
            <a:off x="5651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19335-DDC0-4E07-8034-3786C5B5D2ED}"/>
              </a:ext>
            </a:extLst>
          </p:cNvPr>
          <p:cNvSpPr txBox="1"/>
          <p:nvPr/>
        </p:nvSpPr>
        <p:spPr>
          <a:xfrm>
            <a:off x="6921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17C47E-B08C-4F95-A6F4-CB4E6DC8837A}"/>
              </a:ext>
            </a:extLst>
          </p:cNvPr>
          <p:cNvSpPr txBox="1"/>
          <p:nvPr/>
        </p:nvSpPr>
        <p:spPr>
          <a:xfrm>
            <a:off x="7937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0.53%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688587-9D38-45A2-8E54-12BFF9356D5D}"/>
              </a:ext>
            </a:extLst>
          </p:cNvPr>
          <p:cNvSpPr txBox="1"/>
          <p:nvPr/>
        </p:nvSpPr>
        <p:spPr>
          <a:xfrm>
            <a:off x="8763000" y="32766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5862C1-345C-42DF-BEF6-7354A03B4717}"/>
              </a:ext>
            </a:extLst>
          </p:cNvPr>
          <p:cNvSpPr txBox="1"/>
          <p:nvPr/>
        </p:nvSpPr>
        <p:spPr>
          <a:xfrm>
            <a:off x="10414000" y="32766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CA5AB43-18A4-459D-A0A5-B19C2D453E6B}"/>
              </a:ext>
            </a:extLst>
          </p:cNvPr>
          <p:cNvSpPr/>
          <p:nvPr/>
        </p:nvSpPr>
        <p:spPr>
          <a:xfrm>
            <a:off x="609600" y="37973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26FE85-17EE-4C4F-A693-83CEEB9D574E}"/>
              </a:ext>
            </a:extLst>
          </p:cNvPr>
          <p:cNvSpPr txBox="1"/>
          <p:nvPr/>
        </p:nvSpPr>
        <p:spPr>
          <a:xfrm>
            <a:off x="762000" y="39497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A6F00A-617A-4002-ADDF-8E50038E0317}"/>
              </a:ext>
            </a:extLst>
          </p:cNvPr>
          <p:cNvSpPr txBox="1"/>
          <p:nvPr/>
        </p:nvSpPr>
        <p:spPr>
          <a:xfrm>
            <a:off x="2222500" y="39497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FAN Stop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32FD8-DBA6-47A0-949E-9563712ED64B}"/>
              </a:ext>
            </a:extLst>
          </p:cNvPr>
          <p:cNvSpPr txBox="1"/>
          <p:nvPr/>
        </p:nvSpPr>
        <p:spPr>
          <a:xfrm>
            <a:off x="5651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B00B74-622C-4990-9C58-25434E0A5E14}"/>
              </a:ext>
            </a:extLst>
          </p:cNvPr>
          <p:cNvSpPr txBox="1"/>
          <p:nvPr/>
        </p:nvSpPr>
        <p:spPr>
          <a:xfrm>
            <a:off x="6921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F84E0-4749-4673-8A5B-F6357D7669CB}"/>
              </a:ext>
            </a:extLst>
          </p:cNvPr>
          <p:cNvSpPr txBox="1"/>
          <p:nvPr/>
        </p:nvSpPr>
        <p:spPr>
          <a:xfrm>
            <a:off x="7937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0.13%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4FF451-1F11-485E-8729-D4FDFCA6BB38}"/>
              </a:ext>
            </a:extLst>
          </p:cNvPr>
          <p:cNvSpPr txBox="1"/>
          <p:nvPr/>
        </p:nvSpPr>
        <p:spPr>
          <a:xfrm>
            <a:off x="8763000" y="39497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E098A3-E604-4A02-9971-96E4BE1ED967}"/>
              </a:ext>
            </a:extLst>
          </p:cNvPr>
          <p:cNvSpPr txBox="1"/>
          <p:nvPr/>
        </p:nvSpPr>
        <p:spPr>
          <a:xfrm>
            <a:off x="10414000" y="39497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230ACB-BF97-4813-8200-ABAF0939C378}"/>
              </a:ext>
            </a:extLst>
          </p:cNvPr>
          <p:cNvSpPr/>
          <p:nvPr/>
        </p:nvSpPr>
        <p:spPr>
          <a:xfrm>
            <a:off x="609600" y="44704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4BD12F-29E4-45F8-9780-2E3ACE654774}"/>
              </a:ext>
            </a:extLst>
          </p:cNvPr>
          <p:cNvSpPr txBox="1"/>
          <p:nvPr/>
        </p:nvSpPr>
        <p:spPr>
          <a:xfrm>
            <a:off x="762000" y="46228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AA3738-6E20-4FEB-BBD9-DDAE7D9232F1}"/>
              </a:ext>
            </a:extLst>
          </p:cNvPr>
          <p:cNvSpPr txBox="1"/>
          <p:nvPr/>
        </p:nvSpPr>
        <p:spPr>
          <a:xfrm>
            <a:off x="2222500" y="46228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Power on defect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9C224A-2447-4802-9487-5A4976A15F48}"/>
              </a:ext>
            </a:extLst>
          </p:cNvPr>
          <p:cNvSpPr txBox="1"/>
          <p:nvPr/>
        </p:nvSpPr>
        <p:spPr>
          <a:xfrm>
            <a:off x="5651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A10AA4-9030-4719-8984-FC46A6245266}"/>
              </a:ext>
            </a:extLst>
          </p:cNvPr>
          <p:cNvSpPr txBox="1"/>
          <p:nvPr/>
        </p:nvSpPr>
        <p:spPr>
          <a:xfrm>
            <a:off x="6921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021C21-8A51-4DCE-82B0-52781378F734}"/>
              </a:ext>
            </a:extLst>
          </p:cNvPr>
          <p:cNvSpPr txBox="1"/>
          <p:nvPr/>
        </p:nvSpPr>
        <p:spPr>
          <a:xfrm>
            <a:off x="7937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0.10%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096784-FEB6-4468-B7F9-C7EC9468BB3C}"/>
              </a:ext>
            </a:extLst>
          </p:cNvPr>
          <p:cNvSpPr txBox="1"/>
          <p:nvPr/>
        </p:nvSpPr>
        <p:spPr>
          <a:xfrm>
            <a:off x="8763000" y="46228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032615-88A1-4D6C-BB90-DAAA3DD7D344}"/>
              </a:ext>
            </a:extLst>
          </p:cNvPr>
          <p:cNvSpPr txBox="1"/>
          <p:nvPr/>
        </p:nvSpPr>
        <p:spPr>
          <a:xfrm>
            <a:off x="10414000" y="46228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9EE4C6-C3C3-4B0E-959A-CB0CBA66788A}"/>
              </a:ext>
            </a:extLst>
          </p:cNvPr>
          <p:cNvSpPr txBox="1"/>
          <p:nvPr/>
        </p:nvSpPr>
        <p:spPr>
          <a:xfrm>
            <a:off x="635000" y="5346700"/>
            <a:ext cx="10795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5D6B82"/>
                </a:solidFill>
                <a:latin typeface="Aptos"/>
              </a:rPr>
              <a:t>Filtros solo cambian lo visible; la confirmación incluye todas las filas no eliminadas y no excluidas.</a:t>
            </a:r>
          </a:p>
        </p:txBody>
      </p:sp>
    </p:spTree>
    <p:extLst>
      <p:ext uri="{BB962C8B-B14F-4D97-AF65-F5344CB8AC3E}">
        <p14:creationId xmlns:p14="http://schemas.microsoft.com/office/powerpoint/2010/main" val="212732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B51D5-B775-49A0-9697-0AE8064F343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EBEC5-577A-4A18-9A30-C081BDDC26E9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DDED6-9650-47DE-859C-FA44709676B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9E055-0DC6-4900-AAB7-132B3B0FB1A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7DC2A250-187A-4ACA-AD52-33527EDFA02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DA035-9A59-4633-9164-BFA1A1A33AF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60935-B77C-4E67-A024-4171D95B3F1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10. Exclusiones y reglas del análisis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9AA65-3F79-44DB-AD95-3B7EC943F9B1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Las exclusiones afectan el cálculo antes de confirmar.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B14E7C-8C71-4E2A-B3F9-B462783EE7AD}"/>
              </a:ext>
            </a:extLst>
          </p:cNvPr>
          <p:cNvSpPr/>
          <p:nvPr/>
        </p:nvSpPr>
        <p:spPr>
          <a:xfrm>
            <a:off x="5715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24CB7-C3F2-4BA0-9A12-1448BB5083F1}"/>
              </a:ext>
            </a:extLst>
          </p:cNvPr>
          <p:cNvSpPr txBox="1"/>
          <p:nvPr/>
        </p:nvSpPr>
        <p:spPr>
          <a:xfrm>
            <a:off x="7747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Cause (H)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4116F-2659-4EFC-851B-21BCFF3159C1}"/>
              </a:ext>
            </a:extLst>
          </p:cNvPr>
          <p:cNvSpPr txBox="1"/>
          <p:nvPr/>
        </p:nvSpPr>
        <p:spPr>
          <a:xfrm>
            <a:off x="7747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BM · BP · DB · WW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D31D5D-0D30-4CB8-A4DB-84E2D9FE394D}"/>
              </a:ext>
            </a:extLst>
          </p:cNvPr>
          <p:cNvSpPr/>
          <p:nvPr/>
        </p:nvSpPr>
        <p:spPr>
          <a:xfrm>
            <a:off x="34290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ED34B-4493-4AB1-AE2F-D9E410E2AA8E}"/>
              </a:ext>
            </a:extLst>
          </p:cNvPr>
          <p:cNvSpPr txBox="1"/>
          <p:nvPr/>
        </p:nvSpPr>
        <p:spPr>
          <a:xfrm>
            <a:off x="36322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MajorPart (M)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6F407-FD08-41D8-B620-2E476AD058D9}"/>
              </a:ext>
            </a:extLst>
          </p:cNvPr>
          <p:cNvSpPr txBox="1"/>
          <p:nvPr/>
        </p:nvSpPr>
        <p:spPr>
          <a:xfrm>
            <a:off x="36322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BAP · CAM · HDD · MB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8D1115-B1F6-4481-82DA-BDB8563B628C}"/>
              </a:ext>
            </a:extLst>
          </p:cNvPr>
          <p:cNvSpPr/>
          <p:nvPr/>
        </p:nvSpPr>
        <p:spPr>
          <a:xfrm>
            <a:off x="62865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5CAFB-5557-4925-A268-F79F66CAD7C1}"/>
              </a:ext>
            </a:extLst>
          </p:cNvPr>
          <p:cNvSpPr txBox="1"/>
          <p:nvPr/>
        </p:nvSpPr>
        <p:spPr>
          <a:xfrm>
            <a:off x="64897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Shift Fail (Z)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3C09D4-0122-4721-A148-2D25BE50B272}"/>
              </a:ext>
            </a:extLst>
          </p:cNvPr>
          <p:cNvSpPr txBox="1"/>
          <p:nvPr/>
        </p:nvSpPr>
        <p:spPr>
          <a:xfrm>
            <a:off x="64897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 · B · C · 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0C4477-36BC-405A-BA60-853C4A6239F2}"/>
              </a:ext>
            </a:extLst>
          </p:cNvPr>
          <p:cNvSpPr/>
          <p:nvPr/>
        </p:nvSpPr>
        <p:spPr>
          <a:xfrm>
            <a:off x="91440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86C6C-D6B5-48C7-B267-CA571037DA59}"/>
              </a:ext>
            </a:extLst>
          </p:cNvPr>
          <p:cNvSpPr txBox="1"/>
          <p:nvPr/>
        </p:nvSpPr>
        <p:spPr>
          <a:xfrm>
            <a:off x="93472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Repeat (AA)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4293A0-5FEE-4896-82AB-1F899846A516}"/>
              </a:ext>
            </a:extLst>
          </p:cNvPr>
          <p:cNvSpPr txBox="1"/>
          <p:nvPr/>
        </p:nvSpPr>
        <p:spPr>
          <a:xfrm>
            <a:off x="93472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1 · 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8D51DE-230E-4BB9-8472-75B5C3A31DB3}"/>
              </a:ext>
            </a:extLst>
          </p:cNvPr>
          <p:cNvSpPr/>
          <p:nvPr/>
        </p:nvSpPr>
        <p:spPr>
          <a:xfrm>
            <a:off x="571500" y="4572000"/>
            <a:ext cx="11049000" cy="114300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7A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2F4C-3914-4852-B92E-22A55DEF29A2}"/>
              </a:ext>
            </a:extLst>
          </p:cNvPr>
          <p:cNvSpPr txBox="1"/>
          <p:nvPr/>
        </p:nvSpPr>
        <p:spPr>
          <a:xfrm>
            <a:off x="825500" y="48006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8A5B00"/>
                </a:solidFill>
                <a:latin typeface="Aptos"/>
              </a:rPr>
              <a:t>Cuando hay exclusiones activas, el botón cambia de color.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8EE528-6021-4AD7-8AE2-2D023DA861AC}"/>
              </a:ext>
            </a:extLst>
          </p:cNvPr>
          <p:cNvSpPr txBox="1"/>
          <p:nvPr/>
        </p:nvSpPr>
        <p:spPr>
          <a:xfrm>
            <a:off x="825500" y="52324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Al aplicar o quitar una exclusión se conservan el filtro de Family y la fecha elegida.</a:t>
            </a:r>
          </a:p>
        </p:txBody>
      </p:sp>
    </p:spTree>
    <p:extLst>
      <p:ext uri="{BB962C8B-B14F-4D97-AF65-F5344CB8AC3E}">
        <p14:creationId xmlns:p14="http://schemas.microsoft.com/office/powerpoint/2010/main" val="219204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73D52-C7FE-4043-84CC-10DBD7B5DB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0178C-2312-4BC8-B1A3-12A5DCCAB04A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FDF34-88B9-4DC7-B76B-CFA3F8E4A293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1B36B-7404-45A3-B590-BD93FA5F16A5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AD65D951-B818-4ED5-A69C-D31C75ABD069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D2402-F5AD-42DC-B513-1B8DC4CA31C6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22764B-2017-4195-8761-019B47F1E8E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11. Lógica del 60% (Pareto)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FC074-A5A8-413C-9661-16F38A168ADE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vista previa reproduce el análisis técnico antes de guardar.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D8E61D-0C81-4133-9775-C2A391D588EB}"/>
              </a:ext>
            </a:extLst>
          </p:cNvPr>
          <p:cNvSpPr/>
          <p:nvPr/>
        </p:nvSpPr>
        <p:spPr>
          <a:xfrm>
            <a:off x="571500" y="1905000"/>
            <a:ext cx="11049000" cy="685800"/>
          </a:xfrm>
          <a:prstGeom prst="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3CDF8-7698-4FCD-94BF-3EA0AD87EB2F}"/>
              </a:ext>
            </a:extLst>
          </p:cNvPr>
          <p:cNvSpPr txBox="1"/>
          <p:nvPr/>
        </p:nvSpPr>
        <p:spPr>
          <a:xfrm>
            <a:off x="825500" y="2133600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FFFFFF"/>
                </a:solidFill>
                <a:latin typeface="Aptos"/>
              </a:rPr>
              <a:t>1  Agrupa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7BEC2-927A-431E-9251-25A6008721D8}"/>
              </a:ext>
            </a:extLst>
          </p:cNvPr>
          <p:cNvSpPr txBox="1"/>
          <p:nvPr/>
        </p:nvSpPr>
        <p:spPr>
          <a:xfrm>
            <a:off x="3619500" y="2133600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FFFFFF"/>
                </a:solidFill>
                <a:latin typeface="Aptos"/>
              </a:rPr>
              <a:t>2  Ordena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67879-B795-41DE-B9D8-437E94BC962D}"/>
              </a:ext>
            </a:extLst>
          </p:cNvPr>
          <p:cNvSpPr txBox="1"/>
          <p:nvPr/>
        </p:nvSpPr>
        <p:spPr>
          <a:xfrm>
            <a:off x="6413500" y="2133600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FFFFFF"/>
                </a:solidFill>
                <a:latin typeface="Aptos"/>
              </a:rPr>
              <a:t>3  Acumula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3A88E7-7AEF-43E8-91D6-C8AC77BD3043}"/>
              </a:ext>
            </a:extLst>
          </p:cNvPr>
          <p:cNvSpPr txBox="1"/>
          <p:nvPr/>
        </p:nvSpPr>
        <p:spPr>
          <a:xfrm>
            <a:off x="9207500" y="21336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FFFFFF"/>
                </a:solidFill>
                <a:latin typeface="Aptos"/>
              </a:rPr>
              <a:t>4  Selecciona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9ACE77-93BA-4FAF-980C-C2ECFC73591D}"/>
              </a:ext>
            </a:extLst>
          </p:cNvPr>
          <p:cNvSpPr/>
          <p:nvPr/>
        </p:nvSpPr>
        <p:spPr>
          <a:xfrm>
            <a:off x="571500" y="2794000"/>
            <a:ext cx="2413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2BF5C5-2743-4EC6-A9AE-791ABEEA39B6}"/>
              </a:ext>
            </a:extLst>
          </p:cNvPr>
          <p:cNvSpPr txBox="1"/>
          <p:nvPr/>
        </p:nvSpPr>
        <p:spPr>
          <a:xfrm>
            <a:off x="787400" y="3111500"/>
            <a:ext cx="1968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72033"/>
                </a:solidFill>
                <a:latin typeface="Aptos"/>
              </a:rPr>
              <a:t>Fecha + Family + Top Issue + Category</a:t>
            </a:r>
            <a:endParaRPr lang="es-MX" sz="1300" b="1">
              <a:solidFill>
                <a:srgbClr val="172033"/>
              </a:solidFill>
              <a:latin typeface="Apto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0A9D67-BCCE-4227-B185-7FC6B8461854}"/>
              </a:ext>
            </a:extLst>
          </p:cNvPr>
          <p:cNvSpPr/>
          <p:nvPr/>
        </p:nvSpPr>
        <p:spPr>
          <a:xfrm>
            <a:off x="3365500" y="2794000"/>
            <a:ext cx="2413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2B830-E36B-4418-B45E-8260BD3FE765}"/>
              </a:ext>
            </a:extLst>
          </p:cNvPr>
          <p:cNvSpPr txBox="1"/>
          <p:nvPr/>
        </p:nvSpPr>
        <p:spPr>
          <a:xfrm>
            <a:off x="3581400" y="3111500"/>
            <a:ext cx="1968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172033"/>
                </a:solidFill>
                <a:latin typeface="Aptos"/>
              </a:rPr>
              <a:t>Failure Qty de mayor a menor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7D8280-B530-42B1-B943-E20CF7ABB114}"/>
              </a:ext>
            </a:extLst>
          </p:cNvPr>
          <p:cNvSpPr/>
          <p:nvPr/>
        </p:nvSpPr>
        <p:spPr>
          <a:xfrm>
            <a:off x="6159500" y="2794000"/>
            <a:ext cx="2413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287629-A379-4FAA-A45B-705490FBB46F}"/>
              </a:ext>
            </a:extLst>
          </p:cNvPr>
          <p:cNvSpPr txBox="1"/>
          <p:nvPr/>
        </p:nvSpPr>
        <p:spPr>
          <a:xfrm>
            <a:off x="6375400" y="3111500"/>
            <a:ext cx="1968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172033"/>
                </a:solidFill>
                <a:latin typeface="Aptos"/>
              </a:rPr>
              <a:t>Suma de defectos priorizados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16D21E-A4CE-4445-A7ED-76471BAA6683}"/>
              </a:ext>
            </a:extLst>
          </p:cNvPr>
          <p:cNvSpPr/>
          <p:nvPr/>
        </p:nvSpPr>
        <p:spPr>
          <a:xfrm>
            <a:off x="8953500" y="2794000"/>
            <a:ext cx="2413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3DBA24-A9B0-4567-84AD-6703A134010E}"/>
              </a:ext>
            </a:extLst>
          </p:cNvPr>
          <p:cNvSpPr txBox="1"/>
          <p:nvPr/>
        </p:nvSpPr>
        <p:spPr>
          <a:xfrm>
            <a:off x="9169400" y="3111500"/>
            <a:ext cx="1968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172033"/>
                </a:solidFill>
                <a:latin typeface="Aptos"/>
              </a:rPr>
              <a:t>Registros que cubren el objetivo del 60%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8D74A4-7EC6-451D-B1E6-02BE760573BD}"/>
              </a:ext>
            </a:extLst>
          </p:cNvPr>
          <p:cNvSpPr/>
          <p:nvPr/>
        </p:nvSpPr>
        <p:spPr>
          <a:xfrm>
            <a:off x="571500" y="4826000"/>
            <a:ext cx="11049000" cy="8636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5B4C1D-E849-4EAA-9CD8-7DBCB6833BEF}"/>
              </a:ext>
            </a:extLst>
          </p:cNvPr>
          <p:cNvSpPr txBox="1"/>
          <p:nvPr/>
        </p:nvSpPr>
        <p:spPr>
          <a:xfrm>
            <a:off x="889000" y="5080000"/>
            <a:ext cx="508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E5799"/>
                </a:solidFill>
                <a:latin typeface="Aptos"/>
              </a:rPr>
              <a:t>F/R = Failure Qty ÷ Build Qty × 100</a:t>
            </a:r>
            <a:endParaRPr lang="es-MX" b="1">
              <a:solidFill>
                <a:srgbClr val="1E5799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6864D-9372-4D74-87E8-37E63E7C951F}"/>
              </a:ext>
            </a:extLst>
          </p:cNvPr>
          <p:cNvSpPr txBox="1"/>
          <p:nvPr/>
        </p:nvSpPr>
        <p:spPr>
          <a:xfrm>
            <a:off x="6477000" y="5130800"/>
            <a:ext cx="457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El total del Pareto aparece al final de la vista previa.</a:t>
            </a:r>
          </a:p>
        </p:txBody>
      </p:sp>
    </p:spTree>
    <p:extLst>
      <p:ext uri="{BB962C8B-B14F-4D97-AF65-F5344CB8AC3E}">
        <p14:creationId xmlns:p14="http://schemas.microsoft.com/office/powerpoint/2010/main" val="78003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710501-532A-4583-889C-66BED9C3DE7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FA968-8B93-407D-BB39-9708CD78EEE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B07B4-A5EE-49E0-B1DB-18760A95032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8C279-F435-4DFA-9FA9-11B9669739B9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AC43DCEC-7CA1-43EB-860A-51012DC461A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E0465-C8C8-4ACB-8790-6AD38C65FEDF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514EC-0001-4601-9D1F-1D4B6F4316EA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12. Visualizar y editar un reporte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1B64F-6C27-41DB-8654-BF4126FBB74C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encabezado fijo mantiene las acciones disponibles durante el scroll.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85532F-800F-4BB2-A44C-B89744D63F59}"/>
              </a:ext>
            </a:extLst>
          </p:cNvPr>
          <p:cNvSpPr/>
          <p:nvPr/>
        </p:nvSpPr>
        <p:spPr>
          <a:xfrm>
            <a:off x="3556000" y="1612900"/>
            <a:ext cx="8255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4E22DD-1A2F-4E02-99D9-9B49383E0C9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1676400"/>
            <a:ext cx="8128000" cy="4572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7CC1DF-6149-4468-BE3E-26C88FEA1BC8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65248-B0B4-4FA9-8C7C-035124B0D69E}"/>
              </a:ext>
            </a:extLst>
          </p:cNvPr>
          <p:cNvSpPr txBox="1"/>
          <p:nvPr/>
        </p:nvSpPr>
        <p:spPr>
          <a:xfrm>
            <a:off x="711200" y="1841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Visualizar: datos, Detalles e imágenes.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D0F79B-55D9-436E-AA1E-83460DE4F3FC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0A6BE2-9BD4-4780-BD0E-32540010B9B5}"/>
              </a:ext>
            </a:extLst>
          </p:cNvPr>
          <p:cNvSpPr txBox="1"/>
          <p:nvPr/>
        </p:nvSpPr>
        <p:spPr>
          <a:xfrm>
            <a:off x="711200" y="25400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Editar: cambia campos y guarda.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DA19C9-114D-437F-B02B-4C8E5FE48AA4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3E4F5C-EA8E-4A8F-857C-684D18E0FE46}"/>
              </a:ext>
            </a:extLst>
          </p:cNvPr>
          <p:cNvSpPr txBox="1"/>
          <p:nvPr/>
        </p:nvSpPr>
        <p:spPr>
          <a:xfrm>
            <a:off x="711200" y="3238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Ocultar detalles: reduce el contenido visible.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26A30C-4B65-4BAD-93FF-B3E7B42FA98E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1B1B34-D2AA-4EF9-ACFF-DC2ECC1B2785}"/>
              </a:ext>
            </a:extLst>
          </p:cNvPr>
          <p:cNvSpPr txBox="1"/>
          <p:nvPr/>
        </p:nvSpPr>
        <p:spPr>
          <a:xfrm>
            <a:off x="711200" y="39370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ESC: regresa sin guardar.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C8818A-7D01-4332-B175-05F9A58DE4FC}"/>
              </a:ext>
            </a:extLst>
          </p:cNvPr>
          <p:cNvSpPr/>
          <p:nvPr/>
        </p:nvSpPr>
        <p:spPr>
          <a:xfrm>
            <a:off x="9525000" y="1841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625A1-FE2C-4638-8B88-F1AD1223056C}"/>
              </a:ext>
            </a:extLst>
          </p:cNvPr>
          <p:cNvSpPr txBox="1"/>
          <p:nvPr/>
        </p:nvSpPr>
        <p:spPr>
          <a:xfrm>
            <a:off x="9537700" y="1892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4B372E-0CA3-4973-8897-968B5BB9AB50}"/>
              </a:ext>
            </a:extLst>
          </p:cNvPr>
          <p:cNvSpPr txBox="1"/>
          <p:nvPr/>
        </p:nvSpPr>
        <p:spPr>
          <a:xfrm>
            <a:off x="9931400" y="18415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Ocultar detalles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7D2087A-0FDD-44FD-9022-5FD8D9973C51}"/>
              </a:ext>
            </a:extLst>
          </p:cNvPr>
          <p:cNvSpPr/>
          <p:nvPr/>
        </p:nvSpPr>
        <p:spPr>
          <a:xfrm>
            <a:off x="10833100" y="2349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72DCC3-5426-4811-8C9B-F4D3B0DF1ECF}"/>
              </a:ext>
            </a:extLst>
          </p:cNvPr>
          <p:cNvSpPr txBox="1"/>
          <p:nvPr/>
        </p:nvSpPr>
        <p:spPr>
          <a:xfrm>
            <a:off x="10845800" y="2400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86C3CB-B662-4B68-8EF9-FBBB83A4837B}"/>
              </a:ext>
            </a:extLst>
          </p:cNvPr>
          <p:cNvSpPr txBox="1"/>
          <p:nvPr/>
        </p:nvSpPr>
        <p:spPr>
          <a:xfrm>
            <a:off x="11201400" y="2349500"/>
            <a:ext cx="88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Guardar</a:t>
            </a:r>
          </a:p>
        </p:txBody>
      </p:sp>
    </p:spTree>
    <p:extLst>
      <p:ext uri="{BB962C8B-B14F-4D97-AF65-F5344CB8AC3E}">
        <p14:creationId xmlns:p14="http://schemas.microsoft.com/office/powerpoint/2010/main" val="2487223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1E1CC-2697-4310-95F9-05E905554A9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5DDB9-7E63-4AEA-9C33-0517DE22A639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D371D-DD0F-4512-9322-DE15137856B7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443E6-3839-4A15-9D3A-5DAB719EEF0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BEB607C-6748-442D-96F9-1BFFF7D4DE10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CF69F-6475-4E57-A569-3EDEE9AC1D7E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4491C-EF3D-4267-A7CE-AFF6B451F9D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13. Reasignar la categoría de una unidad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28520-94C1-4864-8F5E-0B188D4540A5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Disponible en la tabla Detalles al editar.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4E4EF8-49A9-496F-8E40-79214D752B3C}"/>
              </a:ext>
            </a:extLst>
          </p:cNvPr>
          <p:cNvSpPr/>
          <p:nvPr/>
        </p:nvSpPr>
        <p:spPr>
          <a:xfrm>
            <a:off x="508000" y="1905000"/>
            <a:ext cx="111760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2F351E-A029-4BF9-B320-ACC519ACBEE8}"/>
              </a:ext>
            </a:extLst>
          </p:cNvPr>
          <p:cNvSpPr/>
          <p:nvPr/>
        </p:nvSpPr>
        <p:spPr>
          <a:xfrm>
            <a:off x="508000" y="1905000"/>
            <a:ext cx="11176000" cy="558800"/>
          </a:xfrm>
          <a:prstGeom prst="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AE947-3CC1-46C8-9216-117DEBFBA66F}"/>
              </a:ext>
            </a:extLst>
          </p:cNvPr>
          <p:cNvSpPr txBox="1"/>
          <p:nvPr/>
        </p:nvSpPr>
        <p:spPr>
          <a:xfrm>
            <a:off x="762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Family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DE39A-0BE3-41BE-9D50-7D57CD760EAD}"/>
              </a:ext>
            </a:extLst>
          </p:cNvPr>
          <p:cNvSpPr txBox="1"/>
          <p:nvPr/>
        </p:nvSpPr>
        <p:spPr>
          <a:xfrm>
            <a:off x="3429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SN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6A021-7747-46CA-9DE7-43A62EFC1C01}"/>
              </a:ext>
            </a:extLst>
          </p:cNvPr>
          <p:cNvSpPr txBox="1"/>
          <p:nvPr/>
        </p:nvSpPr>
        <p:spPr>
          <a:xfrm>
            <a:off x="60325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Remark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30148-BE29-445B-A9C6-3B3C377C5F28}"/>
              </a:ext>
            </a:extLst>
          </p:cNvPr>
          <p:cNvSpPr txBox="1"/>
          <p:nvPr/>
        </p:nvSpPr>
        <p:spPr>
          <a:xfrm>
            <a:off x="8890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Category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1C689-3415-4FEC-A412-E6C1499B0023}"/>
              </a:ext>
            </a:extLst>
          </p:cNvPr>
          <p:cNvSpPr txBox="1"/>
          <p:nvPr/>
        </p:nvSpPr>
        <p:spPr>
          <a:xfrm>
            <a:off x="762000" y="2870200"/>
            <a:ext cx="2222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MACHU14W 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B191B-EEDB-4605-831A-AB5678011036}"/>
              </a:ext>
            </a:extLst>
          </p:cNvPr>
          <p:cNvSpPr txBox="1"/>
          <p:nvPr/>
        </p:nvSpPr>
        <p:spPr>
          <a:xfrm>
            <a:off x="3429000" y="2870200"/>
            <a:ext cx="2095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2MQ6290L1Y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AE0B2-DF11-4132-982E-D0AC22701E5E}"/>
              </a:ext>
            </a:extLst>
          </p:cNvPr>
          <p:cNvSpPr txBox="1"/>
          <p:nvPr/>
        </p:nvSpPr>
        <p:spPr>
          <a:xfrm>
            <a:off x="6032500" y="2870200"/>
            <a:ext cx="254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CAMBIO W WAN FALLA TEST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BB5240-1020-416B-830F-DC2E3ABE042A}"/>
              </a:ext>
            </a:extLst>
          </p:cNvPr>
          <p:cNvSpPr/>
          <p:nvPr/>
        </p:nvSpPr>
        <p:spPr>
          <a:xfrm>
            <a:off x="8890000" y="2667000"/>
            <a:ext cx="241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F4FC4-862A-4E76-AA11-95861678A287}"/>
              </a:ext>
            </a:extLst>
          </p:cNvPr>
          <p:cNvSpPr txBox="1"/>
          <p:nvPr/>
        </p:nvSpPr>
        <p:spPr>
          <a:xfrm>
            <a:off x="9093200" y="2870200"/>
            <a:ext cx="2006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Motherboard          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4B7108-2733-492A-9DE4-2D91C7964DE5}"/>
              </a:ext>
            </a:extLst>
          </p:cNvPr>
          <p:cNvSpPr txBox="1"/>
          <p:nvPr/>
        </p:nvSpPr>
        <p:spPr>
          <a:xfrm>
            <a:off x="660400" y="4826000"/>
            <a:ext cx="25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700" b="1">
                <a:solidFill>
                  <a:srgbClr val="1E5799"/>
                </a:solidFill>
                <a:latin typeface="Aptos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BA89E9-463B-4628-B6ED-B949D31F982E}"/>
              </a:ext>
            </a:extLst>
          </p:cNvPr>
          <p:cNvSpPr txBox="1"/>
          <p:nvPr/>
        </p:nvSpPr>
        <p:spPr>
          <a:xfrm>
            <a:off x="1041400" y="4851400"/>
            <a:ext cx="4381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Selecciona la nueva Category en la unidad.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6E7DB-D1F0-487A-8437-6F7D01C1DB5F}"/>
              </a:ext>
            </a:extLst>
          </p:cNvPr>
          <p:cNvSpPr txBox="1"/>
          <p:nvPr/>
        </p:nvSpPr>
        <p:spPr>
          <a:xfrm>
            <a:off x="5740400" y="4826000"/>
            <a:ext cx="25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700" b="1">
                <a:solidFill>
                  <a:srgbClr val="1E5799"/>
                </a:solidFill>
                <a:latin typeface="Aptos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C071E-FA63-4BD3-A360-485556105F30}"/>
              </a:ext>
            </a:extLst>
          </p:cNvPr>
          <p:cNvSpPr txBox="1"/>
          <p:nvPr/>
        </p:nvSpPr>
        <p:spPr>
          <a:xfrm>
            <a:off x="6121400" y="4851400"/>
            <a:ext cx="514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Guarda cambios para ejecutar la reasignación.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8A1108-37B9-4680-8F2A-4FF20BBB53C9}"/>
              </a:ext>
            </a:extLst>
          </p:cNvPr>
          <p:cNvSpPr txBox="1"/>
          <p:nvPr/>
        </p:nvSpPr>
        <p:spPr>
          <a:xfrm>
            <a:off x="1041400" y="5397500"/>
            <a:ext cx="10223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Si existe un grupo con Fecha + Family + Top Issue + Category, la unidad se mueve ahí; si no, el sistema crea un grupo nuevo.</a:t>
            </a:r>
          </a:p>
        </p:txBody>
      </p:sp>
    </p:spTree>
    <p:extLst>
      <p:ext uri="{BB962C8B-B14F-4D97-AF65-F5344CB8AC3E}">
        <p14:creationId xmlns:p14="http://schemas.microsoft.com/office/powerpoint/2010/main" val="205161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82CFE-09BC-47FB-82E1-E0EA6598246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8B2AA-963A-4231-AC70-97D1550D766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99563-D6B4-4489-96B5-4F8DF019474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21A37-F97B-415B-8713-6127B91042BD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1AF2275C-14BA-42BD-AF3E-29C448CD122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69889-45BD-47F7-9C79-7CBB373B4D6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DCA2E-6527-4FAA-A513-D5B500119FEA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B2F5B"/>
                </a:solidFill>
                <a:latin typeface="Aptos"/>
              </a:rPr>
              <a:t>14. Return Yes y Return No</a:t>
            </a:r>
            <a:endParaRPr lang="es-MX" sz="2800" b="1">
              <a:solidFill>
                <a:srgbClr val="0B2F5B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F2BCA-EE29-4972-992F-DA98129A1FFA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importación deja Return vacío; el usuario decide cuándo capturarlo.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372BB3-A92F-4C5C-A202-E8E5EB3F899F}"/>
              </a:ext>
            </a:extLst>
          </p:cNvPr>
          <p:cNvSpPr/>
          <p:nvPr/>
        </p:nvSpPr>
        <p:spPr>
          <a:xfrm>
            <a:off x="1905000" y="2159000"/>
            <a:ext cx="361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FD8FA-919B-4022-B66B-2BC3CC696B7F}"/>
              </a:ext>
            </a:extLst>
          </p:cNvPr>
          <p:cNvSpPr txBox="1"/>
          <p:nvPr/>
        </p:nvSpPr>
        <p:spPr>
          <a:xfrm>
            <a:off x="2286000" y="2540000"/>
            <a:ext cx="139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72033"/>
                </a:solidFill>
                <a:latin typeface="Aptos"/>
              </a:rPr>
              <a:t>Return Yes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2C9E46-75B2-45D4-8EB9-865ABF4FC9B2}"/>
              </a:ext>
            </a:extLst>
          </p:cNvPr>
          <p:cNvSpPr/>
          <p:nvPr/>
        </p:nvSpPr>
        <p:spPr>
          <a:xfrm>
            <a:off x="2286000" y="2984500"/>
            <a:ext cx="1270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BC7C1-1D3E-4770-A313-298ADE71D361}"/>
              </a:ext>
            </a:extLst>
          </p:cNvPr>
          <p:cNvSpPr txBox="1"/>
          <p:nvPr/>
        </p:nvSpPr>
        <p:spPr>
          <a:xfrm>
            <a:off x="2514600" y="3175000"/>
            <a:ext cx="825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172033"/>
                </a:solidFill>
                <a:latin typeface="Aptos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181D31-35BD-4112-A931-D7434D7BE4CF}"/>
              </a:ext>
            </a:extLst>
          </p:cNvPr>
          <p:cNvSpPr txBox="1"/>
          <p:nvPr/>
        </p:nvSpPr>
        <p:spPr>
          <a:xfrm>
            <a:off x="3873500" y="2540000"/>
            <a:ext cx="139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72033"/>
                </a:solidFill>
                <a:latin typeface="Aptos"/>
              </a:rPr>
              <a:t>Return 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510A8B-BFF0-4446-AD53-FF5D0237774D}"/>
              </a:ext>
            </a:extLst>
          </p:cNvPr>
          <p:cNvSpPr/>
          <p:nvPr/>
        </p:nvSpPr>
        <p:spPr>
          <a:xfrm>
            <a:off x="3873500" y="2984500"/>
            <a:ext cx="1270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BC803-6BD9-4C61-BB4B-BF6C6C18A3E3}"/>
              </a:ext>
            </a:extLst>
          </p:cNvPr>
          <p:cNvSpPr txBox="1"/>
          <p:nvPr/>
        </p:nvSpPr>
        <p:spPr>
          <a:xfrm>
            <a:off x="4127500" y="3175000"/>
            <a:ext cx="825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5D6B82"/>
                </a:solidFill>
                <a:latin typeface="Aptos"/>
              </a:rPr>
              <a:t>—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18996C-95D8-4C15-85FF-1AB621BFC70D}"/>
              </a:ext>
            </a:extLst>
          </p:cNvPr>
          <p:cNvSpPr/>
          <p:nvPr/>
        </p:nvSpPr>
        <p:spPr>
          <a:xfrm>
            <a:off x="6667500" y="2159000"/>
            <a:ext cx="3619500" cy="18415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53303-A2B0-48D3-8270-51EA07F905E0}"/>
              </a:ext>
            </a:extLst>
          </p:cNvPr>
          <p:cNvSpPr txBox="1"/>
          <p:nvPr/>
        </p:nvSpPr>
        <p:spPr>
          <a:xfrm>
            <a:off x="7048500" y="25146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Modo manual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6B65B-0FC9-41DC-B303-7D3F172B2341}"/>
              </a:ext>
            </a:extLst>
          </p:cNvPr>
          <p:cNvSpPr txBox="1"/>
          <p:nvPr/>
        </p:nvSpPr>
        <p:spPr>
          <a:xfrm>
            <a:off x="7048500" y="2984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Captura ambos valores y guarda.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84B439-2E4A-472C-B5C9-D97CCD5AAB84}"/>
              </a:ext>
            </a:extLst>
          </p:cNvPr>
          <p:cNvSpPr txBox="1"/>
          <p:nvPr/>
        </p:nvSpPr>
        <p:spPr>
          <a:xfrm>
            <a:off x="7048500" y="34290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Modo automático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E5B154-4800-438D-94D8-F3593E05709D}"/>
              </a:ext>
            </a:extLst>
          </p:cNvPr>
          <p:cNvSpPr txBox="1"/>
          <p:nvPr/>
        </p:nvSpPr>
        <p:spPr>
          <a:xfrm>
            <a:off x="7048500" y="38354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El sistema calcula Return No.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93A09-9FF9-4D2A-99F9-D8CBD261A138}"/>
              </a:ext>
            </a:extLst>
          </p:cNvPr>
          <p:cNvSpPr txBox="1"/>
          <p:nvPr/>
        </p:nvSpPr>
        <p:spPr>
          <a:xfrm>
            <a:off x="1905000" y="4635500"/>
            <a:ext cx="838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Importante: un valor vacío se conserva vacío al guardar; 0 es un valor explícito.</a:t>
            </a:r>
          </a:p>
        </p:txBody>
      </p:sp>
    </p:spTree>
    <p:extLst>
      <p:ext uri="{BB962C8B-B14F-4D97-AF65-F5344CB8AC3E}">
        <p14:creationId xmlns:p14="http://schemas.microsoft.com/office/powerpoint/2010/main" val="2262918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70E05-25A1-499B-9A3C-9DCAB9CCDED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53392-495A-4509-916E-B5804DDB796F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28ECE-A0BB-4160-9928-784D4D12259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OVERALL FPF TREND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623D2-C2CC-4BC3-8783-668718A70AD0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7FCA57C-4273-41D3-B285-D80060AEA76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A0D00-0328-4698-885B-28BB26FE5DAC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88596-F441-4BED-9048-2B77FF0F7E54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15. Consultar Overall FPF Trend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A954F-6E3C-4A91-9ADA-807677D74F90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fecha seleccionada al importar determina el día que recibe los datos.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A2207A-7A0E-4C6F-96FF-E7E72D92DE25}"/>
              </a:ext>
            </a:extLst>
          </p:cNvPr>
          <p:cNvSpPr/>
          <p:nvPr/>
        </p:nvSpPr>
        <p:spPr>
          <a:xfrm>
            <a:off x="482600" y="1955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CD104-2A04-4F47-8B9D-D68D972A1E52}"/>
              </a:ext>
            </a:extLst>
          </p:cNvPr>
          <p:cNvSpPr txBox="1"/>
          <p:nvPr/>
        </p:nvSpPr>
        <p:spPr>
          <a:xfrm>
            <a:off x="711200" y="19050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Semana individual: captura por día.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23ABEC-8A18-4512-B1B2-36DAA2651FEB}"/>
              </a:ext>
            </a:extLst>
          </p:cNvPr>
          <p:cNvSpPr/>
          <p:nvPr/>
        </p:nvSpPr>
        <p:spPr>
          <a:xfrm>
            <a:off x="482600" y="2654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198A8-0E21-49D0-AF36-FD0A19C70246}"/>
              </a:ext>
            </a:extLst>
          </p:cNvPr>
          <p:cNvSpPr txBox="1"/>
          <p:nvPr/>
        </p:nvSpPr>
        <p:spPr>
          <a:xfrm>
            <a:off x="711200" y="2603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Últimas semanas: consulta histórica.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3A67E0-1096-489F-B062-FCA5F5F29B59}"/>
              </a:ext>
            </a:extLst>
          </p:cNvPr>
          <p:cNvSpPr/>
          <p:nvPr/>
        </p:nvSpPr>
        <p:spPr>
          <a:xfrm>
            <a:off x="482600" y="3352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0D1CC-89AC-4129-A27C-23BE1CDC7EFE}"/>
              </a:ext>
            </a:extLst>
          </p:cNvPr>
          <p:cNvSpPr txBox="1"/>
          <p:nvPr/>
        </p:nvSpPr>
        <p:spPr>
          <a:xfrm>
            <a:off x="711200" y="33020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Comparar semanas: análisis lateral.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32C462-EC2A-4A2C-A5A3-5C0B797D2552}"/>
              </a:ext>
            </a:extLst>
          </p:cNvPr>
          <p:cNvSpPr/>
          <p:nvPr/>
        </p:nvSpPr>
        <p:spPr>
          <a:xfrm>
            <a:off x="482600" y="4051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6336F-93F6-4FF9-A792-6645E6F0FE58}"/>
              </a:ext>
            </a:extLst>
          </p:cNvPr>
          <p:cNvSpPr txBox="1"/>
          <p:nvPr/>
        </p:nvSpPr>
        <p:spPr>
          <a:xfrm>
            <a:off x="711200" y="4000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Guardar semana y exportar: Admin/User.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F327F9-DB86-46B4-B88D-6A839AC4FD58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39488C-7F15-4B37-A237-4A399FB0CE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D157F06-5384-4F4C-BFED-CBA235ADF1DD}"/>
              </a:ext>
            </a:extLst>
          </p:cNvPr>
          <p:cNvSpPr/>
          <p:nvPr/>
        </p:nvSpPr>
        <p:spPr>
          <a:xfrm>
            <a:off x="3454400" y="2336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81677-D188-40D1-A85B-091238EAB244}"/>
              </a:ext>
            </a:extLst>
          </p:cNvPr>
          <p:cNvSpPr txBox="1"/>
          <p:nvPr/>
        </p:nvSpPr>
        <p:spPr>
          <a:xfrm>
            <a:off x="3467100" y="2387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8E6F2-E4FC-4E68-96F7-CEC92010F46A}"/>
              </a:ext>
            </a:extLst>
          </p:cNvPr>
          <p:cNvSpPr txBox="1"/>
          <p:nvPr/>
        </p:nvSpPr>
        <p:spPr>
          <a:xfrm>
            <a:off x="3860800" y="2336800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Vistas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D5ABF3B-AFD3-4AE9-9254-474AF8001135}"/>
              </a:ext>
            </a:extLst>
          </p:cNvPr>
          <p:cNvSpPr/>
          <p:nvPr/>
        </p:nvSpPr>
        <p:spPr>
          <a:xfrm>
            <a:off x="8051800" y="1841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BF711F-9A7E-46B1-8BEE-73AA88DC805C}"/>
              </a:ext>
            </a:extLst>
          </p:cNvPr>
          <p:cNvSpPr txBox="1"/>
          <p:nvPr/>
        </p:nvSpPr>
        <p:spPr>
          <a:xfrm>
            <a:off x="8064500" y="1892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198EBA-F814-467A-96F0-EA67AB1786F2}"/>
              </a:ext>
            </a:extLst>
          </p:cNvPr>
          <p:cNvSpPr txBox="1"/>
          <p:nvPr/>
        </p:nvSpPr>
        <p:spPr>
          <a:xfrm>
            <a:off x="8458200" y="1841500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Semana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343C04-356C-4753-B4EE-FE49BFAF48E5}"/>
              </a:ext>
            </a:extLst>
          </p:cNvPr>
          <p:cNvCxnSpPr/>
          <p:nvPr/>
        </p:nvCxnSpPr>
        <p:spPr>
          <a:xfrm flipV="1">
            <a:off x="8229600" y="2095500"/>
            <a:ext cx="533400" cy="762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265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51218E-C413-4E41-94A7-34C69CAED0B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8F6A5-E886-4FFD-98F9-86752C86447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B389C-05A9-4F78-A28C-41B6BA6E5B3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OVERALL FPF TREND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1A8D4-4667-49FC-8A70-01204D7F2BF5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226A4F02-46F3-47DF-8F4D-987173C1A67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A2FBB-6317-46BC-9EC8-F5A41C92D48C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99F59-1E60-46AE-A260-D874FE436AC0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16. Familias visibles en Overall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81360-14C3-47BA-80D2-50B3F361EBD2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tablero usa una lista controlada para mantener series comparables.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6D6650-72EF-4E58-985C-DA4118CFEB93}"/>
              </a:ext>
            </a:extLst>
          </p:cNvPr>
          <p:cNvSpPr/>
          <p:nvPr/>
        </p:nvSpPr>
        <p:spPr>
          <a:xfrm>
            <a:off x="698500" y="2095500"/>
            <a:ext cx="2413000" cy="914400"/>
          </a:xfrm>
          <a:prstGeom prst="roundRect">
            <a:avLst/>
          </a:prstGeom>
          <a:solidFill>
            <a:srgbClr val="FFF4CD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B437A-2379-485E-98AA-AF18FCDDF2E7}"/>
              </a:ext>
            </a:extLst>
          </p:cNvPr>
          <p:cNvSpPr txBox="1"/>
          <p:nvPr/>
        </p:nvSpPr>
        <p:spPr>
          <a:xfrm>
            <a:off x="850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G12 800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A63686-38A8-4B0B-90DF-A4311FC2A099}"/>
              </a:ext>
            </a:extLst>
          </p:cNvPr>
          <p:cNvSpPr/>
          <p:nvPr/>
        </p:nvSpPr>
        <p:spPr>
          <a:xfrm>
            <a:off x="3492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1DCF6-ED29-450B-9DF3-DB0566F354A1}"/>
              </a:ext>
            </a:extLst>
          </p:cNvPr>
          <p:cNvSpPr txBox="1"/>
          <p:nvPr/>
        </p:nvSpPr>
        <p:spPr>
          <a:xfrm>
            <a:off x="3644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CHIRON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860F8C-D182-4E07-83C0-9778C4E20329}"/>
              </a:ext>
            </a:extLst>
          </p:cNvPr>
          <p:cNvSpPr/>
          <p:nvPr/>
        </p:nvSpPr>
        <p:spPr>
          <a:xfrm>
            <a:off x="6286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37663-C7A7-44D2-B40D-8A9BBA2443F5}"/>
              </a:ext>
            </a:extLst>
          </p:cNvPr>
          <p:cNvSpPr txBox="1"/>
          <p:nvPr/>
        </p:nvSpPr>
        <p:spPr>
          <a:xfrm>
            <a:off x="6438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GEMTREE 16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4546C9-7131-45AC-952F-53C9585B9111}"/>
              </a:ext>
            </a:extLst>
          </p:cNvPr>
          <p:cNvSpPr/>
          <p:nvPr/>
        </p:nvSpPr>
        <p:spPr>
          <a:xfrm>
            <a:off x="9080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0D0AE6-7BC1-4F12-B4B8-381B3B5D34DC}"/>
              </a:ext>
            </a:extLst>
          </p:cNvPr>
          <p:cNvSpPr txBox="1"/>
          <p:nvPr/>
        </p:nvSpPr>
        <p:spPr>
          <a:xfrm>
            <a:off x="9232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GEMTREE 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98BBB4-E131-4592-A981-9B36955A9F63}"/>
              </a:ext>
            </a:extLst>
          </p:cNvPr>
          <p:cNvSpPr/>
          <p:nvPr/>
        </p:nvSpPr>
        <p:spPr>
          <a:xfrm>
            <a:off x="698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D2E93A-FC88-48CB-A322-09DFF81D82CA}"/>
              </a:ext>
            </a:extLst>
          </p:cNvPr>
          <p:cNvSpPr txBox="1"/>
          <p:nvPr/>
        </p:nvSpPr>
        <p:spPr>
          <a:xfrm>
            <a:off x="850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MERINO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ED52C8-74CE-4449-A042-827EDB4BE03C}"/>
              </a:ext>
            </a:extLst>
          </p:cNvPr>
          <p:cNvSpPr/>
          <p:nvPr/>
        </p:nvSpPr>
        <p:spPr>
          <a:xfrm>
            <a:off x="3492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0CB91-CDE4-468A-A90A-E30D52F780A6}"/>
              </a:ext>
            </a:extLst>
          </p:cNvPr>
          <p:cNvSpPr txBox="1"/>
          <p:nvPr/>
        </p:nvSpPr>
        <p:spPr>
          <a:xfrm>
            <a:off x="3644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LAMPAS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587541-72ED-4EBE-A372-15328BE06DE6}"/>
              </a:ext>
            </a:extLst>
          </p:cNvPr>
          <p:cNvSpPr/>
          <p:nvPr/>
        </p:nvSpPr>
        <p:spPr>
          <a:xfrm>
            <a:off x="6286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5BF5C7-0BC6-480A-9C3E-EC1F7DB7CBB2}"/>
              </a:ext>
            </a:extLst>
          </p:cNvPr>
          <p:cNvSpPr txBox="1"/>
          <p:nvPr/>
        </p:nvSpPr>
        <p:spPr>
          <a:xfrm>
            <a:off x="6438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CASHMERE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7322D2-577D-4F4C-8927-8064AD5B833A}"/>
              </a:ext>
            </a:extLst>
          </p:cNvPr>
          <p:cNvSpPr txBox="1"/>
          <p:nvPr/>
        </p:nvSpPr>
        <p:spPr>
          <a:xfrm>
            <a:off x="698500" y="4991100"/>
            <a:ext cx="241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1E5799"/>
                </a:solidFill>
                <a:latin typeface="Aptos"/>
              </a:rPr>
              <a:t>IDS Overall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5A455-EF55-406B-8141-387E8DD9C102}"/>
              </a:ext>
            </a:extLst>
          </p:cNvPr>
          <p:cNvSpPr txBox="1"/>
          <p:nvPr/>
        </p:nvSpPr>
        <p:spPr>
          <a:xfrm>
            <a:off x="698500" y="5397500"/>
            <a:ext cx="1028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Resume el total del conjunto mostrado.</a:t>
            </a:r>
          </a:p>
        </p:txBody>
      </p:sp>
    </p:spTree>
    <p:extLst>
      <p:ext uri="{BB962C8B-B14F-4D97-AF65-F5344CB8AC3E}">
        <p14:creationId xmlns:p14="http://schemas.microsoft.com/office/powerpoint/2010/main" val="298477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14D1C-0E7D-4FAE-8BE6-4E1D3A6151F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10A83-4DD7-409E-95EB-CA47C5CC0CB5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10E8C-494C-4FCA-AE46-C33ABAD0243C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CONFIGURACIÓN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99B30-5BE4-47E1-944C-AECBF824C65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AF6ECAF-2CB7-430D-97A6-8707846F60A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08057-0593-406B-B8E5-E67C5E19E5CD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CDB20-888F-41EE-A1BB-04769061C59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17. Administrar catálogos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A78CD-2085-4536-9174-1E6E4B913077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selectores de los reportes se alimentan de estos valores.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ADDBBE-DE24-4B3E-92D5-59C284E97C86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358A26-6699-4E75-8471-964C41961A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41DA0C-D76E-4348-9C75-66D51C5627C5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C6815-545B-413A-BBE2-37847F8EF780}"/>
              </a:ext>
            </a:extLst>
          </p:cNvPr>
          <p:cNvSpPr txBox="1"/>
          <p:nvPr/>
        </p:nvSpPr>
        <p:spPr>
          <a:xfrm>
            <a:off x="711200" y="1841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Family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4DFA47-D54C-4931-A99E-B8223D917771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6C8A2-8FBA-4F55-8013-CC95C43DABB9}"/>
              </a:ext>
            </a:extLst>
          </p:cNvPr>
          <p:cNvSpPr txBox="1"/>
          <p:nvPr/>
        </p:nvSpPr>
        <p:spPr>
          <a:xfrm>
            <a:off x="711200" y="25400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Top Issue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543092-F9C1-48A8-9811-14211A3C4044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B5B80-9522-4BA3-BAC6-4B471E7F17D6}"/>
              </a:ext>
            </a:extLst>
          </p:cNvPr>
          <p:cNvSpPr txBox="1"/>
          <p:nvPr/>
        </p:nvSpPr>
        <p:spPr>
          <a:xfrm>
            <a:off x="711200" y="3238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Category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C31593-2E29-4591-8A2E-666A37BEE853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668DA-AB22-495E-9643-BC99F9EBDA7F}"/>
              </a:ext>
            </a:extLst>
          </p:cNvPr>
          <p:cNvSpPr txBox="1"/>
          <p:nvPr/>
        </p:nvSpPr>
        <p:spPr>
          <a:xfrm>
            <a:off x="711200" y="39370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Major Part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226DC9-D975-417C-A3AF-71E58FD6763E}"/>
              </a:ext>
            </a:extLst>
          </p:cNvPr>
          <p:cNvSpPr/>
          <p:nvPr/>
        </p:nvSpPr>
        <p:spPr>
          <a:xfrm>
            <a:off x="482600" y="4686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EEAC03-CDD0-4006-B1AD-9A541181EE19}"/>
              </a:ext>
            </a:extLst>
          </p:cNvPr>
          <p:cNvSpPr txBox="1"/>
          <p:nvPr/>
        </p:nvSpPr>
        <p:spPr>
          <a:xfrm>
            <a:off x="711200" y="4635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Failure Factor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CEB284-9A34-4BEB-B798-9EE81C65FFB5}"/>
              </a:ext>
            </a:extLst>
          </p:cNvPr>
          <p:cNvSpPr txBox="1"/>
          <p:nvPr/>
        </p:nvSpPr>
        <p:spPr>
          <a:xfrm>
            <a:off x="533400" y="5397500"/>
            <a:ext cx="228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1E5799"/>
                </a:solidFill>
                <a:latin typeface="Aptos"/>
              </a:rPr>
              <a:t>Acciones disponibles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ABE1C-A622-430D-BEB7-B502995BE68C}"/>
              </a:ext>
            </a:extLst>
          </p:cNvPr>
          <p:cNvSpPr txBox="1"/>
          <p:nvPr/>
        </p:nvSpPr>
        <p:spPr>
          <a:xfrm>
            <a:off x="533400" y="57277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Agregar · Buscar · Editar · Desactivar · Eliminar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3CDCAA-727B-4CD5-93BD-E41045C57EF4}"/>
              </a:ext>
            </a:extLst>
          </p:cNvPr>
          <p:cNvSpPr/>
          <p:nvPr/>
        </p:nvSpPr>
        <p:spPr>
          <a:xfrm>
            <a:off x="5651500" y="2336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6A458-7217-4DD9-90AA-617676055062}"/>
              </a:ext>
            </a:extLst>
          </p:cNvPr>
          <p:cNvSpPr txBox="1"/>
          <p:nvPr/>
        </p:nvSpPr>
        <p:spPr>
          <a:xfrm>
            <a:off x="5664200" y="2387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0BD111-613B-48E9-94AE-5FC172054155}"/>
              </a:ext>
            </a:extLst>
          </p:cNvPr>
          <p:cNvSpPr txBox="1"/>
          <p:nvPr/>
        </p:nvSpPr>
        <p:spPr>
          <a:xfrm>
            <a:off x="6057900" y="23368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Nuevo valor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40DD64-A4F7-40CA-A8A9-303D7FA628BC}"/>
              </a:ext>
            </a:extLst>
          </p:cNvPr>
          <p:cNvSpPr/>
          <p:nvPr/>
        </p:nvSpPr>
        <p:spPr>
          <a:xfrm>
            <a:off x="3835400" y="27432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EA1AA6-0433-4E1B-B4CB-8066DF2028D3}"/>
              </a:ext>
            </a:extLst>
          </p:cNvPr>
          <p:cNvSpPr txBox="1"/>
          <p:nvPr/>
        </p:nvSpPr>
        <p:spPr>
          <a:xfrm>
            <a:off x="3848100" y="27940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620733-EBEB-40AA-AF06-CEB80E07D442}"/>
              </a:ext>
            </a:extLst>
          </p:cNvPr>
          <p:cNvSpPr txBox="1"/>
          <p:nvPr/>
        </p:nvSpPr>
        <p:spPr>
          <a:xfrm>
            <a:off x="4241800" y="2743200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Buscar</a:t>
            </a:r>
          </a:p>
        </p:txBody>
      </p:sp>
    </p:spTree>
    <p:extLst>
      <p:ext uri="{BB962C8B-B14F-4D97-AF65-F5344CB8AC3E}">
        <p14:creationId xmlns:p14="http://schemas.microsoft.com/office/powerpoint/2010/main" val="4291943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F4C2F-240F-4876-9253-8892AC56261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179F-AB8B-4D19-A6A9-F9DCB5F6DE2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89E40-6593-44A0-B31B-3503FEF715B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CONFIGURACIÓN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A6BA83-433B-4889-B8EC-346259F1421E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41C080C-DDEF-4CB0-B7F7-67BE622EE66B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E7C40-FFB3-40BD-9352-63E87FACF02D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72EFA-ED44-43A8-8FAC-FF3A525D042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18. Administrar usuarios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465BC-7FE4-4892-ACEC-832159E5DF60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Disponible únicamente para el rol Admin.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E3F4E-18D6-448F-9F83-3B18949BD905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0AE903-3027-418D-B022-5C35D20CC0D1}"/>
              </a:ext>
            </a:extLst>
          </p:cNvPr>
          <p:cNvSpPr txBox="1"/>
          <p:nvPr/>
        </p:nvSpPr>
        <p:spPr>
          <a:xfrm>
            <a:off x="711200" y="18415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Agregar usuarios autorizados.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337E08-23DD-451B-ABF0-04B180ECDF3B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16955-F667-4D90-8DB7-948000F9EF9A}"/>
              </a:ext>
            </a:extLst>
          </p:cNvPr>
          <p:cNvSpPr txBox="1"/>
          <p:nvPr/>
        </p:nvSpPr>
        <p:spPr>
          <a:xfrm>
            <a:off x="711200" y="25400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Asignar Admin, User o Viewer.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D64D5D-56E9-4DBE-A7F9-BB23DB7C1C5E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6F7D84-DEEB-40A2-97C4-8329357B662C}"/>
              </a:ext>
            </a:extLst>
          </p:cNvPr>
          <p:cNvSpPr txBox="1"/>
          <p:nvPr/>
        </p:nvSpPr>
        <p:spPr>
          <a:xfrm>
            <a:off x="711200" y="32385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Activar, editar o eliminar cuentas.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DE4A98-ABD4-462F-AF60-C331A18EEC0B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0EF2D-5705-44AB-884C-D00E3A000CDD}"/>
              </a:ext>
            </a:extLst>
          </p:cNvPr>
          <p:cNvSpPr txBox="1"/>
          <p:nvPr/>
        </p:nvSpPr>
        <p:spPr>
          <a:xfrm>
            <a:off x="711200" y="3937000"/>
            <a:ext cx="266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cuenta propia no puede desactivarse por accidente.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12471B-F0FA-402F-A39E-4F07E33DE085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D158B8-FBE4-400A-AB0D-4A0963504F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92FB289-8B1E-411E-BBD5-13A62A978EE1}"/>
              </a:ext>
            </a:extLst>
          </p:cNvPr>
          <p:cNvSpPr/>
          <p:nvPr/>
        </p:nvSpPr>
        <p:spPr>
          <a:xfrm>
            <a:off x="9982200" y="18796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E8FB08-F481-4336-A1CF-2F6443D9C79F}"/>
              </a:ext>
            </a:extLst>
          </p:cNvPr>
          <p:cNvSpPr txBox="1"/>
          <p:nvPr/>
        </p:nvSpPr>
        <p:spPr>
          <a:xfrm>
            <a:off x="9994900" y="19304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869259-DC81-4211-88F5-8C90748309DD}"/>
              </a:ext>
            </a:extLst>
          </p:cNvPr>
          <p:cNvSpPr txBox="1"/>
          <p:nvPr/>
        </p:nvSpPr>
        <p:spPr>
          <a:xfrm>
            <a:off x="10388600" y="18796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Agregar usuario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3F8D8A-A5D1-4E4C-9AEC-ACAADB6AC634}"/>
              </a:ext>
            </a:extLst>
          </p:cNvPr>
          <p:cNvSpPr/>
          <p:nvPr/>
        </p:nvSpPr>
        <p:spPr>
          <a:xfrm>
            <a:off x="3606800" y="26416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2E1D49-1BA8-41B6-B305-FA4C8AD64788}"/>
              </a:ext>
            </a:extLst>
          </p:cNvPr>
          <p:cNvSpPr txBox="1"/>
          <p:nvPr/>
        </p:nvSpPr>
        <p:spPr>
          <a:xfrm>
            <a:off x="3619500" y="26924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17BC5-FD90-49BC-BDE6-C83081ED334A}"/>
              </a:ext>
            </a:extLst>
          </p:cNvPr>
          <p:cNvSpPr txBox="1"/>
          <p:nvPr/>
        </p:nvSpPr>
        <p:spPr>
          <a:xfrm>
            <a:off x="4013200" y="26416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Buscar correo</a:t>
            </a:r>
          </a:p>
        </p:txBody>
      </p:sp>
    </p:spTree>
    <p:extLst>
      <p:ext uri="{BB962C8B-B14F-4D97-AF65-F5344CB8AC3E}">
        <p14:creationId xmlns:p14="http://schemas.microsoft.com/office/powerpoint/2010/main" val="3563007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D08EAE-3FFE-46EC-8519-1F7BCBEAFF4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40838-FFE8-42BA-AA00-6E32D0FE679C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1DBFA-EF09-492C-8F4D-445777ABE9F1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ARCHIVOS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6D5B0-C655-4D46-93EE-1D5269009EA6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0BC9555-EFFA-484B-ADA4-7E3009680CF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049C2-46F6-4AB7-9085-47310979B689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283A7-09D8-4015-98DD-A22BF41DCE2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19. Descargar Excel e imágenes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0B73B-0E6F-450E-9054-D87514DCC91E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exportación respeta el conjunto filtrado de reportes.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4FA10D-50E5-46F1-ADD8-43ED04871256}"/>
              </a:ext>
            </a:extLst>
          </p:cNvPr>
          <p:cNvSpPr/>
          <p:nvPr/>
        </p:nvSpPr>
        <p:spPr>
          <a:xfrm>
            <a:off x="635000" y="19685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733DE-8CE2-44BA-BD93-1E470ECF08E7}"/>
              </a:ext>
            </a:extLst>
          </p:cNvPr>
          <p:cNvSpPr txBox="1"/>
          <p:nvPr/>
        </p:nvSpPr>
        <p:spPr>
          <a:xfrm>
            <a:off x="952500" y="2286000"/>
            <a:ext cx="3810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900" b="1">
                <a:solidFill>
                  <a:srgbClr val="1E5799"/>
                </a:solidFill>
                <a:latin typeface="Aptos"/>
              </a:rPr>
              <a:t>Descargar Excel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91848-B97F-4A83-95EA-0591BDDD9E21}"/>
              </a:ext>
            </a:extLst>
          </p:cNvPr>
          <p:cNvSpPr txBox="1"/>
          <p:nvPr/>
        </p:nvSpPr>
        <p:spPr>
          <a:xfrm>
            <a:off x="952500" y="2921000"/>
            <a:ext cx="4064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• Incluye los datos visibles.
• Fail picture y Evidence pueden contener varias imágenes.
• Todas las imágenes del arreglo se insertan en la exportación.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B105B9-AC44-4FDE-9622-F56FFA9898CA}"/>
              </a:ext>
            </a:extLst>
          </p:cNvPr>
          <p:cNvSpPr/>
          <p:nvPr/>
        </p:nvSpPr>
        <p:spPr>
          <a:xfrm>
            <a:off x="6604000" y="19685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F9772A-9CB7-4B3F-9894-F73DE22F148E}"/>
              </a:ext>
            </a:extLst>
          </p:cNvPr>
          <p:cNvSpPr txBox="1"/>
          <p:nvPr/>
        </p:nvSpPr>
        <p:spPr>
          <a:xfrm>
            <a:off x="6921500" y="2286000"/>
            <a:ext cx="3810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900" b="1">
                <a:solidFill>
                  <a:srgbClr val="1E5799"/>
                </a:solidFill>
                <a:latin typeface="Aptos"/>
              </a:rPr>
              <a:t>Carrusel de imágenes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E2F69-8D13-4EF9-8D66-CD51E1423032}"/>
              </a:ext>
            </a:extLst>
          </p:cNvPr>
          <p:cNvSpPr txBox="1"/>
          <p:nvPr/>
        </p:nvSpPr>
        <p:spPr>
          <a:xfrm>
            <a:off x="6921500" y="2921000"/>
            <a:ext cx="4064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• Flechas izquierda y derecha.
• Contador de posición: 1/10, 2/10…
• Opción de eliminar en edición.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4E0E2-E9E5-4236-AD7B-3D290C6ADB06}"/>
              </a:ext>
            </a:extLst>
          </p:cNvPr>
          <p:cNvSpPr txBox="1"/>
          <p:nvPr/>
        </p:nvSpPr>
        <p:spPr>
          <a:xfrm>
            <a:off x="635000" y="5334000"/>
            <a:ext cx="1092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C8243A"/>
                </a:solidFill>
                <a:latin typeface="Aptos"/>
              </a:rPr>
              <a:t>La descarga está deshabilitada para Viewer.</a:t>
            </a:r>
          </a:p>
        </p:txBody>
      </p:sp>
    </p:spTree>
    <p:extLst>
      <p:ext uri="{BB962C8B-B14F-4D97-AF65-F5344CB8AC3E}">
        <p14:creationId xmlns:p14="http://schemas.microsoft.com/office/powerpoint/2010/main" val="618965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7BBD1-E55F-46E4-A7C4-149AD6E3441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6F60E-000B-41AB-80F2-F03E19D0F31C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490DC-C87F-4588-A7D4-4477C8F0629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PRODUCTIVIDAD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4B39F-9E28-4B80-B163-929DF64D6C2D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82DC331D-0393-49CE-8216-B28A527FE42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FBA46-D6BB-4802-8C86-9B39481C1FE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8D07B-754D-483E-BC55-F52EB48C3260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20. Atajos de teclado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31383-228C-4674-918D-AC27D376C379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Funcionan sin mostrar etiquetas visuales en la interfaz.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33F9CF-1F95-4EAB-8353-3D0A6AD5D98E}"/>
              </a:ext>
            </a:extLst>
          </p:cNvPr>
          <p:cNvSpPr/>
          <p:nvPr/>
        </p:nvSpPr>
        <p:spPr>
          <a:xfrm>
            <a:off x="698500" y="1905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D6CCC4-61D9-484C-979E-203F7C63FF81}"/>
              </a:ext>
            </a:extLst>
          </p:cNvPr>
          <p:cNvSpPr/>
          <p:nvPr/>
        </p:nvSpPr>
        <p:spPr>
          <a:xfrm>
            <a:off x="927100" y="2120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E50AA-599A-461D-9A89-D0E28B40D2B8}"/>
              </a:ext>
            </a:extLst>
          </p:cNvPr>
          <p:cNvSpPr txBox="1"/>
          <p:nvPr/>
        </p:nvSpPr>
        <p:spPr>
          <a:xfrm>
            <a:off x="952500" y="2260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D12B4-76A9-474D-8429-63DE29C0720D}"/>
              </a:ext>
            </a:extLst>
          </p:cNvPr>
          <p:cNvSpPr txBox="1"/>
          <p:nvPr/>
        </p:nvSpPr>
        <p:spPr>
          <a:xfrm>
            <a:off x="2578100" y="2171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Enfocar la búsqueda de Reportes.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844BCB-749C-4088-AB51-E33789957D39}"/>
              </a:ext>
            </a:extLst>
          </p:cNvPr>
          <p:cNvSpPr/>
          <p:nvPr/>
        </p:nvSpPr>
        <p:spPr>
          <a:xfrm>
            <a:off x="6477000" y="1905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1E41F-6342-484D-A076-688175E1C395}"/>
              </a:ext>
            </a:extLst>
          </p:cNvPr>
          <p:cNvSpPr/>
          <p:nvPr/>
        </p:nvSpPr>
        <p:spPr>
          <a:xfrm>
            <a:off x="6705600" y="2120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8D9CE0-698F-44E3-BCCC-51AEAE6E0EFC}"/>
              </a:ext>
            </a:extLst>
          </p:cNvPr>
          <p:cNvSpPr txBox="1"/>
          <p:nvPr/>
        </p:nvSpPr>
        <p:spPr>
          <a:xfrm>
            <a:off x="6731000" y="2260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A0617-246D-4545-82C3-0D792D8B7A29}"/>
              </a:ext>
            </a:extLst>
          </p:cNvPr>
          <p:cNvSpPr txBox="1"/>
          <p:nvPr/>
        </p:nvSpPr>
        <p:spPr>
          <a:xfrm>
            <a:off x="8356600" y="2171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Guardar el formulario o la semana activa.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DCDB46-6D1F-4C58-A515-F977B6D5650F}"/>
              </a:ext>
            </a:extLst>
          </p:cNvPr>
          <p:cNvSpPr/>
          <p:nvPr/>
        </p:nvSpPr>
        <p:spPr>
          <a:xfrm>
            <a:off x="698500" y="32385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C4676C-4622-4594-8941-C4B6E5852084}"/>
              </a:ext>
            </a:extLst>
          </p:cNvPr>
          <p:cNvSpPr/>
          <p:nvPr/>
        </p:nvSpPr>
        <p:spPr>
          <a:xfrm>
            <a:off x="927100" y="34544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85CA7-0A77-4D46-9DA1-690C14CACC9C}"/>
              </a:ext>
            </a:extLst>
          </p:cNvPr>
          <p:cNvSpPr txBox="1"/>
          <p:nvPr/>
        </p:nvSpPr>
        <p:spPr>
          <a:xfrm>
            <a:off x="952500" y="35941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5A706A-A1C3-4C24-B99C-0147B1E43A50}"/>
              </a:ext>
            </a:extLst>
          </p:cNvPr>
          <p:cNvSpPr txBox="1"/>
          <p:nvPr/>
        </p:nvSpPr>
        <p:spPr>
          <a:xfrm>
            <a:off x="2578100" y="35052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Mostrar u ocultar Detalles.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EA11AD-DCAF-4EDA-A493-E4004C7F1BF0}"/>
              </a:ext>
            </a:extLst>
          </p:cNvPr>
          <p:cNvSpPr/>
          <p:nvPr/>
        </p:nvSpPr>
        <p:spPr>
          <a:xfrm>
            <a:off x="6477000" y="32385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C25E71-C1CF-4034-92E5-73DC40386E03}"/>
              </a:ext>
            </a:extLst>
          </p:cNvPr>
          <p:cNvSpPr/>
          <p:nvPr/>
        </p:nvSpPr>
        <p:spPr>
          <a:xfrm>
            <a:off x="6705600" y="34544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784F-2151-4985-9CF5-794CBD890FEB}"/>
              </a:ext>
            </a:extLst>
          </p:cNvPr>
          <p:cNvSpPr txBox="1"/>
          <p:nvPr/>
        </p:nvSpPr>
        <p:spPr>
          <a:xfrm>
            <a:off x="6731000" y="35941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ESC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FF67C7-1B1A-4823-A337-DBC4C3D08F08}"/>
              </a:ext>
            </a:extLst>
          </p:cNvPr>
          <p:cNvSpPr txBox="1"/>
          <p:nvPr/>
        </p:nvSpPr>
        <p:spPr>
          <a:xfrm>
            <a:off x="8356600" y="35052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200">
                <a:solidFill>
                  <a:srgbClr val="172033"/>
                </a:solidFill>
                <a:latin typeface="Aptos"/>
              </a:rPr>
              <a:t>Cerrar menús/modales o regresar.</a:t>
            </a:r>
            <a:endParaRPr lang="es-MX" sz="12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B6E033-1BC9-400F-A367-7CB86B0024A3}"/>
              </a:ext>
            </a:extLst>
          </p:cNvPr>
          <p:cNvSpPr/>
          <p:nvPr/>
        </p:nvSpPr>
        <p:spPr>
          <a:xfrm>
            <a:off x="698500" y="4572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FA778C-40A5-4288-B2C2-42C470D90548}"/>
              </a:ext>
            </a:extLst>
          </p:cNvPr>
          <p:cNvSpPr/>
          <p:nvPr/>
        </p:nvSpPr>
        <p:spPr>
          <a:xfrm>
            <a:off x="927100" y="4787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6DB747-6B75-49A8-8101-4273FE0DB0B6}"/>
              </a:ext>
            </a:extLst>
          </p:cNvPr>
          <p:cNvSpPr txBox="1"/>
          <p:nvPr/>
        </p:nvSpPr>
        <p:spPr>
          <a:xfrm>
            <a:off x="952500" y="4927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←  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075B1-F505-4FB9-A081-EEAD8AD01818}"/>
              </a:ext>
            </a:extLst>
          </p:cNvPr>
          <p:cNvSpPr txBox="1"/>
          <p:nvPr/>
        </p:nvSpPr>
        <p:spPr>
          <a:xfrm>
            <a:off x="2578100" y="4838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Moverse por el carrusel de imágenes.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F7BE074-7BF3-4A13-8C84-3ACFE0A51B9E}"/>
              </a:ext>
            </a:extLst>
          </p:cNvPr>
          <p:cNvSpPr/>
          <p:nvPr/>
        </p:nvSpPr>
        <p:spPr>
          <a:xfrm>
            <a:off x="6477000" y="4572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7D94D56-C324-4F21-82B9-0C8DE82B4B21}"/>
              </a:ext>
            </a:extLst>
          </p:cNvPr>
          <p:cNvSpPr/>
          <p:nvPr/>
        </p:nvSpPr>
        <p:spPr>
          <a:xfrm>
            <a:off x="6705600" y="4787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1C4E4-95BE-4E34-9509-19179D1C0182}"/>
              </a:ext>
            </a:extLst>
          </p:cNvPr>
          <p:cNvSpPr txBox="1"/>
          <p:nvPr/>
        </p:nvSpPr>
        <p:spPr>
          <a:xfrm>
            <a:off x="6731000" y="4927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Enter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5959A5-904F-4E9C-96CF-1302887955D0}"/>
              </a:ext>
            </a:extLst>
          </p:cNvPr>
          <p:cNvSpPr txBox="1"/>
          <p:nvPr/>
        </p:nvSpPr>
        <p:spPr>
          <a:xfrm>
            <a:off x="8356600" y="4838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Confirmar una alerta bloqueante.</a:t>
            </a:r>
          </a:p>
        </p:txBody>
      </p:sp>
    </p:spTree>
    <p:extLst>
      <p:ext uri="{BB962C8B-B14F-4D97-AF65-F5344CB8AC3E}">
        <p14:creationId xmlns:p14="http://schemas.microsoft.com/office/powerpoint/2010/main" val="3818357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B7A65D-6401-4BAC-B642-D0612F1AFF7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2447B-5BBE-43EB-93DA-DF13A9990F2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F219F-A158-4FC2-9AA1-D0376F34D62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AYUDA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CF2C4-7C16-4792-ADB1-4A07B76F15A9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C14A735-1C0B-4761-B5F9-6E418A713F15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6ECD-4CC4-4A7F-A4AE-E0944BD189B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3A6E6-E3E7-4BD3-8A0F-A9E3D49052C7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21. Alertas, confirmaciones y errores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FFF97-76B4-4436-BC71-0450B18372A1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feedback se muestra centrado en la parte superior.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BDE0E8-38C6-47BA-9DEA-42B209F22C4A}"/>
              </a:ext>
            </a:extLst>
          </p:cNvPr>
          <p:cNvSpPr/>
          <p:nvPr/>
        </p:nvSpPr>
        <p:spPr>
          <a:xfrm>
            <a:off x="63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B3D1B-7E10-4AD1-B6DB-2A60143F6157}"/>
              </a:ext>
            </a:extLst>
          </p:cNvPr>
          <p:cNvSpPr/>
          <p:nvPr/>
        </p:nvSpPr>
        <p:spPr>
          <a:xfrm>
            <a:off x="635000" y="2032000"/>
            <a:ext cx="101600" cy="1397000"/>
          </a:xfrm>
          <a:prstGeom prst="rect">
            <a:avLst/>
          </a:prstGeom>
          <a:solidFill>
            <a:srgbClr val="168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A856E-2F35-4CE1-9825-D804932E568D}"/>
              </a:ext>
            </a:extLst>
          </p:cNvPr>
          <p:cNvSpPr txBox="1"/>
          <p:nvPr/>
        </p:nvSpPr>
        <p:spPr>
          <a:xfrm>
            <a:off x="99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Éxito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E5A35-9D12-40EA-84A0-464C94897172}"/>
              </a:ext>
            </a:extLst>
          </p:cNvPr>
          <p:cNvSpPr txBox="1"/>
          <p:nvPr/>
        </p:nvSpPr>
        <p:spPr>
          <a:xfrm>
            <a:off x="99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operación se completó.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7CF17E-5243-4946-A621-E16BCD874391}"/>
              </a:ext>
            </a:extLst>
          </p:cNvPr>
          <p:cNvSpPr/>
          <p:nvPr/>
        </p:nvSpPr>
        <p:spPr>
          <a:xfrm>
            <a:off x="444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542AFB-31EF-48F0-AD2C-2513CDC10AAA}"/>
              </a:ext>
            </a:extLst>
          </p:cNvPr>
          <p:cNvSpPr/>
          <p:nvPr/>
        </p:nvSpPr>
        <p:spPr>
          <a:xfrm>
            <a:off x="4445000" y="2032000"/>
            <a:ext cx="101600" cy="1397000"/>
          </a:xfrm>
          <a:prstGeom prst="rect">
            <a:avLst/>
          </a:prstGeom>
          <a:solidFill>
            <a:srgbClr val="F3A7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62B23-478E-4AD8-A540-D48D77ABF544}"/>
              </a:ext>
            </a:extLst>
          </p:cNvPr>
          <p:cNvSpPr txBox="1"/>
          <p:nvPr/>
        </p:nvSpPr>
        <p:spPr>
          <a:xfrm>
            <a:off x="480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F3A712"/>
                </a:solidFill>
                <a:latin typeface="Aptos"/>
              </a:rPr>
              <a:t>Advertencia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446F-789E-4AC1-AF40-77B4B0F34E20}"/>
              </a:ext>
            </a:extLst>
          </p:cNvPr>
          <p:cNvSpPr txBox="1"/>
          <p:nvPr/>
        </p:nvSpPr>
        <p:spPr>
          <a:xfrm>
            <a:off x="480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Revisa datos o exclusiones.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BB02C3-569D-43DB-998F-607D3B090E74}"/>
              </a:ext>
            </a:extLst>
          </p:cNvPr>
          <p:cNvSpPr/>
          <p:nvPr/>
        </p:nvSpPr>
        <p:spPr>
          <a:xfrm>
            <a:off x="825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33FD9E-F64E-4E83-A30D-EF458147410C}"/>
              </a:ext>
            </a:extLst>
          </p:cNvPr>
          <p:cNvSpPr/>
          <p:nvPr/>
        </p:nvSpPr>
        <p:spPr>
          <a:xfrm>
            <a:off x="8255000" y="2032000"/>
            <a:ext cx="101600" cy="1397000"/>
          </a:xfrm>
          <a:prstGeom prst="rect">
            <a:avLst/>
          </a:prstGeom>
          <a:solidFill>
            <a:srgbClr val="C824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50B10-265C-4B65-8FF0-844D42AB276E}"/>
              </a:ext>
            </a:extLst>
          </p:cNvPr>
          <p:cNvSpPr txBox="1"/>
          <p:nvPr/>
        </p:nvSpPr>
        <p:spPr>
          <a:xfrm>
            <a:off x="861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C8243A"/>
                </a:solidFill>
                <a:latin typeface="Aptos"/>
              </a:rPr>
              <a:t>Error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EE492-62F1-4790-8381-4830CBEEE17A}"/>
              </a:ext>
            </a:extLst>
          </p:cNvPr>
          <p:cNvSpPr txBox="1"/>
          <p:nvPr/>
        </p:nvSpPr>
        <p:spPr>
          <a:xfrm>
            <a:off x="861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operación no se guardó.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90E437-6C98-4277-878C-EF587D2F3848}"/>
              </a:ext>
            </a:extLst>
          </p:cNvPr>
          <p:cNvSpPr/>
          <p:nvPr/>
        </p:nvSpPr>
        <p:spPr>
          <a:xfrm>
            <a:off x="635000" y="3873500"/>
            <a:ext cx="10922000" cy="152400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ABCDA-FD08-4467-BE04-D941CEC44A5E}"/>
              </a:ext>
            </a:extLst>
          </p:cNvPr>
          <p:cNvSpPr txBox="1"/>
          <p:nvPr/>
        </p:nvSpPr>
        <p:spPr>
          <a:xfrm>
            <a:off x="914400" y="41656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Confirmaciones críticas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CB3FA4-E62C-4552-A6D5-4DE4A5328F51}"/>
              </a:ext>
            </a:extLst>
          </p:cNvPr>
          <p:cNvSpPr txBox="1"/>
          <p:nvPr/>
        </p:nvSpPr>
        <p:spPr>
          <a:xfrm>
            <a:off x="914400" y="46355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Bloquean temporalmente navegación y clics. Usa Cancelar o ESC para cerrar; confirma únicamente después de revisar el registro afectado.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88028F-AAB1-4C26-913A-D767D11890E5}"/>
              </a:ext>
            </a:extLst>
          </p:cNvPr>
          <p:cNvSpPr txBox="1"/>
          <p:nvPr/>
        </p:nvSpPr>
        <p:spPr>
          <a:xfrm>
            <a:off x="635000" y="5791200"/>
            <a:ext cx="1092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1E5799"/>
                </a:solidFill>
                <a:latin typeface="Aptos"/>
              </a:rPr>
              <a:t>Si un error persiste: captura el mensaje y contacta Ramos.Rey@inventec.com.</a:t>
            </a:r>
          </a:p>
        </p:txBody>
      </p:sp>
    </p:spTree>
    <p:extLst>
      <p:ext uri="{BB962C8B-B14F-4D97-AF65-F5344CB8AC3E}">
        <p14:creationId xmlns:p14="http://schemas.microsoft.com/office/powerpoint/2010/main" val="3066878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84155-C975-40F1-B95C-8D555DFE0ED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A984A-5C75-473B-BD35-0E81461FEF0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A0319-E99F-45DA-9D57-4BC5A8C1FB8D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CIERRE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F029F-227D-4CA2-95CE-2EB527155C7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49C9254-DEEC-43B6-95B6-31027276694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B757E-81F0-4C7F-A7D6-2FBDAC1AC298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488CC-AE7B-4189-8E3A-9A81BD509531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Guía rápida de operación diaria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C4F22-D73E-4EAA-8648-0365DD6E494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Cinco pasos para trabajar con seguridad.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1272B-7F49-4B8E-B425-3C667F6B1496}"/>
              </a:ext>
            </a:extLst>
          </p:cNvPr>
          <p:cNvSpPr/>
          <p:nvPr/>
        </p:nvSpPr>
        <p:spPr>
          <a:xfrm>
            <a:off x="1016000" y="18415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4D0FD-FD81-4CC0-8A79-57F47272C428}"/>
              </a:ext>
            </a:extLst>
          </p:cNvPr>
          <p:cNvSpPr txBox="1"/>
          <p:nvPr/>
        </p:nvSpPr>
        <p:spPr>
          <a:xfrm>
            <a:off x="1333500" y="20066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1  Verifica fecha y filtros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BDF78B-9CA3-47EF-B95D-D87DEA193433}"/>
              </a:ext>
            </a:extLst>
          </p:cNvPr>
          <p:cNvSpPr/>
          <p:nvPr/>
        </p:nvSpPr>
        <p:spPr>
          <a:xfrm>
            <a:off x="1016000" y="2628900"/>
            <a:ext cx="10160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72480-0A92-494C-BC44-2FA0861E42B7}"/>
              </a:ext>
            </a:extLst>
          </p:cNvPr>
          <p:cNvSpPr txBox="1"/>
          <p:nvPr/>
        </p:nvSpPr>
        <p:spPr>
          <a:xfrm>
            <a:off x="1333500" y="27940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2  Importa y revisa la vista previa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7C0E1F-8883-4E19-8EDF-E66E98ED253F}"/>
              </a:ext>
            </a:extLst>
          </p:cNvPr>
          <p:cNvSpPr/>
          <p:nvPr/>
        </p:nvSpPr>
        <p:spPr>
          <a:xfrm>
            <a:off x="1016000" y="34163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11686-9DB7-487D-9B6B-11B9ACEE7290}"/>
              </a:ext>
            </a:extLst>
          </p:cNvPr>
          <p:cNvSpPr txBox="1"/>
          <p:nvPr/>
        </p:nvSpPr>
        <p:spPr>
          <a:xfrm>
            <a:off x="1333500" y="35814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3  Ajusta exclusiones y categorías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699940-1E2B-4E81-A236-3445637246AA}"/>
              </a:ext>
            </a:extLst>
          </p:cNvPr>
          <p:cNvSpPr/>
          <p:nvPr/>
        </p:nvSpPr>
        <p:spPr>
          <a:xfrm>
            <a:off x="1016000" y="4203700"/>
            <a:ext cx="10160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84778-EA7F-4A48-A2E7-D9E2B49A7070}"/>
              </a:ext>
            </a:extLst>
          </p:cNvPr>
          <p:cNvSpPr txBox="1"/>
          <p:nvPr/>
        </p:nvSpPr>
        <p:spPr>
          <a:xfrm>
            <a:off x="1333500" y="43688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4  Confirma y valida Overall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54A6ED-8EFB-480B-B6DC-3CB32B20826C}"/>
              </a:ext>
            </a:extLst>
          </p:cNvPr>
          <p:cNvSpPr/>
          <p:nvPr/>
        </p:nvSpPr>
        <p:spPr>
          <a:xfrm>
            <a:off x="1016000" y="49911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BBDC9-5B64-4C19-8CDA-66BA28D3EF4D}"/>
              </a:ext>
            </a:extLst>
          </p:cNvPr>
          <p:cNvSpPr txBox="1"/>
          <p:nvPr/>
        </p:nvSpPr>
        <p:spPr>
          <a:xfrm>
            <a:off x="1333500" y="51562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5  Completa resultados, acciones e imágenes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F21C7-A7A8-4612-A493-328C69EB5D09}"/>
              </a:ext>
            </a:extLst>
          </p:cNvPr>
          <p:cNvSpPr txBox="1"/>
          <p:nvPr/>
        </p:nvSpPr>
        <p:spPr>
          <a:xfrm>
            <a:off x="1016000" y="5943600"/>
            <a:ext cx="1016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it-IT" sz="1300" b="1">
                <a:solidFill>
                  <a:srgbClr val="1E5799"/>
                </a:solidFill>
                <a:latin typeface="Aptos"/>
              </a:rPr>
              <a:t>Soporte: Ramos.Rey@inventec.com</a:t>
            </a:r>
            <a:endParaRPr lang="es-MX" sz="1300" b="1">
              <a:solidFill>
                <a:srgbClr val="1E579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39269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Microsoft Office PowerPoint</Application>
  <PresentationFormat>Custom</PresentationFormat>
  <Paragraphs>387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Ramos.Rey IMP</dc:creator>
  <cp:lastModifiedBy>Ramos.Rey IMP</cp:lastModifiedBy>
  <cp:revision>1</cp:revision>
  <dcterms:created xsi:type="dcterms:W3CDTF">2026-07-28T17:12:37Z</dcterms:created>
  <dcterms:modified xsi:type="dcterms:W3CDTF">2026-07-28T17:12:37Z</dcterms:modified>
</cp:coreProperties>
</file>