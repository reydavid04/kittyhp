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257" r:id="rId4"/>
    <p:sldId id="286" r:id="rId5"/>
    <p:sldId id="258" r:id="rId6"/>
    <p:sldId id="259" r:id="rId7"/>
    <p:sldId id="260" r:id="rId8"/>
    <p:sldId id="261" r:id="rId9"/>
    <p:sldId id="285" r:id="rId10"/>
    <p:sldId id="262" r:id="rId11"/>
    <p:sldId id="280" r:id="rId12"/>
    <p:sldId id="263" r:id="rId13"/>
    <p:sldId id="264" r:id="rId14"/>
    <p:sldId id="284" r:id="rId15"/>
    <p:sldId id="265" r:id="rId16"/>
    <p:sldId id="283" r:id="rId17"/>
    <p:sldId id="266" r:id="rId18"/>
    <p:sldId id="267" r:id="rId19"/>
    <p:sldId id="268" r:id="rId20"/>
    <p:sldId id="282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81" r:id="rId32"/>
    <p:sldId id="279" r:id="rId3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1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7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B9B3-1F68-4849-B30B-DF46538D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77B71-0BB6-4D09-BF29-98FCBB63D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58A6E-4D53-4D40-A388-F7D123E89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168F7-F55B-4CB1-BAD5-CB60F7CC7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F3AFA-A5AC-4C3F-87E8-26E92B23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916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DEC48-DFFA-4F86-9C9F-64F75A63E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05D2C-EB8E-4405-BD05-3B63F185E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0071D-5544-4057-A859-D34FD19A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5C9EA-B3A5-42CF-9440-F83564320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3986D-5F67-4DFB-8049-4E1BB5599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830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F838-E4C6-43E1-9C0B-FEE1202A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4A677-92AC-48E9-BEAE-0A2C0D893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8E499-87F5-4A3E-A8E0-C59DE2007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18B6D-1E6E-4BEF-92D8-8058BA68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4C19A-61C5-4B7C-989D-FE61A651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352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D5665-ED27-4775-8CF7-3064CCD3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17E1F-4982-4055-B6F2-A0C887507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7F193-D189-4179-82BF-A42B6793B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09898-7DD9-4D76-A0A1-907EEA0AE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2DFD9-442F-45C7-8514-6F1444812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045C3-A8A3-470F-BDD0-FDC0C07DB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9973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043BE-C342-4BD6-8D41-B3E106E7E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DBBA2-C4A6-44FD-882F-FB735B882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E69CE-FE1A-40AC-A2D6-6FA6C7B79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295CEE-7052-4B3D-B888-9E3934255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C2006C-BB9D-4E15-A6A2-9A4F33C178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AB2E9F-D3BC-46AB-B4D7-4D65618AC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1A24B4-C676-4B2E-B988-BD4D60A39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F0DA75-C4A2-427C-A31E-16E35ED8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351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56E23-B2A9-4C05-98D7-75E511C49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7943C8-55FD-4676-B4A9-B7B6335C1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ED7238-B898-4FA1-8FE9-DC60641A2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6435A-718C-4FA0-9957-7E60C033B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8769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7586A0-A51C-452B-AF4B-3D97D7F27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0FA70B-E74F-4AB3-98E8-162CE4B77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E6026-2B37-4142-A2D7-92FEB573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2385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96732-3AB2-40BD-B526-0BC0A2A7F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435C8-9806-4FD1-B0C4-639A43D1D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212A4-74CA-4F74-B2BA-D75FC7126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B68E4-5B8F-4772-B988-4F9C917D1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5BD92-97D2-4FBE-8C86-225B9974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0C83D-4654-4F85-B345-5FCDB54E0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2364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172C-05E1-431E-9910-E93919243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8733B4-AACA-42A1-BF11-E81A2FAF9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C0BC53-280D-4C19-8BEA-780C9AEBF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544CF-79BA-4C35-86E4-81E8510AF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342E8-8386-4DF0-89E5-69AAADDC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B66F4-4112-49C8-B97B-CE6AFA1F3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9672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AF2FB-B763-4286-A7DF-1D5174706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8CAB8-9340-4A76-B11D-39E026D26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05C06-3832-4A80-BFBB-B11BA75F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B3F30-AFE1-4309-92A1-BCDA3448A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CB810-68AA-49F1-8691-8B1EC2AA0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4111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564F4E-AF2C-44EC-B0BE-5A3F59EBD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7006E7-3364-4253-B236-80487B946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E2677-8BCD-4209-A889-5D255EC32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7FEBB-C15E-41D5-A798-0C119256E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19D9A-FA5C-4FD3-B475-E1F079CA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5886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2ECB86-2835-4AEC-8E64-9F352D05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02C7F-41A9-4032-A53F-A78486590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826CB-CB3F-443E-956D-49DB5C205B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CED95-EB2D-4E33-A3DE-EF2B872E3E4F}" type="datetimeFigureOut">
              <a:rPr lang="es-MX" smtClean="0"/>
              <a:t>28/07/2026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FDAA9-4C3D-4856-A78D-9927E6DDC8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CD670-673A-4957-9233-543114D700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B8326-BC7F-4206-B12F-AF8B76E72A93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4465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29.xml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slide" Target="slide24.xml"/><Relationship Id="rId5" Type="http://schemas.openxmlformats.org/officeDocument/2006/relationships/slide" Target="slide14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mailto:Ramos.Rey@inventec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2A163D-5438-4B1F-BD4C-515903D6E28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0BA04-FC83-4D69-BAD7-399F862605EF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E603B-EBAB-4055-B1B6-9317320DF7C1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MANUAL DE USUARIO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D5C11B-7F0B-4283-8DC5-3260179B370A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B1C00205-63FB-44C3-834C-81E6F6D6D88C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53868D-254A-492A-8A86-B4B6B4956497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7F1BB7-51F3-4990-A1C7-93427B3A4941}"/>
              </a:ext>
            </a:extLst>
          </p:cNvPr>
          <p:cNvSpPr/>
          <p:nvPr/>
        </p:nvSpPr>
        <p:spPr>
          <a:xfrm>
            <a:off x="0" y="101600"/>
            <a:ext cx="12192000" cy="63754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B8987C-9493-4CAE-8C2B-AA79A5033930}"/>
              </a:ext>
            </a:extLst>
          </p:cNvPr>
          <p:cNvSpPr/>
          <p:nvPr/>
        </p:nvSpPr>
        <p:spPr>
          <a:xfrm>
            <a:off x="-1" y="101600"/>
            <a:ext cx="12192001" cy="6375400"/>
          </a:xfrm>
          <a:prstGeom prst="rect">
            <a:avLst/>
          </a:prstGeom>
          <a:solidFill>
            <a:srgbClr val="0B2F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B81DEE-7C67-4D90-8144-768488872B2C}"/>
              </a:ext>
            </a:extLst>
          </p:cNvPr>
          <p:cNvSpPr txBox="1"/>
          <p:nvPr/>
        </p:nvSpPr>
        <p:spPr>
          <a:xfrm>
            <a:off x="685800" y="965200"/>
            <a:ext cx="2921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3200" b="1">
                <a:solidFill>
                  <a:srgbClr val="FFFFFF"/>
                </a:solidFill>
                <a:latin typeface="Aptos"/>
              </a:rPr>
              <a:t>KittyHP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3A2259-85AE-4D9C-B409-6CC43F39E1B1}"/>
              </a:ext>
            </a:extLst>
          </p:cNvPr>
          <p:cNvSpPr txBox="1"/>
          <p:nvPr/>
        </p:nvSpPr>
        <p:spPr>
          <a:xfrm>
            <a:off x="685800" y="1968500"/>
            <a:ext cx="3111500" cy="4770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3100" b="1">
                <a:solidFill>
                  <a:srgbClr val="FFFFFF"/>
                </a:solidFill>
                <a:latin typeface="Aptos"/>
              </a:rPr>
              <a:t>Manual de usuario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6305D2-D7B2-4BEE-9D92-57BA8E4455B3}"/>
              </a:ext>
            </a:extLst>
          </p:cNvPr>
          <p:cNvSpPr txBox="1"/>
          <p:nvPr/>
        </p:nvSpPr>
        <p:spPr>
          <a:xfrm>
            <a:off x="698500" y="3302000"/>
            <a:ext cx="2921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>
                <a:solidFill>
                  <a:srgbClr val="C8DBF2"/>
                </a:solidFill>
                <a:latin typeface="Aptos"/>
              </a:rPr>
              <a:t>Elaborado por Rey David Ramos Murillo</a:t>
            </a:r>
            <a:endParaRPr lang="es-MX" sz="1500" dirty="0">
              <a:solidFill>
                <a:srgbClr val="C8DBF2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F13C88-B517-4016-9A69-182597C7D824}"/>
              </a:ext>
            </a:extLst>
          </p:cNvPr>
          <p:cNvSpPr txBox="1"/>
          <p:nvPr/>
        </p:nvSpPr>
        <p:spPr>
          <a:xfrm>
            <a:off x="698500" y="5486400"/>
            <a:ext cx="2921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C8DBF2"/>
                </a:solidFill>
                <a:latin typeface="Aptos"/>
              </a:rPr>
              <a:t>Versión 2.0 · Julio 2026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B2A5B4-D0CB-4E38-9D4A-ED4384D53E42}"/>
              </a:ext>
            </a:extLst>
          </p:cNvPr>
          <p:cNvSpPr/>
          <p:nvPr/>
        </p:nvSpPr>
        <p:spPr>
          <a:xfrm>
            <a:off x="4889500" y="5105400"/>
            <a:ext cx="6413500" cy="78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6C6601-161F-4272-89B0-ADEED6DC68DD}"/>
              </a:ext>
            </a:extLst>
          </p:cNvPr>
          <p:cNvSpPr txBox="1"/>
          <p:nvPr/>
        </p:nvSpPr>
        <p:spPr>
          <a:xfrm>
            <a:off x="5207000" y="5308600"/>
            <a:ext cx="57785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b="1">
                <a:solidFill>
                  <a:srgbClr val="1E5799"/>
                </a:solidFill>
                <a:latin typeface="Aptos"/>
              </a:rPr>
              <a:t>Guía rápida, operativa y visual</a:t>
            </a:r>
          </a:p>
        </p:txBody>
      </p:sp>
    </p:spTree>
    <p:extLst>
      <p:ext uri="{BB962C8B-B14F-4D97-AF65-F5344CB8AC3E}">
        <p14:creationId xmlns:p14="http://schemas.microsoft.com/office/powerpoint/2010/main" val="1826368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BD11B9-03BA-4BBD-B7E3-E2F2CC9E5826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68A4EC-09D5-4539-A520-B25D7D9AE1BD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247C0-39F8-4F49-9AAE-C4F12ADF5473}"/>
              </a:ext>
            </a:extLst>
          </p:cNvPr>
          <p:cNvSpPr txBox="1"/>
          <p:nvPr/>
        </p:nvSpPr>
        <p:spPr>
          <a:xfrm>
            <a:off x="8763000" y="279400"/>
            <a:ext cx="298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CONTENIDO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CC925E-5572-4CDF-A41B-6B0961B6339F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56BA9F66-CD11-455B-8D0D-F4DAA33D1C86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55E2B-581C-4F5B-9F5E-603578DE5F94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543B23-46A7-495C-AB67-DF2C7C9CAE7A}"/>
              </a:ext>
            </a:extLst>
          </p:cNvPr>
          <p:cNvSpPr txBox="1"/>
          <p:nvPr/>
        </p:nvSpPr>
        <p:spPr>
          <a:xfrm>
            <a:off x="431800" y="6604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Contenido del manual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07FFC2-E3BD-4752-8B3C-79E72A04BCEA}"/>
              </a:ext>
            </a:extLst>
          </p:cNvPr>
          <p:cNvSpPr txBox="1"/>
          <p:nvPr/>
        </p:nvSpPr>
        <p:spPr>
          <a:xfrm>
            <a:off x="444500" y="1193800"/>
            <a:ext cx="1111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Selecciona una sección durante la presentación para ir directamente a ella.</a:t>
            </a:r>
          </a:p>
        </p:txBody>
      </p:sp>
      <p:sp>
        <p:nvSpPr>
          <p:cNvPr id="10" name="Rectangle: Rounded Corners 9">
            <a:hlinkClick r:id="rId3" action="ppaction://hlinksldjump"/>
            <a:extLst>
              <a:ext uri="{FF2B5EF4-FFF2-40B4-BE49-F238E27FC236}">
                <a16:creationId xmlns:a16="http://schemas.microsoft.com/office/drawing/2014/main" id="{8B36BC33-29FD-43E9-BD41-81E3D0D70EBD}"/>
              </a:ext>
            </a:extLst>
          </p:cNvPr>
          <p:cNvSpPr/>
          <p:nvPr/>
        </p:nvSpPr>
        <p:spPr>
          <a:xfrm>
            <a:off x="508000" y="1841500"/>
            <a:ext cx="3429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3F877F-B008-4741-A804-E9A85FF41CF9}"/>
              </a:ext>
            </a:extLst>
          </p:cNvPr>
          <p:cNvSpPr/>
          <p:nvPr/>
        </p:nvSpPr>
        <p:spPr>
          <a:xfrm>
            <a:off x="508000" y="1841500"/>
            <a:ext cx="3429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8B4F56-D27D-4230-86D9-482C9B2ED1BD}"/>
              </a:ext>
            </a:extLst>
          </p:cNvPr>
          <p:cNvSpPr txBox="1"/>
          <p:nvPr/>
        </p:nvSpPr>
        <p:spPr>
          <a:xfrm>
            <a:off x="762000" y="2171700"/>
            <a:ext cx="2857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400" b="1">
                <a:solidFill>
                  <a:srgbClr val="1E5799"/>
                </a:solidFill>
                <a:latin typeface="Aptos"/>
              </a:rPr>
              <a:t>ACCESO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FC90BF-6049-4B24-8CE2-6643B2799845}"/>
              </a:ext>
            </a:extLst>
          </p:cNvPr>
          <p:cNvSpPr txBox="1"/>
          <p:nvPr/>
        </p:nvSpPr>
        <p:spPr>
          <a:xfrm>
            <a:off x="762000" y="2603500"/>
            <a:ext cx="2857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Roles, inicio de sesión y recuperación.</a:t>
            </a:r>
          </a:p>
        </p:txBody>
      </p:sp>
      <p:sp>
        <p:nvSpPr>
          <p:cNvPr id="14" name="Rectangle: Rounded Corners 13">
            <a:hlinkClick r:id="rId4" action="ppaction://hlinksldjump"/>
            <a:extLst>
              <a:ext uri="{FF2B5EF4-FFF2-40B4-BE49-F238E27FC236}">
                <a16:creationId xmlns:a16="http://schemas.microsoft.com/office/drawing/2014/main" id="{CE6CB275-428F-4850-991A-D97CBE174B55}"/>
              </a:ext>
            </a:extLst>
          </p:cNvPr>
          <p:cNvSpPr/>
          <p:nvPr/>
        </p:nvSpPr>
        <p:spPr>
          <a:xfrm>
            <a:off x="4318000" y="1841500"/>
            <a:ext cx="3429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9E9931-B0DB-4B69-A487-1651D5D04F35}"/>
              </a:ext>
            </a:extLst>
          </p:cNvPr>
          <p:cNvSpPr/>
          <p:nvPr/>
        </p:nvSpPr>
        <p:spPr>
          <a:xfrm>
            <a:off x="4318000" y="1841500"/>
            <a:ext cx="3429000" cy="101600"/>
          </a:xfrm>
          <a:prstGeom prst="rect">
            <a:avLst/>
          </a:prstGeom>
          <a:solidFill>
            <a:srgbClr val="2563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CF66E1-778D-4449-97AE-3C9D2AF03F8E}"/>
              </a:ext>
            </a:extLst>
          </p:cNvPr>
          <p:cNvSpPr txBox="1"/>
          <p:nvPr/>
        </p:nvSpPr>
        <p:spPr>
          <a:xfrm>
            <a:off x="4572000" y="2171700"/>
            <a:ext cx="2857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400" b="1">
                <a:solidFill>
                  <a:srgbClr val="2563A8"/>
                </a:solidFill>
                <a:latin typeface="Aptos"/>
              </a:rPr>
              <a:t>REPORTES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BC59C6-EA15-4DE2-BC5E-9B563B133DAD}"/>
              </a:ext>
            </a:extLst>
          </p:cNvPr>
          <p:cNvSpPr txBox="1"/>
          <p:nvPr/>
        </p:nvSpPr>
        <p:spPr>
          <a:xfrm>
            <a:off x="4572000" y="2603500"/>
            <a:ext cx="2857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Consultar, crear, editar, imágenes y Return.</a:t>
            </a:r>
          </a:p>
        </p:txBody>
      </p:sp>
      <p:sp>
        <p:nvSpPr>
          <p:cNvPr id="18" name="Rectangle: Rounded Corners 17">
            <a:hlinkClick r:id="rId5" action="ppaction://hlinksldjump"/>
            <a:extLst>
              <a:ext uri="{FF2B5EF4-FFF2-40B4-BE49-F238E27FC236}">
                <a16:creationId xmlns:a16="http://schemas.microsoft.com/office/drawing/2014/main" id="{EC8F52F7-FD5D-477E-8223-002EBEA2AFD7}"/>
              </a:ext>
            </a:extLst>
          </p:cNvPr>
          <p:cNvSpPr/>
          <p:nvPr/>
        </p:nvSpPr>
        <p:spPr>
          <a:xfrm>
            <a:off x="8128000" y="1841500"/>
            <a:ext cx="3429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939C0B-E867-420A-B937-02B0693BDF34}"/>
              </a:ext>
            </a:extLst>
          </p:cNvPr>
          <p:cNvSpPr/>
          <p:nvPr/>
        </p:nvSpPr>
        <p:spPr>
          <a:xfrm>
            <a:off x="8128000" y="1841500"/>
            <a:ext cx="3429000" cy="101600"/>
          </a:xfrm>
          <a:prstGeom prst="rect">
            <a:avLst/>
          </a:prstGeom>
          <a:solidFill>
            <a:srgbClr val="1683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58D539-081D-4695-B0A2-0A70622A8F3B}"/>
              </a:ext>
            </a:extLst>
          </p:cNvPr>
          <p:cNvSpPr txBox="1"/>
          <p:nvPr/>
        </p:nvSpPr>
        <p:spPr>
          <a:xfrm>
            <a:off x="8382000" y="2171700"/>
            <a:ext cx="2857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400" b="1">
                <a:solidFill>
                  <a:srgbClr val="16836B"/>
                </a:solidFill>
                <a:latin typeface="Aptos"/>
              </a:rPr>
              <a:t>IMPORTACIÓN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0945FB-FB6E-4D61-BEEE-C22BF3CEEC94}"/>
              </a:ext>
            </a:extLst>
          </p:cNvPr>
          <p:cNvSpPr txBox="1"/>
          <p:nvPr/>
        </p:nvSpPr>
        <p:spPr>
          <a:xfrm>
            <a:off x="8382000" y="2603500"/>
            <a:ext cx="2857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Excel, vista previa, exclusiones y Pareto.</a:t>
            </a:r>
          </a:p>
        </p:txBody>
      </p:sp>
      <p:sp>
        <p:nvSpPr>
          <p:cNvPr id="22" name="Rectangle: Rounded Corners 21">
            <a:hlinkClick r:id="rId6" action="ppaction://hlinksldjump"/>
            <a:extLst>
              <a:ext uri="{FF2B5EF4-FFF2-40B4-BE49-F238E27FC236}">
                <a16:creationId xmlns:a16="http://schemas.microsoft.com/office/drawing/2014/main" id="{FDEE0658-D1AF-46F2-AEF3-14C83331D5F0}"/>
              </a:ext>
            </a:extLst>
          </p:cNvPr>
          <p:cNvSpPr/>
          <p:nvPr/>
        </p:nvSpPr>
        <p:spPr>
          <a:xfrm>
            <a:off x="508000" y="3937000"/>
            <a:ext cx="3429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21F009-2FBA-4354-8085-00E4AE0535D7}"/>
              </a:ext>
            </a:extLst>
          </p:cNvPr>
          <p:cNvSpPr/>
          <p:nvPr/>
        </p:nvSpPr>
        <p:spPr>
          <a:xfrm>
            <a:off x="508000" y="3937000"/>
            <a:ext cx="3429000" cy="101600"/>
          </a:xfrm>
          <a:prstGeom prst="rect">
            <a:avLst/>
          </a:prstGeom>
          <a:solidFill>
            <a:srgbClr val="0B2F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8624ED-313E-48C7-95BC-04107D65F47C}"/>
              </a:ext>
            </a:extLst>
          </p:cNvPr>
          <p:cNvSpPr txBox="1"/>
          <p:nvPr/>
        </p:nvSpPr>
        <p:spPr>
          <a:xfrm>
            <a:off x="762000" y="4267200"/>
            <a:ext cx="2857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OVERALL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C1FA73-75A5-41C5-84BD-DA1319510F8A}"/>
              </a:ext>
            </a:extLst>
          </p:cNvPr>
          <p:cNvSpPr txBox="1"/>
          <p:nvPr/>
        </p:nvSpPr>
        <p:spPr>
          <a:xfrm>
            <a:off x="762000" y="4699000"/>
            <a:ext cx="2857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Cálculos, familias y vistas semanales.</a:t>
            </a:r>
          </a:p>
        </p:txBody>
      </p:sp>
      <p:sp>
        <p:nvSpPr>
          <p:cNvPr id="26" name="Rectangle: Rounded Corners 25">
            <a:hlinkClick r:id="rId3" action="ppaction://hlinksldjump"/>
            <a:extLst>
              <a:ext uri="{FF2B5EF4-FFF2-40B4-BE49-F238E27FC236}">
                <a16:creationId xmlns:a16="http://schemas.microsoft.com/office/drawing/2014/main" id="{8708CC1E-BF01-473B-BD6C-02134DACFEFF}"/>
              </a:ext>
            </a:extLst>
          </p:cNvPr>
          <p:cNvSpPr/>
          <p:nvPr/>
        </p:nvSpPr>
        <p:spPr>
          <a:xfrm>
            <a:off x="4318000" y="3937000"/>
            <a:ext cx="3429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0D3008-A671-4F32-89EC-23C29671546D}"/>
              </a:ext>
            </a:extLst>
          </p:cNvPr>
          <p:cNvSpPr/>
          <p:nvPr/>
        </p:nvSpPr>
        <p:spPr>
          <a:xfrm>
            <a:off x="4318000" y="3937000"/>
            <a:ext cx="3429000" cy="101600"/>
          </a:xfrm>
          <a:prstGeom prst="rect">
            <a:avLst/>
          </a:prstGeom>
          <a:solidFill>
            <a:srgbClr val="F3A71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954284-DD3A-4D6F-A8E0-ADEC2728917B}"/>
              </a:ext>
            </a:extLst>
          </p:cNvPr>
          <p:cNvSpPr txBox="1"/>
          <p:nvPr/>
        </p:nvSpPr>
        <p:spPr>
          <a:xfrm>
            <a:off x="4572000" y="4267200"/>
            <a:ext cx="2857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400" b="1">
                <a:solidFill>
                  <a:srgbClr val="F3A712"/>
                </a:solidFill>
                <a:latin typeface="Aptos"/>
              </a:rPr>
              <a:t>CONFIGURACIÓN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15C02E-48F8-4EC1-A45E-A16649EB3BB2}"/>
              </a:ext>
            </a:extLst>
          </p:cNvPr>
          <p:cNvSpPr txBox="1"/>
          <p:nvPr/>
        </p:nvSpPr>
        <p:spPr>
          <a:xfrm>
            <a:off x="4572000" y="4699000"/>
            <a:ext cx="2857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Catálogos y administración de usuarios.</a:t>
            </a:r>
          </a:p>
        </p:txBody>
      </p:sp>
      <p:sp>
        <p:nvSpPr>
          <p:cNvPr id="30" name="Rectangle: Rounded Corners 29">
            <a:hlinkClick r:id="rId7" action="ppaction://hlinksldjump"/>
            <a:extLst>
              <a:ext uri="{FF2B5EF4-FFF2-40B4-BE49-F238E27FC236}">
                <a16:creationId xmlns:a16="http://schemas.microsoft.com/office/drawing/2014/main" id="{EA4D110F-0805-4E84-98C5-49DAE8B4EA5B}"/>
              </a:ext>
            </a:extLst>
          </p:cNvPr>
          <p:cNvSpPr/>
          <p:nvPr/>
        </p:nvSpPr>
        <p:spPr>
          <a:xfrm>
            <a:off x="8128000" y="3937000"/>
            <a:ext cx="3429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86B7520-01AF-4BB8-85CE-4570BE722FB7}"/>
              </a:ext>
            </a:extLst>
          </p:cNvPr>
          <p:cNvSpPr/>
          <p:nvPr/>
        </p:nvSpPr>
        <p:spPr>
          <a:xfrm>
            <a:off x="8128000" y="3937000"/>
            <a:ext cx="3429000" cy="101600"/>
          </a:xfrm>
          <a:prstGeom prst="rect">
            <a:avLst/>
          </a:prstGeom>
          <a:solidFill>
            <a:srgbClr val="C824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3D197B-9CC7-4DAA-BFB5-70B170F32233}"/>
              </a:ext>
            </a:extLst>
          </p:cNvPr>
          <p:cNvSpPr txBox="1"/>
          <p:nvPr/>
        </p:nvSpPr>
        <p:spPr>
          <a:xfrm>
            <a:off x="8382000" y="4267200"/>
            <a:ext cx="2857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400" b="1">
                <a:solidFill>
                  <a:srgbClr val="C8243A"/>
                </a:solidFill>
                <a:latin typeface="Aptos"/>
              </a:rPr>
              <a:t>AYUDA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076E0E-638D-4CD4-B4A8-2E91EF153C91}"/>
              </a:ext>
            </a:extLst>
          </p:cNvPr>
          <p:cNvSpPr txBox="1"/>
          <p:nvPr/>
        </p:nvSpPr>
        <p:spPr>
          <a:xfrm>
            <a:off x="8382000" y="4699000"/>
            <a:ext cx="2857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Atajos, alertas, diagnóstico y soporte.</a:t>
            </a:r>
          </a:p>
        </p:txBody>
      </p:sp>
    </p:spTree>
    <p:extLst>
      <p:ext uri="{BB962C8B-B14F-4D97-AF65-F5344CB8AC3E}">
        <p14:creationId xmlns:p14="http://schemas.microsoft.com/office/powerpoint/2010/main" val="4283599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97DB38-6866-406A-B548-BFC2FB4886D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B9418-37CF-4F3F-AFAB-64501D9FC57B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75EFE-9000-43B2-A0BD-5F258DAFF0EB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INTRODUCCIÓN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9F7C9A-6618-4F68-9F9F-5895154BBF8A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8A05DAE9-4BC3-4607-86E7-DCBC930986D4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CBC22E-7070-4208-A7C8-33E1FDA13D38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8EE862-4B38-46E3-8DD5-87F042285BCB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¿Qué cubre este manual?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04036-5980-4B2D-96BE-35A33A966903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Un recorrido completo por el uso diario del sistema.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52F695-D432-4228-AD92-2A2183BF2E71}"/>
              </a:ext>
            </a:extLst>
          </p:cNvPr>
          <p:cNvSpPr/>
          <p:nvPr/>
        </p:nvSpPr>
        <p:spPr>
          <a:xfrm>
            <a:off x="508000" y="1968500"/>
            <a:ext cx="34290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9ED7AA-CD1B-4EF2-A90C-495FE101A26A}"/>
              </a:ext>
            </a:extLst>
          </p:cNvPr>
          <p:cNvSpPr/>
          <p:nvPr/>
        </p:nvSpPr>
        <p:spPr>
          <a:xfrm>
            <a:off x="508000" y="1968500"/>
            <a:ext cx="3429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D9D7FF-1B18-49E5-BCB0-49EB9C649A31}"/>
              </a:ext>
            </a:extLst>
          </p:cNvPr>
          <p:cNvSpPr txBox="1"/>
          <p:nvPr/>
        </p:nvSpPr>
        <p:spPr>
          <a:xfrm>
            <a:off x="787400" y="2349500"/>
            <a:ext cx="2857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ADMIN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564956-171B-416B-B574-DA834EF00624}"/>
              </a:ext>
            </a:extLst>
          </p:cNvPr>
          <p:cNvSpPr txBox="1"/>
          <p:nvPr/>
        </p:nvSpPr>
        <p:spPr>
          <a:xfrm>
            <a:off x="787400" y="2921000"/>
            <a:ext cx="2857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>
                <a:solidFill>
                  <a:srgbClr val="172033"/>
                </a:solidFill>
                <a:latin typeface="Aptos"/>
              </a:rPr>
              <a:t>Acceso completo.
Usuarios, catálogos, reportes y Overall.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C1C2C61-7D0A-48D5-9EE5-0DA48B3BB7BA}"/>
              </a:ext>
            </a:extLst>
          </p:cNvPr>
          <p:cNvSpPr/>
          <p:nvPr/>
        </p:nvSpPr>
        <p:spPr>
          <a:xfrm>
            <a:off x="4318000" y="1968500"/>
            <a:ext cx="34290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C8759D-5585-411E-9B58-E2831AD49F84}"/>
              </a:ext>
            </a:extLst>
          </p:cNvPr>
          <p:cNvSpPr/>
          <p:nvPr/>
        </p:nvSpPr>
        <p:spPr>
          <a:xfrm>
            <a:off x="4318000" y="1968500"/>
            <a:ext cx="3429000" cy="101600"/>
          </a:xfrm>
          <a:prstGeom prst="rect">
            <a:avLst/>
          </a:prstGeom>
          <a:solidFill>
            <a:srgbClr val="1683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737817-8D8C-4BDA-B790-755413C92B81}"/>
              </a:ext>
            </a:extLst>
          </p:cNvPr>
          <p:cNvSpPr txBox="1"/>
          <p:nvPr/>
        </p:nvSpPr>
        <p:spPr>
          <a:xfrm>
            <a:off x="4597400" y="2349500"/>
            <a:ext cx="2857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6836B"/>
                </a:solidFill>
                <a:latin typeface="Aptos"/>
              </a:rPr>
              <a:t>USER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709CEF-4914-46B5-A1FF-5F5AF81E175B}"/>
              </a:ext>
            </a:extLst>
          </p:cNvPr>
          <p:cNvSpPr txBox="1"/>
          <p:nvPr/>
        </p:nvSpPr>
        <p:spPr>
          <a:xfrm>
            <a:off x="4597400" y="2921000"/>
            <a:ext cx="2857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>
                <a:solidFill>
                  <a:srgbClr val="172033"/>
                </a:solidFill>
                <a:latin typeface="Aptos"/>
              </a:rPr>
              <a:t>Opera reportes y Overall.
No administra usuarios.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DD810E2-3188-4E6C-9EA6-57DF11AB0FA3}"/>
              </a:ext>
            </a:extLst>
          </p:cNvPr>
          <p:cNvSpPr/>
          <p:nvPr/>
        </p:nvSpPr>
        <p:spPr>
          <a:xfrm>
            <a:off x="8128000" y="1968500"/>
            <a:ext cx="3429000" cy="234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CBCB21-E4FF-4E8D-88FE-03AE22A24FE3}"/>
              </a:ext>
            </a:extLst>
          </p:cNvPr>
          <p:cNvSpPr/>
          <p:nvPr/>
        </p:nvSpPr>
        <p:spPr>
          <a:xfrm>
            <a:off x="8128000" y="1968500"/>
            <a:ext cx="3429000" cy="101600"/>
          </a:xfrm>
          <a:prstGeom prst="rect">
            <a:avLst/>
          </a:prstGeom>
          <a:solidFill>
            <a:srgbClr val="5D6B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09A581-A82A-4899-B305-53982B01A76D}"/>
              </a:ext>
            </a:extLst>
          </p:cNvPr>
          <p:cNvSpPr txBox="1"/>
          <p:nvPr/>
        </p:nvSpPr>
        <p:spPr>
          <a:xfrm>
            <a:off x="8407400" y="2349500"/>
            <a:ext cx="2857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5D6B82"/>
                </a:solidFill>
                <a:latin typeface="Aptos"/>
              </a:rPr>
              <a:t>VIEWER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DF1F49-0034-4A6A-BBCA-7E0339DDD3FC}"/>
              </a:ext>
            </a:extLst>
          </p:cNvPr>
          <p:cNvSpPr txBox="1"/>
          <p:nvPr/>
        </p:nvSpPr>
        <p:spPr>
          <a:xfrm>
            <a:off x="8407400" y="2921000"/>
            <a:ext cx="28575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>
                <a:solidFill>
                  <a:srgbClr val="172033"/>
                </a:solidFill>
                <a:latin typeface="Aptos"/>
              </a:rPr>
              <a:t>Consulta información.
Sin edición ni descarga de Excel.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3E5D0A-0B31-45EE-B2A7-93290D769DBF}"/>
              </a:ext>
            </a:extLst>
          </p:cNvPr>
          <p:cNvSpPr/>
          <p:nvPr/>
        </p:nvSpPr>
        <p:spPr>
          <a:xfrm>
            <a:off x="508000" y="4699000"/>
            <a:ext cx="11049000" cy="1206500"/>
          </a:xfrm>
          <a:prstGeom prst="roundRect">
            <a:avLst/>
          </a:prstGeom>
          <a:solidFill>
            <a:srgbClr val="E8F1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A3E178-5FFE-49CE-8636-71F5BB090B5E}"/>
              </a:ext>
            </a:extLst>
          </p:cNvPr>
          <p:cNvSpPr txBox="1"/>
          <p:nvPr/>
        </p:nvSpPr>
        <p:spPr>
          <a:xfrm>
            <a:off x="762000" y="4927600"/>
            <a:ext cx="228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1E5799"/>
                </a:solidFill>
                <a:latin typeface="Aptos"/>
              </a:rPr>
              <a:t>Flujo recomendado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33FEC3-9BC0-4922-9E11-03C1034002C4}"/>
              </a:ext>
            </a:extLst>
          </p:cNvPr>
          <p:cNvSpPr txBox="1"/>
          <p:nvPr/>
        </p:nvSpPr>
        <p:spPr>
          <a:xfrm>
            <a:off x="762000" y="5334000"/>
            <a:ext cx="1041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600" b="1" dirty="0">
                <a:solidFill>
                  <a:srgbClr val="0B2F5B"/>
                </a:solidFill>
                <a:latin typeface="Aptos"/>
              </a:rPr>
              <a:t>Ingresar →  importar o crear  →  revisar Reportes  →  validar </a:t>
            </a:r>
            <a:r>
              <a:rPr lang="es-MX" sz="1600" b="1" dirty="0" err="1">
                <a:solidFill>
                  <a:srgbClr val="0B2F5B"/>
                </a:solidFill>
                <a:latin typeface="Aptos"/>
              </a:rPr>
              <a:t>Overall</a:t>
            </a:r>
            <a:r>
              <a:rPr lang="es-MX" sz="1600" b="1" dirty="0">
                <a:solidFill>
                  <a:srgbClr val="0B2F5B"/>
                </a:solidFill>
                <a:latin typeface="Aptos"/>
              </a:rPr>
              <a:t>  →  completar evidencia</a:t>
            </a:r>
          </a:p>
        </p:txBody>
      </p:sp>
    </p:spTree>
    <p:extLst>
      <p:ext uri="{BB962C8B-B14F-4D97-AF65-F5344CB8AC3E}">
        <p14:creationId xmlns:p14="http://schemas.microsoft.com/office/powerpoint/2010/main" val="4265742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096E36-62D7-48E0-8E5B-760B82E461A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425A49-EE44-4A85-B23C-BD3C610676BD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B3E84-816D-40C3-8CDE-E6AFAFA632B1}"/>
              </a:ext>
            </a:extLst>
          </p:cNvPr>
          <p:cNvSpPr txBox="1"/>
          <p:nvPr/>
        </p:nvSpPr>
        <p:spPr>
          <a:xfrm>
            <a:off x="8763000" y="279400"/>
            <a:ext cx="298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INTRODUCCIÓN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6DD0F0-47A6-4E5A-8E9F-876CEE426B1A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70AB355A-086B-4B0E-9A24-68E2CC90A7F5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CDED3-F599-4959-8864-1F3E2FA54FBF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C6AF40-9BAE-441A-BAC1-36D96E7569CB}"/>
              </a:ext>
            </a:extLst>
          </p:cNvPr>
          <p:cNvSpPr txBox="1"/>
          <p:nvPr/>
        </p:nvSpPr>
        <p:spPr>
          <a:xfrm>
            <a:off x="431800" y="6604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Permisos por rol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38D238-680A-49D2-B1D9-4307C2B1BBD2}"/>
              </a:ext>
            </a:extLst>
          </p:cNvPr>
          <p:cNvSpPr txBox="1"/>
          <p:nvPr/>
        </p:nvSpPr>
        <p:spPr>
          <a:xfrm>
            <a:off x="444500" y="1193800"/>
            <a:ext cx="1111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Usa esta matriz para saber qué acciones están disponibles para cada cuenta.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8AF2F7-D2E2-41E2-84C4-5CAADA8B4F4F}"/>
              </a:ext>
            </a:extLst>
          </p:cNvPr>
          <p:cNvSpPr/>
          <p:nvPr/>
        </p:nvSpPr>
        <p:spPr>
          <a:xfrm>
            <a:off x="508000" y="1803400"/>
            <a:ext cx="4699000" cy="482600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3801EE-0068-40BA-A680-83AD34695354}"/>
              </a:ext>
            </a:extLst>
          </p:cNvPr>
          <p:cNvSpPr txBox="1"/>
          <p:nvPr/>
        </p:nvSpPr>
        <p:spPr>
          <a:xfrm>
            <a:off x="635000" y="1936750"/>
            <a:ext cx="444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 b="1">
                <a:solidFill>
                  <a:srgbClr val="FFFFFF"/>
                </a:solidFill>
                <a:latin typeface="Aptos"/>
              </a:rPr>
              <a:t>Acción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4DAE70-2FAA-477A-857F-B6C7FDF4CC3A}"/>
              </a:ext>
            </a:extLst>
          </p:cNvPr>
          <p:cNvSpPr/>
          <p:nvPr/>
        </p:nvSpPr>
        <p:spPr>
          <a:xfrm>
            <a:off x="5207000" y="1803400"/>
            <a:ext cx="2159000" cy="482600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730577-E7A7-4CB3-870A-2F611EFBB142}"/>
              </a:ext>
            </a:extLst>
          </p:cNvPr>
          <p:cNvSpPr txBox="1"/>
          <p:nvPr/>
        </p:nvSpPr>
        <p:spPr>
          <a:xfrm>
            <a:off x="5207000" y="193675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8A3022-3E95-4A26-BBFC-78F6FB42BE0C}"/>
              </a:ext>
            </a:extLst>
          </p:cNvPr>
          <p:cNvSpPr/>
          <p:nvPr/>
        </p:nvSpPr>
        <p:spPr>
          <a:xfrm>
            <a:off x="7366000" y="1803400"/>
            <a:ext cx="2159000" cy="482600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8A0F5C-BB30-4F0E-8F69-F14C3D6FD167}"/>
              </a:ext>
            </a:extLst>
          </p:cNvPr>
          <p:cNvSpPr txBox="1"/>
          <p:nvPr/>
        </p:nvSpPr>
        <p:spPr>
          <a:xfrm>
            <a:off x="7366000" y="193675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FEB95F-ABEA-40A2-B8EA-15F3FC83B09D}"/>
              </a:ext>
            </a:extLst>
          </p:cNvPr>
          <p:cNvSpPr/>
          <p:nvPr/>
        </p:nvSpPr>
        <p:spPr>
          <a:xfrm>
            <a:off x="9525000" y="1803400"/>
            <a:ext cx="2159000" cy="482600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EA9860-DB2F-4CE7-81B7-23A13E9BE69D}"/>
              </a:ext>
            </a:extLst>
          </p:cNvPr>
          <p:cNvSpPr txBox="1"/>
          <p:nvPr/>
        </p:nvSpPr>
        <p:spPr>
          <a:xfrm>
            <a:off x="9525000" y="1936750"/>
            <a:ext cx="215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Aptos"/>
              </a:rPr>
              <a:t>Viewer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3555BF-54DC-41EB-9C22-E6A96DC14875}"/>
              </a:ext>
            </a:extLst>
          </p:cNvPr>
          <p:cNvSpPr/>
          <p:nvPr/>
        </p:nvSpPr>
        <p:spPr>
          <a:xfrm>
            <a:off x="508000" y="2286000"/>
            <a:ext cx="469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833A0C-DB89-4079-A399-D4C4B791E166}"/>
              </a:ext>
            </a:extLst>
          </p:cNvPr>
          <p:cNvSpPr txBox="1"/>
          <p:nvPr/>
        </p:nvSpPr>
        <p:spPr>
          <a:xfrm>
            <a:off x="635000" y="2428875"/>
            <a:ext cx="444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50">
                <a:solidFill>
                  <a:srgbClr val="172033"/>
                </a:solidFill>
                <a:latin typeface="Aptos"/>
              </a:rPr>
              <a:t>Ver reportes y Overall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2CAFBA-3F8E-4706-AA5A-C5466D8E53AC}"/>
              </a:ext>
            </a:extLst>
          </p:cNvPr>
          <p:cNvSpPr/>
          <p:nvPr/>
        </p:nvSpPr>
        <p:spPr>
          <a:xfrm>
            <a:off x="5207000" y="22860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041845-BB08-4681-9C44-CADA76700701}"/>
              </a:ext>
            </a:extLst>
          </p:cNvPr>
          <p:cNvSpPr txBox="1"/>
          <p:nvPr/>
        </p:nvSpPr>
        <p:spPr>
          <a:xfrm>
            <a:off x="5207000" y="24288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16836B"/>
                </a:solidFill>
                <a:latin typeface="Aptos"/>
              </a:rPr>
              <a:t>Sí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280401-4757-44E6-9168-51206B2B199E}"/>
              </a:ext>
            </a:extLst>
          </p:cNvPr>
          <p:cNvSpPr/>
          <p:nvPr/>
        </p:nvSpPr>
        <p:spPr>
          <a:xfrm>
            <a:off x="7366000" y="22860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269F92-0DF5-4BAF-BFFA-E0AA85F6D702}"/>
              </a:ext>
            </a:extLst>
          </p:cNvPr>
          <p:cNvSpPr txBox="1"/>
          <p:nvPr/>
        </p:nvSpPr>
        <p:spPr>
          <a:xfrm>
            <a:off x="7366000" y="24288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16836B"/>
                </a:solidFill>
                <a:latin typeface="Aptos"/>
              </a:rPr>
              <a:t>Sí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514DE6-3D46-4332-BC22-BF28D30E013B}"/>
              </a:ext>
            </a:extLst>
          </p:cNvPr>
          <p:cNvSpPr/>
          <p:nvPr/>
        </p:nvSpPr>
        <p:spPr>
          <a:xfrm>
            <a:off x="9525000" y="22860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8A6FCA-D796-49D8-9678-CA2D962CFE80}"/>
              </a:ext>
            </a:extLst>
          </p:cNvPr>
          <p:cNvSpPr txBox="1"/>
          <p:nvPr/>
        </p:nvSpPr>
        <p:spPr>
          <a:xfrm>
            <a:off x="9525000" y="24288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16836B"/>
                </a:solidFill>
                <a:latin typeface="Aptos"/>
              </a:rPr>
              <a:t>Sí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5BEF6E-D674-43E7-83E1-71CE53F68C62}"/>
              </a:ext>
            </a:extLst>
          </p:cNvPr>
          <p:cNvSpPr/>
          <p:nvPr/>
        </p:nvSpPr>
        <p:spPr>
          <a:xfrm>
            <a:off x="508000" y="2781300"/>
            <a:ext cx="469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CDB006-9F4F-4C21-B751-21B07AE03194}"/>
              </a:ext>
            </a:extLst>
          </p:cNvPr>
          <p:cNvSpPr txBox="1"/>
          <p:nvPr/>
        </p:nvSpPr>
        <p:spPr>
          <a:xfrm>
            <a:off x="635000" y="2924175"/>
            <a:ext cx="444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50">
                <a:solidFill>
                  <a:srgbClr val="172033"/>
                </a:solidFill>
                <a:latin typeface="Aptos"/>
              </a:rPr>
              <a:t>Crear, editar y eliminar reportes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509C03-BA6B-4F05-8421-C0BB26705CD6}"/>
              </a:ext>
            </a:extLst>
          </p:cNvPr>
          <p:cNvSpPr/>
          <p:nvPr/>
        </p:nvSpPr>
        <p:spPr>
          <a:xfrm>
            <a:off x="5207000" y="27813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BEAEEA-5551-4172-8836-08AC535702B0}"/>
              </a:ext>
            </a:extLst>
          </p:cNvPr>
          <p:cNvSpPr txBox="1"/>
          <p:nvPr/>
        </p:nvSpPr>
        <p:spPr>
          <a:xfrm>
            <a:off x="5207000" y="29241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16836B"/>
                </a:solidFill>
                <a:latin typeface="Aptos"/>
              </a:rPr>
              <a:t>Sí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9F8F04-DCF5-4DD5-A91E-03360F14A107}"/>
              </a:ext>
            </a:extLst>
          </p:cNvPr>
          <p:cNvSpPr/>
          <p:nvPr/>
        </p:nvSpPr>
        <p:spPr>
          <a:xfrm>
            <a:off x="7366000" y="27813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63CB55-F4E0-4BDD-AAB4-52796C78A019}"/>
              </a:ext>
            </a:extLst>
          </p:cNvPr>
          <p:cNvSpPr txBox="1"/>
          <p:nvPr/>
        </p:nvSpPr>
        <p:spPr>
          <a:xfrm>
            <a:off x="7366000" y="29241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16836B"/>
                </a:solidFill>
                <a:latin typeface="Aptos"/>
              </a:rPr>
              <a:t>Sí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EAD38A-2385-461E-BBFF-88EBAA5ECE11}"/>
              </a:ext>
            </a:extLst>
          </p:cNvPr>
          <p:cNvSpPr/>
          <p:nvPr/>
        </p:nvSpPr>
        <p:spPr>
          <a:xfrm>
            <a:off x="9525000" y="27813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F1025E-7989-4089-B5F1-A6A13ED423ED}"/>
              </a:ext>
            </a:extLst>
          </p:cNvPr>
          <p:cNvSpPr txBox="1"/>
          <p:nvPr/>
        </p:nvSpPr>
        <p:spPr>
          <a:xfrm>
            <a:off x="9525000" y="29241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5D6B82"/>
                </a:solidFill>
                <a:latin typeface="Aptos"/>
              </a:rPr>
              <a:t>No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CA13AD-34A5-4A21-B1C1-D6A0C91F8AD5}"/>
              </a:ext>
            </a:extLst>
          </p:cNvPr>
          <p:cNvSpPr/>
          <p:nvPr/>
        </p:nvSpPr>
        <p:spPr>
          <a:xfrm>
            <a:off x="508000" y="3276600"/>
            <a:ext cx="469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18CA94-624B-4A7E-8DE2-53C440CF21AB}"/>
              </a:ext>
            </a:extLst>
          </p:cNvPr>
          <p:cNvSpPr txBox="1"/>
          <p:nvPr/>
        </p:nvSpPr>
        <p:spPr>
          <a:xfrm>
            <a:off x="635000" y="3419475"/>
            <a:ext cx="444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50">
                <a:solidFill>
                  <a:srgbClr val="172033"/>
                </a:solidFill>
                <a:latin typeface="Aptos"/>
              </a:rPr>
              <a:t>Importar Excel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98BB14A-945C-4DFD-A8BD-35E82C79D482}"/>
              </a:ext>
            </a:extLst>
          </p:cNvPr>
          <p:cNvSpPr/>
          <p:nvPr/>
        </p:nvSpPr>
        <p:spPr>
          <a:xfrm>
            <a:off x="5207000" y="32766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CEFF38-2A8B-4DE0-BC76-BF3BF65FE806}"/>
              </a:ext>
            </a:extLst>
          </p:cNvPr>
          <p:cNvSpPr txBox="1"/>
          <p:nvPr/>
        </p:nvSpPr>
        <p:spPr>
          <a:xfrm>
            <a:off x="5207000" y="34194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16836B"/>
                </a:solidFill>
                <a:latin typeface="Aptos"/>
              </a:rPr>
              <a:t>Sí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9C30319-2D4E-4546-B138-5A3D95BBE594}"/>
              </a:ext>
            </a:extLst>
          </p:cNvPr>
          <p:cNvSpPr/>
          <p:nvPr/>
        </p:nvSpPr>
        <p:spPr>
          <a:xfrm>
            <a:off x="7366000" y="32766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221932-0064-4BB6-B55C-F10524AF44D3}"/>
              </a:ext>
            </a:extLst>
          </p:cNvPr>
          <p:cNvSpPr txBox="1"/>
          <p:nvPr/>
        </p:nvSpPr>
        <p:spPr>
          <a:xfrm>
            <a:off x="7366000" y="34194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16836B"/>
                </a:solidFill>
                <a:latin typeface="Aptos"/>
              </a:rPr>
              <a:t>Sí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8E2082-34F7-4DCE-8860-A8070E44CBD2}"/>
              </a:ext>
            </a:extLst>
          </p:cNvPr>
          <p:cNvSpPr/>
          <p:nvPr/>
        </p:nvSpPr>
        <p:spPr>
          <a:xfrm>
            <a:off x="9525000" y="32766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F56CDC-876B-42EF-909A-AE722D4B1886}"/>
              </a:ext>
            </a:extLst>
          </p:cNvPr>
          <p:cNvSpPr txBox="1"/>
          <p:nvPr/>
        </p:nvSpPr>
        <p:spPr>
          <a:xfrm>
            <a:off x="9525000" y="34194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5D6B82"/>
                </a:solidFill>
                <a:latin typeface="Aptos"/>
              </a:rPr>
              <a:t>No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C28647D-E64E-4644-8C6D-27D074214433}"/>
              </a:ext>
            </a:extLst>
          </p:cNvPr>
          <p:cNvSpPr/>
          <p:nvPr/>
        </p:nvSpPr>
        <p:spPr>
          <a:xfrm>
            <a:off x="508000" y="3771900"/>
            <a:ext cx="469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1BA7BB-0763-4A1A-90CB-F4F8DB5CCEA5}"/>
              </a:ext>
            </a:extLst>
          </p:cNvPr>
          <p:cNvSpPr txBox="1"/>
          <p:nvPr/>
        </p:nvSpPr>
        <p:spPr>
          <a:xfrm>
            <a:off x="635000" y="3914775"/>
            <a:ext cx="444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50">
                <a:solidFill>
                  <a:srgbClr val="172033"/>
                </a:solidFill>
                <a:latin typeface="Aptos"/>
              </a:rPr>
              <a:t>Descargar Excel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2F02E03-3440-4CEB-8119-0DDB2CAAFDFB}"/>
              </a:ext>
            </a:extLst>
          </p:cNvPr>
          <p:cNvSpPr/>
          <p:nvPr/>
        </p:nvSpPr>
        <p:spPr>
          <a:xfrm>
            <a:off x="5207000" y="37719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ACD694-5B1A-4B3F-B1AE-0CED9C86DCFC}"/>
              </a:ext>
            </a:extLst>
          </p:cNvPr>
          <p:cNvSpPr txBox="1"/>
          <p:nvPr/>
        </p:nvSpPr>
        <p:spPr>
          <a:xfrm>
            <a:off x="5207000" y="39147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16836B"/>
                </a:solidFill>
                <a:latin typeface="Aptos"/>
              </a:rPr>
              <a:t>Sí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1B41513-2D3A-422C-9FD1-7DC8AC2A6274}"/>
              </a:ext>
            </a:extLst>
          </p:cNvPr>
          <p:cNvSpPr/>
          <p:nvPr/>
        </p:nvSpPr>
        <p:spPr>
          <a:xfrm>
            <a:off x="7366000" y="37719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A4F868-94AF-404D-9165-853202172FC0}"/>
              </a:ext>
            </a:extLst>
          </p:cNvPr>
          <p:cNvSpPr txBox="1"/>
          <p:nvPr/>
        </p:nvSpPr>
        <p:spPr>
          <a:xfrm>
            <a:off x="7366000" y="39147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16836B"/>
                </a:solidFill>
                <a:latin typeface="Aptos"/>
              </a:rPr>
              <a:t>Sí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2D98A26-289C-44B9-A7B9-B8EFA8FB229C}"/>
              </a:ext>
            </a:extLst>
          </p:cNvPr>
          <p:cNvSpPr/>
          <p:nvPr/>
        </p:nvSpPr>
        <p:spPr>
          <a:xfrm>
            <a:off x="9525000" y="37719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90FA12-5A32-4637-BFF7-6192C8888852}"/>
              </a:ext>
            </a:extLst>
          </p:cNvPr>
          <p:cNvSpPr txBox="1"/>
          <p:nvPr/>
        </p:nvSpPr>
        <p:spPr>
          <a:xfrm>
            <a:off x="9525000" y="39147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5D6B82"/>
                </a:solidFill>
                <a:latin typeface="Aptos"/>
              </a:rPr>
              <a:t>No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EED1ED2-CCCA-4F12-B7B3-6D0EA6DE2FCA}"/>
              </a:ext>
            </a:extLst>
          </p:cNvPr>
          <p:cNvSpPr/>
          <p:nvPr/>
        </p:nvSpPr>
        <p:spPr>
          <a:xfrm>
            <a:off x="508000" y="4267200"/>
            <a:ext cx="469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5DAF09-3646-4778-B737-876A5F314798}"/>
              </a:ext>
            </a:extLst>
          </p:cNvPr>
          <p:cNvSpPr txBox="1"/>
          <p:nvPr/>
        </p:nvSpPr>
        <p:spPr>
          <a:xfrm>
            <a:off x="635000" y="4410075"/>
            <a:ext cx="444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50">
                <a:solidFill>
                  <a:srgbClr val="172033"/>
                </a:solidFill>
                <a:latin typeface="Aptos"/>
              </a:rPr>
              <a:t>Editar y guardar Overall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45B8EBD-76E5-45E1-9556-A62ADDC1E793}"/>
              </a:ext>
            </a:extLst>
          </p:cNvPr>
          <p:cNvSpPr/>
          <p:nvPr/>
        </p:nvSpPr>
        <p:spPr>
          <a:xfrm>
            <a:off x="5207000" y="42672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EE21F1-FA5E-4F9B-ABC3-308365007C5B}"/>
              </a:ext>
            </a:extLst>
          </p:cNvPr>
          <p:cNvSpPr txBox="1"/>
          <p:nvPr/>
        </p:nvSpPr>
        <p:spPr>
          <a:xfrm>
            <a:off x="5207000" y="44100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16836B"/>
                </a:solidFill>
                <a:latin typeface="Aptos"/>
              </a:rPr>
              <a:t>Sí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723DE45-5596-4DD3-BF4B-04733317F55D}"/>
              </a:ext>
            </a:extLst>
          </p:cNvPr>
          <p:cNvSpPr/>
          <p:nvPr/>
        </p:nvSpPr>
        <p:spPr>
          <a:xfrm>
            <a:off x="7366000" y="42672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1DE687-6CC6-4B08-874C-6231A169205D}"/>
              </a:ext>
            </a:extLst>
          </p:cNvPr>
          <p:cNvSpPr txBox="1"/>
          <p:nvPr/>
        </p:nvSpPr>
        <p:spPr>
          <a:xfrm>
            <a:off x="7366000" y="44100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16836B"/>
                </a:solidFill>
                <a:latin typeface="Aptos"/>
              </a:rPr>
              <a:t>Sí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36A5A6C-A9A8-486B-ADB3-D532B7656B91}"/>
              </a:ext>
            </a:extLst>
          </p:cNvPr>
          <p:cNvSpPr/>
          <p:nvPr/>
        </p:nvSpPr>
        <p:spPr>
          <a:xfrm>
            <a:off x="9525000" y="42672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08E0731-86D9-4695-9750-F4B2C8578B0A}"/>
              </a:ext>
            </a:extLst>
          </p:cNvPr>
          <p:cNvSpPr txBox="1"/>
          <p:nvPr/>
        </p:nvSpPr>
        <p:spPr>
          <a:xfrm>
            <a:off x="9525000" y="44100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5D6B82"/>
                </a:solidFill>
                <a:latin typeface="Aptos"/>
              </a:rPr>
              <a:t>No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CCBD1B8-1189-4F37-B310-F4278F9178A4}"/>
              </a:ext>
            </a:extLst>
          </p:cNvPr>
          <p:cNvSpPr/>
          <p:nvPr/>
        </p:nvSpPr>
        <p:spPr>
          <a:xfrm>
            <a:off x="508000" y="4762500"/>
            <a:ext cx="469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DB3433-4518-4412-96B2-F49A1937F921}"/>
              </a:ext>
            </a:extLst>
          </p:cNvPr>
          <p:cNvSpPr txBox="1"/>
          <p:nvPr/>
        </p:nvSpPr>
        <p:spPr>
          <a:xfrm>
            <a:off x="635000" y="4905375"/>
            <a:ext cx="444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50">
                <a:solidFill>
                  <a:srgbClr val="172033"/>
                </a:solidFill>
                <a:latin typeface="Aptos"/>
              </a:rPr>
              <a:t>Administrar catálogos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9198B01-D083-468A-8595-3AB7028C84AD}"/>
              </a:ext>
            </a:extLst>
          </p:cNvPr>
          <p:cNvSpPr/>
          <p:nvPr/>
        </p:nvSpPr>
        <p:spPr>
          <a:xfrm>
            <a:off x="5207000" y="47625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27E733D-2E11-4D72-8235-301ADB13C8F9}"/>
              </a:ext>
            </a:extLst>
          </p:cNvPr>
          <p:cNvSpPr txBox="1"/>
          <p:nvPr/>
        </p:nvSpPr>
        <p:spPr>
          <a:xfrm>
            <a:off x="5207000" y="49053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16836B"/>
                </a:solidFill>
                <a:latin typeface="Aptos"/>
              </a:rPr>
              <a:t>Sí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7705631-26B4-4ED1-80CB-17E586448728}"/>
              </a:ext>
            </a:extLst>
          </p:cNvPr>
          <p:cNvSpPr/>
          <p:nvPr/>
        </p:nvSpPr>
        <p:spPr>
          <a:xfrm>
            <a:off x="7366000" y="47625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E6EE23-A000-4518-8AFF-53626945D41C}"/>
              </a:ext>
            </a:extLst>
          </p:cNvPr>
          <p:cNvSpPr txBox="1"/>
          <p:nvPr/>
        </p:nvSpPr>
        <p:spPr>
          <a:xfrm>
            <a:off x="7366000" y="49053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16836B"/>
                </a:solidFill>
                <a:latin typeface="Aptos"/>
              </a:rPr>
              <a:t>Sí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3C0ACCF-E1DA-4FF9-BEEF-77CAE7ADEF80}"/>
              </a:ext>
            </a:extLst>
          </p:cNvPr>
          <p:cNvSpPr/>
          <p:nvPr/>
        </p:nvSpPr>
        <p:spPr>
          <a:xfrm>
            <a:off x="9525000" y="47625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3F16F7-5B8E-42A1-A10A-3D2485B0562F}"/>
              </a:ext>
            </a:extLst>
          </p:cNvPr>
          <p:cNvSpPr txBox="1"/>
          <p:nvPr/>
        </p:nvSpPr>
        <p:spPr>
          <a:xfrm>
            <a:off x="9525000" y="49053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5D6B82"/>
                </a:solidFill>
                <a:latin typeface="Aptos"/>
              </a:rPr>
              <a:t>No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D056991-D67F-4B63-B151-C5AC31EA1E1C}"/>
              </a:ext>
            </a:extLst>
          </p:cNvPr>
          <p:cNvSpPr/>
          <p:nvPr/>
        </p:nvSpPr>
        <p:spPr>
          <a:xfrm>
            <a:off x="508000" y="5257800"/>
            <a:ext cx="469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9EFB010-AD28-44D2-B580-B542F307066B}"/>
              </a:ext>
            </a:extLst>
          </p:cNvPr>
          <p:cNvSpPr txBox="1"/>
          <p:nvPr/>
        </p:nvSpPr>
        <p:spPr>
          <a:xfrm>
            <a:off x="635000" y="5400675"/>
            <a:ext cx="4445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50">
                <a:solidFill>
                  <a:srgbClr val="172033"/>
                </a:solidFill>
                <a:latin typeface="Aptos"/>
              </a:rPr>
              <a:t>Administrar usuarios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9A609FD-875F-411E-A5C5-CA6667F56E59}"/>
              </a:ext>
            </a:extLst>
          </p:cNvPr>
          <p:cNvSpPr/>
          <p:nvPr/>
        </p:nvSpPr>
        <p:spPr>
          <a:xfrm>
            <a:off x="5207000" y="52578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E9E0DB-6B43-4848-B06E-C62705BA0209}"/>
              </a:ext>
            </a:extLst>
          </p:cNvPr>
          <p:cNvSpPr txBox="1"/>
          <p:nvPr/>
        </p:nvSpPr>
        <p:spPr>
          <a:xfrm>
            <a:off x="5207000" y="54006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16836B"/>
                </a:solidFill>
                <a:latin typeface="Aptos"/>
              </a:rPr>
              <a:t>Sí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D4364C0-24F3-4F2B-AE8D-742710979E30}"/>
              </a:ext>
            </a:extLst>
          </p:cNvPr>
          <p:cNvSpPr/>
          <p:nvPr/>
        </p:nvSpPr>
        <p:spPr>
          <a:xfrm>
            <a:off x="7366000" y="52578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494B849-9022-4483-B8B9-654796C5C69C}"/>
              </a:ext>
            </a:extLst>
          </p:cNvPr>
          <p:cNvSpPr txBox="1"/>
          <p:nvPr/>
        </p:nvSpPr>
        <p:spPr>
          <a:xfrm>
            <a:off x="7366000" y="54006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5D6B82"/>
                </a:solidFill>
                <a:latin typeface="Aptos"/>
              </a:rPr>
              <a:t>No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D674413-29AE-4212-8DEA-2CCD18650170}"/>
              </a:ext>
            </a:extLst>
          </p:cNvPr>
          <p:cNvSpPr/>
          <p:nvPr/>
        </p:nvSpPr>
        <p:spPr>
          <a:xfrm>
            <a:off x="9525000" y="5257800"/>
            <a:ext cx="2159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8D48766-09B5-4561-9F90-119D7680F9EB}"/>
              </a:ext>
            </a:extLst>
          </p:cNvPr>
          <p:cNvSpPr txBox="1"/>
          <p:nvPr/>
        </p:nvSpPr>
        <p:spPr>
          <a:xfrm>
            <a:off x="9525000" y="5400675"/>
            <a:ext cx="2159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50" b="1">
                <a:solidFill>
                  <a:srgbClr val="5D6B82"/>
                </a:solidFill>
                <a:latin typeface="Aptos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36631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38FA26-27C2-465B-BF83-8112BF96443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FA041-8609-4763-96D3-EC80E7B3D50E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655167-FE5D-42F1-A605-16E8D3CF0E42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ACCESO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BCE9BD-88C1-4262-8DB8-683D890499F8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57C762BA-82FB-4655-801F-A2ED87825E97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C5AEA-F816-4E3F-AF30-E77929067689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8D732B-9913-40D6-BEC6-7999A2E87326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1. Iniciar sesión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F9A8E3-BF5C-4D11-AB2C-754D8B4AEE5D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Usa tu cuenta corporativa de Inventec.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BA9782-CBB7-4F26-AF0B-3101ED44E27E}"/>
              </a:ext>
            </a:extLst>
          </p:cNvPr>
          <p:cNvSpPr/>
          <p:nvPr/>
        </p:nvSpPr>
        <p:spPr>
          <a:xfrm>
            <a:off x="533400" y="1892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285904-7008-4A60-96EB-1D0F2D09BE98}"/>
              </a:ext>
            </a:extLst>
          </p:cNvPr>
          <p:cNvSpPr txBox="1"/>
          <p:nvPr/>
        </p:nvSpPr>
        <p:spPr>
          <a:xfrm>
            <a:off x="762000" y="18415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Escribe únicamente Apellido.Nombre.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E63098-8383-4841-9AF7-6E181AF468B2}"/>
              </a:ext>
            </a:extLst>
          </p:cNvPr>
          <p:cNvSpPr/>
          <p:nvPr/>
        </p:nvSpPr>
        <p:spPr>
          <a:xfrm>
            <a:off x="533400" y="2590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15A3B7-25BD-44A6-B4A6-75136E5418DA}"/>
              </a:ext>
            </a:extLst>
          </p:cNvPr>
          <p:cNvSpPr txBox="1"/>
          <p:nvPr/>
        </p:nvSpPr>
        <p:spPr>
          <a:xfrm>
            <a:off x="762000" y="25400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Ingresa la contraseña y selecciona Ingresar.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197418-70C3-47E4-98A5-EE4ADF895213}"/>
              </a:ext>
            </a:extLst>
          </p:cNvPr>
          <p:cNvSpPr/>
          <p:nvPr/>
        </p:nvSpPr>
        <p:spPr>
          <a:xfrm>
            <a:off x="533400" y="3289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5FD209-DD94-48ED-9E81-8B29944E7420}"/>
              </a:ext>
            </a:extLst>
          </p:cNvPr>
          <p:cNvSpPr txBox="1"/>
          <p:nvPr/>
        </p:nvSpPr>
        <p:spPr>
          <a:xfrm>
            <a:off x="762000" y="3238500"/>
            <a:ext cx="266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Usa “¿La olvidaste?” para recuperar acceso.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B9718DD-A127-45DE-BAB1-484A57B0C8F5}"/>
              </a:ext>
            </a:extLst>
          </p:cNvPr>
          <p:cNvSpPr/>
          <p:nvPr/>
        </p:nvSpPr>
        <p:spPr>
          <a:xfrm>
            <a:off x="3429000" y="1612900"/>
            <a:ext cx="8382000" cy="477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8" name="Picture 17" descr="Captura de KittyHP en la diapositiva 5.">
            <a:extLst>
              <a:ext uri="{FF2B5EF4-FFF2-40B4-BE49-F238E27FC236}">
                <a16:creationId xmlns:a16="http://schemas.microsoft.com/office/drawing/2014/main" id="{824FF415-ADD8-4543-BFD1-1B64441B087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0" y="1676400"/>
            <a:ext cx="8255000" cy="46482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3F632F08-B09D-447D-B55C-1C3DDFF19E35}"/>
              </a:ext>
            </a:extLst>
          </p:cNvPr>
          <p:cNvSpPr/>
          <p:nvPr/>
        </p:nvSpPr>
        <p:spPr>
          <a:xfrm>
            <a:off x="5753100" y="3542556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1E4CA9-A991-48B3-869E-0F46058CF40D}"/>
              </a:ext>
            </a:extLst>
          </p:cNvPr>
          <p:cNvSpPr txBox="1"/>
          <p:nvPr/>
        </p:nvSpPr>
        <p:spPr>
          <a:xfrm>
            <a:off x="5765800" y="3593356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 dirty="0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75017F-E3DB-4509-A515-3B1EE3D6873E}"/>
              </a:ext>
            </a:extLst>
          </p:cNvPr>
          <p:cNvSpPr txBox="1"/>
          <p:nvPr/>
        </p:nvSpPr>
        <p:spPr>
          <a:xfrm>
            <a:off x="4686301" y="3632614"/>
            <a:ext cx="165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Correo corporativo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8E860AA-6BC4-4CA8-8DF1-6CA4699C06EA}"/>
              </a:ext>
            </a:extLst>
          </p:cNvPr>
          <p:cNvCxnSpPr>
            <a:cxnSpLocks/>
          </p:cNvCxnSpPr>
          <p:nvPr/>
        </p:nvCxnSpPr>
        <p:spPr>
          <a:xfrm>
            <a:off x="6089650" y="3705297"/>
            <a:ext cx="723900" cy="132005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5EE7382-E32F-4153-840D-9DCC69ACEEDA}"/>
              </a:ext>
            </a:extLst>
          </p:cNvPr>
          <p:cNvSpPr/>
          <p:nvPr/>
        </p:nvSpPr>
        <p:spPr>
          <a:xfrm>
            <a:off x="5740400" y="4125309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287532-5AE7-42EA-95EF-E0BC9A1EC781}"/>
              </a:ext>
            </a:extLst>
          </p:cNvPr>
          <p:cNvSpPr txBox="1"/>
          <p:nvPr/>
        </p:nvSpPr>
        <p:spPr>
          <a:xfrm>
            <a:off x="5753100" y="4205771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D43622-1189-4707-B413-76CD7901DDA5}"/>
              </a:ext>
            </a:extLst>
          </p:cNvPr>
          <p:cNvSpPr txBox="1"/>
          <p:nvPr/>
        </p:nvSpPr>
        <p:spPr>
          <a:xfrm>
            <a:off x="5048251" y="4213466"/>
            <a:ext cx="127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Contraseña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925499-0DA0-49E8-91FE-1EC1E015B4CD}"/>
              </a:ext>
            </a:extLst>
          </p:cNvPr>
          <p:cNvCxnSpPr>
            <a:cxnSpLocks/>
          </p:cNvCxnSpPr>
          <p:nvPr/>
        </p:nvCxnSpPr>
        <p:spPr>
          <a:xfrm flipV="1">
            <a:off x="6089650" y="4290409"/>
            <a:ext cx="673099" cy="1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5EAA3CFD-0157-44C0-8592-A8F1E260911F}"/>
              </a:ext>
            </a:extLst>
          </p:cNvPr>
          <p:cNvSpPr/>
          <p:nvPr/>
        </p:nvSpPr>
        <p:spPr>
          <a:xfrm>
            <a:off x="8521700" y="476885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7480D4-EAFE-4DC4-9296-38603366A373}"/>
              </a:ext>
            </a:extLst>
          </p:cNvPr>
          <p:cNvSpPr txBox="1"/>
          <p:nvPr/>
        </p:nvSpPr>
        <p:spPr>
          <a:xfrm>
            <a:off x="8547100" y="4864100"/>
            <a:ext cx="304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F88150-317B-4867-93DD-0557A40E2B10}"/>
              </a:ext>
            </a:extLst>
          </p:cNvPr>
          <p:cNvSpPr txBox="1"/>
          <p:nvPr/>
        </p:nvSpPr>
        <p:spPr>
          <a:xfrm>
            <a:off x="8915400" y="4857006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Ingresar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5193EB6-08CC-44B8-82A0-3EE2F86BE37F}"/>
              </a:ext>
            </a:extLst>
          </p:cNvPr>
          <p:cNvCxnSpPr>
            <a:cxnSpLocks/>
            <a:stCxn id="28" idx="0"/>
          </p:cNvCxnSpPr>
          <p:nvPr/>
        </p:nvCxnSpPr>
        <p:spPr>
          <a:xfrm flipH="1" flipV="1">
            <a:off x="8223250" y="4578350"/>
            <a:ext cx="476250" cy="285750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179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35FE64-4091-4B93-A644-AB45D191ED4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E48639-E40E-4F66-A03C-F350F4A46542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360270-ACCD-4167-8BCE-13D5364A1695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ACCESO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501CD5-6900-485B-8EE7-2D9B8A9A8BEE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2171E38F-6810-4EAF-B9D0-3E967E6E2C0E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96070-0A47-4DFC-87B9-6884AC8D73C1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30FE8F-57B8-4DBE-8F83-C30EDBFCF9E2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2. Registro y recuperación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1A6BD2-C646-442D-9001-CAA06794E785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Las dos rutas están disponibles desde la pantalla de acceso.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CA0BF8-F859-451B-A436-1620CAE9EA1A}"/>
              </a:ext>
            </a:extLst>
          </p:cNvPr>
          <p:cNvSpPr/>
          <p:nvPr/>
        </p:nvSpPr>
        <p:spPr>
          <a:xfrm>
            <a:off x="444500" y="1778000"/>
            <a:ext cx="5461000" cy="312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2" name="Picture 11" descr="Captura de KittyHP en la diapositiva 6.">
            <a:extLst>
              <a:ext uri="{FF2B5EF4-FFF2-40B4-BE49-F238E27FC236}">
                <a16:creationId xmlns:a16="http://schemas.microsoft.com/office/drawing/2014/main" id="{3FE86BA5-7D08-451A-B457-D380F6A0748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841500"/>
            <a:ext cx="5334000" cy="29972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209C6EC-5AC1-4529-8CED-221B682BE470}"/>
              </a:ext>
            </a:extLst>
          </p:cNvPr>
          <p:cNvSpPr/>
          <p:nvPr/>
        </p:nvSpPr>
        <p:spPr>
          <a:xfrm>
            <a:off x="6286500" y="1778000"/>
            <a:ext cx="5461000" cy="312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5" name="Picture 14" descr="Captura de KittyHP en la diapositiva 6.">
            <a:extLst>
              <a:ext uri="{FF2B5EF4-FFF2-40B4-BE49-F238E27FC236}">
                <a16:creationId xmlns:a16="http://schemas.microsoft.com/office/drawing/2014/main" id="{A17BE35D-B92B-4675-98E3-DB8629C98F8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841500"/>
            <a:ext cx="5334000" cy="29972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0E65C1F-D513-4B03-AC39-5BD68944798A}"/>
              </a:ext>
            </a:extLst>
          </p:cNvPr>
          <p:cNvSpPr txBox="1"/>
          <p:nvPr/>
        </p:nvSpPr>
        <p:spPr>
          <a:xfrm>
            <a:off x="508000" y="5016500"/>
            <a:ext cx="2540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Registro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C67A11-7CED-4CAF-8AE6-370E63FC37CF}"/>
              </a:ext>
            </a:extLst>
          </p:cNvPr>
          <p:cNvSpPr txBox="1"/>
          <p:nvPr/>
        </p:nvSpPr>
        <p:spPr>
          <a:xfrm>
            <a:off x="508000" y="5372100"/>
            <a:ext cx="5334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50">
                <a:solidFill>
                  <a:srgbClr val="172033"/>
                </a:solidFill>
                <a:latin typeface="Aptos"/>
              </a:rPr>
              <a:t>Completa el correo y una contraseña de 8–128 caracteres. El código tiene 6 dígitos, dura 10 minutos y admite 5 intentos.</a:t>
            </a:r>
            <a:endParaRPr lang="es-MX" sz="105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C8A62B-7808-4D76-8E52-5B115BDB0F9A}"/>
              </a:ext>
            </a:extLst>
          </p:cNvPr>
          <p:cNvSpPr txBox="1"/>
          <p:nvPr/>
        </p:nvSpPr>
        <p:spPr>
          <a:xfrm>
            <a:off x="6350000" y="5016500"/>
            <a:ext cx="3302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Recuperar contraseña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FBA656-2F2E-4ECB-A20D-64B34516B8CA}"/>
              </a:ext>
            </a:extLst>
          </p:cNvPr>
          <p:cNvSpPr txBox="1"/>
          <p:nvPr/>
        </p:nvSpPr>
        <p:spPr>
          <a:xfrm>
            <a:off x="6350000" y="5372100"/>
            <a:ext cx="533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 dirty="0">
                <a:solidFill>
                  <a:srgbClr val="172033"/>
                </a:solidFill>
                <a:latin typeface="Aptos"/>
              </a:rPr>
              <a:t>Ingresa tu correo electrónico y solicita el código, valida tu identidad y define una nueva contraseña.</a:t>
            </a:r>
          </a:p>
        </p:txBody>
      </p:sp>
    </p:spTree>
    <p:extLst>
      <p:ext uri="{BB962C8B-B14F-4D97-AF65-F5344CB8AC3E}">
        <p14:creationId xmlns:p14="http://schemas.microsoft.com/office/powerpoint/2010/main" val="2527350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E623B0-C514-40CE-990B-8109AE15073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9AD966-EFEB-48D2-8DAD-9B3645156F96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D88D0A-AF0B-4B8E-BDC1-7D6D35D9F368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NAVEGACIÓN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973B81-5BF1-47BC-949E-3B7FD1CB5617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91C2D2AA-0FFC-44DE-8E43-35A8B2BBCFE6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761691-D644-4EEF-9E34-3E026A8051B1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D3255F-F301-4F5C-B519-D09EBFB82EA9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3. Navegación principal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75400D-77D8-425F-8D5D-45355AAE45CE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 barra superior permanece disponible en todas las interfaces autenticadas.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062C39-CE33-4B9C-B612-4E5CF110CC57}"/>
              </a:ext>
            </a:extLst>
          </p:cNvPr>
          <p:cNvSpPr/>
          <p:nvPr/>
        </p:nvSpPr>
        <p:spPr>
          <a:xfrm>
            <a:off x="533400" y="1892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50917B-B59A-4B5B-81E4-05F4E9B5B355}"/>
              </a:ext>
            </a:extLst>
          </p:cNvPr>
          <p:cNvSpPr txBox="1"/>
          <p:nvPr/>
        </p:nvSpPr>
        <p:spPr>
          <a:xfrm>
            <a:off x="762000" y="18415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 dirty="0">
                <a:solidFill>
                  <a:srgbClr val="172033"/>
                </a:solidFill>
                <a:latin typeface="Aptos"/>
              </a:rPr>
              <a:t>1 - Reportes: operación diaria.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DD67851-208B-455B-83C6-713AAB657B53}"/>
              </a:ext>
            </a:extLst>
          </p:cNvPr>
          <p:cNvSpPr/>
          <p:nvPr/>
        </p:nvSpPr>
        <p:spPr>
          <a:xfrm>
            <a:off x="533400" y="2590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B58DCA-2BAA-4E0B-B537-6082CB5AE06A}"/>
              </a:ext>
            </a:extLst>
          </p:cNvPr>
          <p:cNvSpPr txBox="1"/>
          <p:nvPr/>
        </p:nvSpPr>
        <p:spPr>
          <a:xfrm>
            <a:off x="762000" y="25400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 dirty="0">
                <a:solidFill>
                  <a:srgbClr val="172033"/>
                </a:solidFill>
                <a:latin typeface="Aptos"/>
              </a:rPr>
              <a:t>2 - </a:t>
            </a:r>
            <a:r>
              <a:rPr lang="es-MX" sz="1200" dirty="0" err="1">
                <a:solidFill>
                  <a:srgbClr val="172033"/>
                </a:solidFill>
                <a:latin typeface="Aptos"/>
              </a:rPr>
              <a:t>Overall</a:t>
            </a:r>
            <a:r>
              <a:rPr lang="es-MX" sz="1200" dirty="0">
                <a:solidFill>
                  <a:srgbClr val="172033"/>
                </a:solidFill>
                <a:latin typeface="Aptos"/>
              </a:rPr>
              <a:t> FPF </a:t>
            </a:r>
            <a:r>
              <a:rPr lang="es-MX" sz="1200" dirty="0" err="1">
                <a:solidFill>
                  <a:srgbClr val="172033"/>
                </a:solidFill>
                <a:latin typeface="Aptos"/>
              </a:rPr>
              <a:t>Trend</a:t>
            </a:r>
            <a:r>
              <a:rPr lang="es-MX" sz="1200" dirty="0">
                <a:solidFill>
                  <a:srgbClr val="172033"/>
                </a:solidFill>
                <a:latin typeface="Aptos"/>
              </a:rPr>
              <a:t>: métricas semanales.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CC82772-C299-4476-A9AF-BBF350635D9C}"/>
              </a:ext>
            </a:extLst>
          </p:cNvPr>
          <p:cNvSpPr/>
          <p:nvPr/>
        </p:nvSpPr>
        <p:spPr>
          <a:xfrm>
            <a:off x="533400" y="3289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28273D-3456-4E79-BC25-4FF2C22EAA00}"/>
              </a:ext>
            </a:extLst>
          </p:cNvPr>
          <p:cNvSpPr txBox="1"/>
          <p:nvPr/>
        </p:nvSpPr>
        <p:spPr>
          <a:xfrm>
            <a:off x="762000" y="32385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 dirty="0">
                <a:solidFill>
                  <a:srgbClr val="172033"/>
                </a:solidFill>
                <a:latin typeface="Aptos"/>
              </a:rPr>
              <a:t>3 - Configuración: usuarios y catálogos.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31B154D-38E0-4DA6-AE07-B9A6809B4E77}"/>
              </a:ext>
            </a:extLst>
          </p:cNvPr>
          <p:cNvSpPr/>
          <p:nvPr/>
        </p:nvSpPr>
        <p:spPr>
          <a:xfrm>
            <a:off x="533400" y="3987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FA4E26-272E-4E85-B62F-FE95955193E2}"/>
              </a:ext>
            </a:extLst>
          </p:cNvPr>
          <p:cNvSpPr txBox="1"/>
          <p:nvPr/>
        </p:nvSpPr>
        <p:spPr>
          <a:xfrm>
            <a:off x="762000" y="39370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 dirty="0">
                <a:solidFill>
                  <a:srgbClr val="172033"/>
                </a:solidFill>
                <a:latin typeface="Aptos"/>
              </a:rPr>
              <a:t>4 - Cuenta y Salir: sesión activa.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ADB8210-07AF-41A4-8784-E5E0AB1322FC}"/>
              </a:ext>
            </a:extLst>
          </p:cNvPr>
          <p:cNvSpPr/>
          <p:nvPr/>
        </p:nvSpPr>
        <p:spPr>
          <a:xfrm>
            <a:off x="3429000" y="1612900"/>
            <a:ext cx="8382000" cy="477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0" name="Picture 19" descr="Captura de KittyHP en la diapositiva 7.">
            <a:extLst>
              <a:ext uri="{FF2B5EF4-FFF2-40B4-BE49-F238E27FC236}">
                <a16:creationId xmlns:a16="http://schemas.microsoft.com/office/drawing/2014/main" id="{599139DE-0E23-44DB-82D6-1F621252FBF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0" y="1676400"/>
            <a:ext cx="8255000" cy="46482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EC7E0E59-AC31-4B55-8FA5-648CA93FD94B}"/>
              </a:ext>
            </a:extLst>
          </p:cNvPr>
          <p:cNvSpPr/>
          <p:nvPr/>
        </p:nvSpPr>
        <p:spPr>
          <a:xfrm>
            <a:off x="4504267" y="125095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B80B71-6095-4445-A793-5DB6DB039A61}"/>
              </a:ext>
            </a:extLst>
          </p:cNvPr>
          <p:cNvSpPr txBox="1"/>
          <p:nvPr/>
        </p:nvSpPr>
        <p:spPr>
          <a:xfrm>
            <a:off x="4529667" y="134257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 dirty="0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264994-6513-4F08-A99F-0F988E70541D}"/>
              </a:ext>
            </a:extLst>
          </p:cNvPr>
          <p:cNvSpPr txBox="1"/>
          <p:nvPr/>
        </p:nvSpPr>
        <p:spPr>
          <a:xfrm>
            <a:off x="4457700" y="1586012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Reportes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C67D949-512A-4D64-96AA-7C770DFB00A3}"/>
              </a:ext>
            </a:extLst>
          </p:cNvPr>
          <p:cNvSpPr/>
          <p:nvPr/>
        </p:nvSpPr>
        <p:spPr>
          <a:xfrm>
            <a:off x="5092700" y="1250948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19D451-2C4F-4AE0-80EB-802EEF57D231}"/>
              </a:ext>
            </a:extLst>
          </p:cNvPr>
          <p:cNvSpPr txBox="1"/>
          <p:nvPr/>
        </p:nvSpPr>
        <p:spPr>
          <a:xfrm>
            <a:off x="5118100" y="1314931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 dirty="0">
                <a:solidFill>
                  <a:srgbClr val="0B2F5B"/>
                </a:solidFill>
                <a:latin typeface="Aptos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6917BA-C8C1-44DC-BE7F-1DC3652DD517}"/>
              </a:ext>
            </a:extLst>
          </p:cNvPr>
          <p:cNvSpPr txBox="1"/>
          <p:nvPr/>
        </p:nvSpPr>
        <p:spPr>
          <a:xfrm>
            <a:off x="5092700" y="1587500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 err="1">
                <a:solidFill>
                  <a:srgbClr val="172033"/>
                </a:solidFill>
                <a:latin typeface="Aptos"/>
              </a:rPr>
              <a:t>Overall</a:t>
            </a:r>
            <a:endParaRPr lang="es-MX" sz="1000"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B2C3C4C-EBDB-4C3C-8FFF-5AD05024D0F3}"/>
              </a:ext>
            </a:extLst>
          </p:cNvPr>
          <p:cNvSpPr/>
          <p:nvPr/>
        </p:nvSpPr>
        <p:spPr>
          <a:xfrm>
            <a:off x="5765800" y="1262108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750DB9-46CF-4702-859C-854BF1D390C6}"/>
              </a:ext>
            </a:extLst>
          </p:cNvPr>
          <p:cNvSpPr txBox="1"/>
          <p:nvPr/>
        </p:nvSpPr>
        <p:spPr>
          <a:xfrm>
            <a:off x="5778500" y="132938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F7B79D-5372-480B-B415-DF0408F3EF99}"/>
              </a:ext>
            </a:extLst>
          </p:cNvPr>
          <p:cNvSpPr txBox="1"/>
          <p:nvPr/>
        </p:nvSpPr>
        <p:spPr>
          <a:xfrm>
            <a:off x="5613400" y="1587500"/>
            <a:ext cx="152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Configuración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E05F0D1-EC72-4723-95E7-5014253266C2}"/>
              </a:ext>
            </a:extLst>
          </p:cNvPr>
          <p:cNvSpPr/>
          <p:nvPr/>
        </p:nvSpPr>
        <p:spPr>
          <a:xfrm>
            <a:off x="10718800" y="12827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6B8467-F35E-4A63-800C-74BDA88D71B9}"/>
              </a:ext>
            </a:extLst>
          </p:cNvPr>
          <p:cNvSpPr txBox="1"/>
          <p:nvPr/>
        </p:nvSpPr>
        <p:spPr>
          <a:xfrm>
            <a:off x="10731500" y="1360518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CFDADB-223E-4A22-A005-05769EACFD98}"/>
              </a:ext>
            </a:extLst>
          </p:cNvPr>
          <p:cNvSpPr txBox="1"/>
          <p:nvPr/>
        </p:nvSpPr>
        <p:spPr>
          <a:xfrm>
            <a:off x="10723033" y="1586012"/>
            <a:ext cx="76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Sesión</a:t>
            </a:r>
          </a:p>
        </p:txBody>
      </p:sp>
    </p:spTree>
    <p:extLst>
      <p:ext uri="{BB962C8B-B14F-4D97-AF65-F5344CB8AC3E}">
        <p14:creationId xmlns:p14="http://schemas.microsoft.com/office/powerpoint/2010/main" val="9145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B58F28-F462-40F2-8DF1-D188B17D874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0A88BC-CE29-4742-954B-39F8FCB6A873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D2705D-B720-4108-A13A-A258D8A3FC8F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REPORTES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54EB5D-562A-4294-9EC3-E85D6BA3882C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B8A48308-99E3-4332-BFC6-5A0515B86AC8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D7E5E-3725-4EE8-A3BA-EB8FF20C4B33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45ED7F-CC73-46AA-B0DC-0AA7D9C09E0F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4. Consultar y filtrar reportes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CB56D-D82E-4CF0-8600-B287FEFE8053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Los filtros se conservan al refrescar la página.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6F68A6-1BDF-4897-BD54-A410E3C5F27F}"/>
              </a:ext>
            </a:extLst>
          </p:cNvPr>
          <p:cNvSpPr/>
          <p:nvPr/>
        </p:nvSpPr>
        <p:spPr>
          <a:xfrm>
            <a:off x="533400" y="1892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66377-C9C7-46EE-8DCA-881E72C4F34C}"/>
              </a:ext>
            </a:extLst>
          </p:cNvPr>
          <p:cNvSpPr txBox="1"/>
          <p:nvPr/>
        </p:nvSpPr>
        <p:spPr>
          <a:xfrm>
            <a:off x="762000" y="18415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Busca por issue, family, categoría o parte.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761D76-81FF-4B7B-8BDE-31E651D05C6B}"/>
              </a:ext>
            </a:extLst>
          </p:cNvPr>
          <p:cNvSpPr/>
          <p:nvPr/>
        </p:nvSpPr>
        <p:spPr>
          <a:xfrm>
            <a:off x="533400" y="2590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8960AB-985C-492F-9449-46B915FE6C64}"/>
              </a:ext>
            </a:extLst>
          </p:cNvPr>
          <p:cNvSpPr txBox="1"/>
          <p:nvPr/>
        </p:nvSpPr>
        <p:spPr>
          <a:xfrm>
            <a:off x="762000" y="25400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Combina fechas y filtros de columna.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A8821E4-D702-4AD4-A69A-A2EBC79D21E7}"/>
              </a:ext>
            </a:extLst>
          </p:cNvPr>
          <p:cNvSpPr/>
          <p:nvPr/>
        </p:nvSpPr>
        <p:spPr>
          <a:xfrm>
            <a:off x="533400" y="3289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F69253-2FD9-49F5-8214-17E9B501AEEA}"/>
              </a:ext>
            </a:extLst>
          </p:cNvPr>
          <p:cNvSpPr txBox="1"/>
          <p:nvPr/>
        </p:nvSpPr>
        <p:spPr>
          <a:xfrm>
            <a:off x="762000" y="3238500"/>
            <a:ext cx="266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Limpia filtros para volver al listado completo.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32D94BA-A0CC-4345-9853-F167695BA3D1}"/>
              </a:ext>
            </a:extLst>
          </p:cNvPr>
          <p:cNvSpPr/>
          <p:nvPr/>
        </p:nvSpPr>
        <p:spPr>
          <a:xfrm>
            <a:off x="533400" y="3987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A35FE3-2196-4BB1-8738-D2ED11E3AFEA}"/>
              </a:ext>
            </a:extLst>
          </p:cNvPr>
          <p:cNvSpPr txBox="1"/>
          <p:nvPr/>
        </p:nvSpPr>
        <p:spPr>
          <a:xfrm>
            <a:off x="762000" y="3937000"/>
            <a:ext cx="266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 dirty="0">
                <a:solidFill>
                  <a:srgbClr val="172033"/>
                </a:solidFill>
                <a:latin typeface="Aptos"/>
              </a:rPr>
              <a:t>Filtro por columna para ordenar registros o filtrar solo los deseados.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319C43-E8F6-43D1-AC89-6CED92DE7AA1}"/>
              </a:ext>
            </a:extLst>
          </p:cNvPr>
          <p:cNvSpPr/>
          <p:nvPr/>
        </p:nvSpPr>
        <p:spPr>
          <a:xfrm>
            <a:off x="3429000" y="1612900"/>
            <a:ext cx="8382000" cy="477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0" name="Picture 19" descr="Captura de KittyHP en la diapositiva 8.">
            <a:extLst>
              <a:ext uri="{FF2B5EF4-FFF2-40B4-BE49-F238E27FC236}">
                <a16:creationId xmlns:a16="http://schemas.microsoft.com/office/drawing/2014/main" id="{32919BAE-C5C9-4877-A296-A8A34D8FF75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0" y="1676400"/>
            <a:ext cx="8255000" cy="46482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20A73781-CB64-4B62-B722-91E67B114E34}"/>
              </a:ext>
            </a:extLst>
          </p:cNvPr>
          <p:cNvSpPr/>
          <p:nvPr/>
        </p:nvSpPr>
        <p:spPr>
          <a:xfrm>
            <a:off x="3492500" y="2496582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DA4FDE-AFAF-46CF-A9E9-1333E77541B8}"/>
              </a:ext>
            </a:extLst>
          </p:cNvPr>
          <p:cNvSpPr txBox="1"/>
          <p:nvPr/>
        </p:nvSpPr>
        <p:spPr>
          <a:xfrm>
            <a:off x="3505200" y="2547382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61A311-69B3-4686-A373-B5D7A6D05C06}"/>
              </a:ext>
            </a:extLst>
          </p:cNvPr>
          <p:cNvSpPr txBox="1"/>
          <p:nvPr/>
        </p:nvSpPr>
        <p:spPr>
          <a:xfrm>
            <a:off x="3873500" y="2564656"/>
            <a:ext cx="1079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Búsqueda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B7CB703-5E95-498F-AA17-06510A5D1303}"/>
              </a:ext>
            </a:extLst>
          </p:cNvPr>
          <p:cNvSpPr/>
          <p:nvPr/>
        </p:nvSpPr>
        <p:spPr>
          <a:xfrm>
            <a:off x="5391150" y="24130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2D1800-DF68-4C46-B993-9DB0E35F7344}"/>
              </a:ext>
            </a:extLst>
          </p:cNvPr>
          <p:cNvSpPr txBox="1"/>
          <p:nvPr/>
        </p:nvSpPr>
        <p:spPr>
          <a:xfrm>
            <a:off x="5403850" y="24638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D13970-FB71-42CF-B9CF-48AD50D4C8CA}"/>
              </a:ext>
            </a:extLst>
          </p:cNvPr>
          <p:cNvSpPr txBox="1"/>
          <p:nvPr/>
        </p:nvSpPr>
        <p:spPr>
          <a:xfrm>
            <a:off x="5784850" y="2558078"/>
            <a:ext cx="1587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Rango de fechas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6232796-E842-4D19-BE12-AF3B8566C128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3810000" y="2247372"/>
            <a:ext cx="406400" cy="384649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7B86B64-143A-4B52-8767-9064B042151A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5708650" y="2270899"/>
            <a:ext cx="606425" cy="277540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Captura de KittyHP en la diapositiva 8.">
            <a:extLst>
              <a:ext uri="{FF2B5EF4-FFF2-40B4-BE49-F238E27FC236}">
                <a16:creationId xmlns:a16="http://schemas.microsoft.com/office/drawing/2014/main" id="{309A146F-7135-41B9-ADCB-ABBF27E01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0319" y="3029719"/>
            <a:ext cx="1919047" cy="3180720"/>
          </a:xfrm>
          <a:prstGeom prst="rect">
            <a:avLst/>
          </a:prstGeom>
        </p:spPr>
      </p:pic>
      <p:pic>
        <p:nvPicPr>
          <p:cNvPr id="39" name="Picture 38" descr="Captura de KittyHP en la diapositiva 8.">
            <a:extLst>
              <a:ext uri="{FF2B5EF4-FFF2-40B4-BE49-F238E27FC236}">
                <a16:creationId xmlns:a16="http://schemas.microsoft.com/office/drawing/2014/main" id="{490B82F0-B807-4B92-94AC-EC786092E92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1248" b="-1"/>
          <a:stretch/>
        </p:blipFill>
        <p:spPr>
          <a:xfrm>
            <a:off x="7481570" y="1976967"/>
            <a:ext cx="798830" cy="293505"/>
          </a:xfrm>
          <a:prstGeom prst="rect">
            <a:avLst/>
          </a:prstGeom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B4F568FB-AC5A-4A9D-86DA-8E3A0038B95B}"/>
              </a:ext>
            </a:extLst>
          </p:cNvPr>
          <p:cNvSpPr/>
          <p:nvPr/>
        </p:nvSpPr>
        <p:spPr>
          <a:xfrm>
            <a:off x="6932159" y="24356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BC6D90-ECB1-47BD-8D9F-F2AC14C50C0A}"/>
              </a:ext>
            </a:extLst>
          </p:cNvPr>
          <p:cNvSpPr txBox="1"/>
          <p:nvPr/>
        </p:nvSpPr>
        <p:spPr>
          <a:xfrm>
            <a:off x="6944859" y="24864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 b="1" dirty="0">
                <a:solidFill>
                  <a:srgbClr val="0B2F5B"/>
                </a:solidFill>
                <a:latin typeface="Aptos"/>
              </a:rPr>
              <a:t>3</a:t>
            </a:r>
            <a:endParaRPr lang="es-MX" sz="1100" b="1" dirty="0">
              <a:solidFill>
                <a:srgbClr val="0B2F5B"/>
              </a:solidFill>
              <a:latin typeface="Aptos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1B33A89-8F04-4D69-B4D2-B0E9281CCBA2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7249659" y="2293499"/>
            <a:ext cx="606425" cy="277540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679740F-61A8-44D2-9444-6D00F349712C}"/>
              </a:ext>
            </a:extLst>
          </p:cNvPr>
          <p:cNvSpPr txBox="1"/>
          <p:nvPr/>
        </p:nvSpPr>
        <p:spPr>
          <a:xfrm>
            <a:off x="7433596" y="2533828"/>
            <a:ext cx="1587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Limpiar filtros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688DC58-CEF9-4372-883A-21D2089D18D1}"/>
              </a:ext>
            </a:extLst>
          </p:cNvPr>
          <p:cNvSpPr/>
          <p:nvPr/>
        </p:nvSpPr>
        <p:spPr>
          <a:xfrm>
            <a:off x="8978900" y="3409705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92218C-E16A-4ECE-9419-01E59E5CE04B}"/>
              </a:ext>
            </a:extLst>
          </p:cNvPr>
          <p:cNvSpPr txBox="1"/>
          <p:nvPr/>
        </p:nvSpPr>
        <p:spPr>
          <a:xfrm>
            <a:off x="8991600" y="3460505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 b="1" dirty="0">
                <a:solidFill>
                  <a:srgbClr val="0B2F5B"/>
                </a:solidFill>
                <a:latin typeface="Aptos"/>
              </a:rPr>
              <a:t>4</a:t>
            </a:r>
            <a:endParaRPr lang="es-MX" sz="1100" b="1" dirty="0">
              <a:solidFill>
                <a:srgbClr val="0B2F5B"/>
              </a:solidFill>
              <a:latin typeface="Aptos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F8EE633-4ECC-405F-BB13-607582EB4D43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9296400" y="3267604"/>
            <a:ext cx="606425" cy="277540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0A1FC06-7728-4183-B824-B76EB864993F}"/>
              </a:ext>
            </a:extLst>
          </p:cNvPr>
          <p:cNvSpPr txBox="1"/>
          <p:nvPr/>
        </p:nvSpPr>
        <p:spPr>
          <a:xfrm>
            <a:off x="7917210" y="3478887"/>
            <a:ext cx="1587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Filtro por columna</a:t>
            </a:r>
          </a:p>
        </p:txBody>
      </p:sp>
    </p:spTree>
    <p:extLst>
      <p:ext uri="{BB962C8B-B14F-4D97-AF65-F5344CB8AC3E}">
        <p14:creationId xmlns:p14="http://schemas.microsoft.com/office/powerpoint/2010/main" val="700995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E233B5-A7D5-4A31-A8EC-D667DF6A0EA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E095B-9FD8-4EA1-A25A-D01B0081FBF0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0DC16-B54F-4C6F-AEC2-6B01D2BA87A3}"/>
              </a:ext>
            </a:extLst>
          </p:cNvPr>
          <p:cNvSpPr txBox="1"/>
          <p:nvPr/>
        </p:nvSpPr>
        <p:spPr>
          <a:xfrm>
            <a:off x="8763000" y="279400"/>
            <a:ext cx="298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REPORTES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0510D6-F3BF-4781-BA58-E6D3604F9614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978C5F0A-74A9-4CC1-B1B8-554849327902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469F95-E4F3-4E61-8D5B-418AD3F40D61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09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EE8EC7-0BB1-4A3D-AAC0-ABC5EB84009A}"/>
              </a:ext>
            </a:extLst>
          </p:cNvPr>
          <p:cNvSpPr txBox="1"/>
          <p:nvPr/>
        </p:nvSpPr>
        <p:spPr>
          <a:xfrm>
            <a:off x="431800" y="6604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Actualización entre equipos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087185-65DD-4717-A2D1-3356AE261D7A}"/>
              </a:ext>
            </a:extLst>
          </p:cNvPr>
          <p:cNvSpPr txBox="1"/>
          <p:nvPr/>
        </p:nvSpPr>
        <p:spPr>
          <a:xfrm>
            <a:off x="444500" y="1193800"/>
            <a:ext cx="1111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Los cambios guardados aparecen automáticamente, pero no existe edición colaborativa del mismo formulario.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34FD9A-090B-4872-8637-800E1ED221F4}"/>
              </a:ext>
            </a:extLst>
          </p:cNvPr>
          <p:cNvSpPr/>
          <p:nvPr/>
        </p:nvSpPr>
        <p:spPr>
          <a:xfrm>
            <a:off x="571500" y="1905000"/>
            <a:ext cx="3302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C5B0C3-0160-441C-B84A-E31058D8F0C6}"/>
              </a:ext>
            </a:extLst>
          </p:cNvPr>
          <p:cNvSpPr txBox="1"/>
          <p:nvPr/>
        </p:nvSpPr>
        <p:spPr>
          <a:xfrm>
            <a:off x="825500" y="2159000"/>
            <a:ext cx="444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200" b="1">
                <a:solidFill>
                  <a:srgbClr val="1E5799"/>
                </a:solidFill>
                <a:latin typeface="Aptos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A2CB0F-A2C6-4635-B311-6FA62A3AD01D}"/>
              </a:ext>
            </a:extLst>
          </p:cNvPr>
          <p:cNvSpPr txBox="1"/>
          <p:nvPr/>
        </p:nvSpPr>
        <p:spPr>
          <a:xfrm>
            <a:off x="1397000" y="2209800"/>
            <a:ext cx="203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 b="1">
                <a:solidFill>
                  <a:srgbClr val="0B2F5B"/>
                </a:solidFill>
                <a:latin typeface="Aptos"/>
              </a:rPr>
              <a:t>Guardar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756732-EFB5-4653-8344-26392B9296A2}"/>
              </a:ext>
            </a:extLst>
          </p:cNvPr>
          <p:cNvSpPr txBox="1"/>
          <p:nvPr/>
        </p:nvSpPr>
        <p:spPr>
          <a:xfrm>
            <a:off x="825500" y="2794000"/>
            <a:ext cx="2667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300">
                <a:solidFill>
                  <a:srgbClr val="172033"/>
                </a:solidFill>
                <a:latin typeface="Aptos"/>
              </a:rPr>
              <a:t>El cambio llega al servidor únicamente al seleccionar Guardar.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E9CDEC3-ADF5-4E5D-A217-8B3C80A6E817}"/>
              </a:ext>
            </a:extLst>
          </p:cNvPr>
          <p:cNvSpPr/>
          <p:nvPr/>
        </p:nvSpPr>
        <p:spPr>
          <a:xfrm>
            <a:off x="4445000" y="1905000"/>
            <a:ext cx="3302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C9DF4F-A6B5-4D90-9087-5E8BC1E83E92}"/>
              </a:ext>
            </a:extLst>
          </p:cNvPr>
          <p:cNvSpPr txBox="1"/>
          <p:nvPr/>
        </p:nvSpPr>
        <p:spPr>
          <a:xfrm>
            <a:off x="4699000" y="2159000"/>
            <a:ext cx="444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200" b="1">
                <a:solidFill>
                  <a:srgbClr val="1E5799"/>
                </a:solidFill>
                <a:latin typeface="Aptos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53CD46-79C0-4B90-B6CD-F70FA6CCD34E}"/>
              </a:ext>
            </a:extLst>
          </p:cNvPr>
          <p:cNvSpPr txBox="1"/>
          <p:nvPr/>
        </p:nvSpPr>
        <p:spPr>
          <a:xfrm>
            <a:off x="5270500" y="2209800"/>
            <a:ext cx="203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 b="1">
                <a:solidFill>
                  <a:srgbClr val="0B2F5B"/>
                </a:solidFill>
                <a:latin typeface="Aptos"/>
              </a:rPr>
              <a:t>Refrescar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E344B8-0D81-477F-A7CA-47BE03331C0D}"/>
              </a:ext>
            </a:extLst>
          </p:cNvPr>
          <p:cNvSpPr txBox="1"/>
          <p:nvPr/>
        </p:nvSpPr>
        <p:spPr>
          <a:xfrm>
            <a:off x="4699000" y="2794000"/>
            <a:ext cx="2667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300">
                <a:solidFill>
                  <a:srgbClr val="172033"/>
                </a:solidFill>
                <a:latin typeface="Aptos"/>
              </a:rPr>
              <a:t>El listado consulta silenciosamente nuevos datos aproximadamente cada 15 segundos.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EA6A699-EDE2-4EBE-BCF2-668D6BE95327}"/>
              </a:ext>
            </a:extLst>
          </p:cNvPr>
          <p:cNvSpPr/>
          <p:nvPr/>
        </p:nvSpPr>
        <p:spPr>
          <a:xfrm>
            <a:off x="8318500" y="1905000"/>
            <a:ext cx="3302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917283-2161-406A-B7E0-41C5B12A3FBE}"/>
              </a:ext>
            </a:extLst>
          </p:cNvPr>
          <p:cNvSpPr txBox="1"/>
          <p:nvPr/>
        </p:nvSpPr>
        <p:spPr>
          <a:xfrm>
            <a:off x="8572500" y="2159000"/>
            <a:ext cx="4445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200" b="1">
                <a:solidFill>
                  <a:srgbClr val="1E5799"/>
                </a:solidFill>
                <a:latin typeface="Aptos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CB34EE-31CE-4E59-B239-B3B3F00E6B02}"/>
              </a:ext>
            </a:extLst>
          </p:cNvPr>
          <p:cNvSpPr txBox="1"/>
          <p:nvPr/>
        </p:nvSpPr>
        <p:spPr>
          <a:xfrm>
            <a:off x="9144000" y="2209800"/>
            <a:ext cx="215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600" b="1">
                <a:solidFill>
                  <a:srgbClr val="0B2F5B"/>
                </a:solidFill>
                <a:latin typeface="Aptos"/>
              </a:rPr>
              <a:t>Evitar conflictos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CCC0F6-EDA3-4319-88D4-0C798F6BF93B}"/>
              </a:ext>
            </a:extLst>
          </p:cNvPr>
          <p:cNvSpPr txBox="1"/>
          <p:nvPr/>
        </p:nvSpPr>
        <p:spPr>
          <a:xfrm>
            <a:off x="8572500" y="2794000"/>
            <a:ext cx="2667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300">
                <a:solidFill>
                  <a:srgbClr val="172033"/>
                </a:solidFill>
                <a:latin typeface="Aptos"/>
              </a:rPr>
              <a:t>Dos formularios abiertos no se fusionan. Actualiza antes de editar el mismo registro.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DCC8BE8-2DD5-4C14-B599-699BC90EB44C}"/>
              </a:ext>
            </a:extLst>
          </p:cNvPr>
          <p:cNvSpPr/>
          <p:nvPr/>
        </p:nvSpPr>
        <p:spPr>
          <a:xfrm>
            <a:off x="571500" y="4953000"/>
            <a:ext cx="11049000" cy="889000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E7C5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641859-1937-49D6-BCF8-969C9BA66642}"/>
              </a:ext>
            </a:extLst>
          </p:cNvPr>
          <p:cNvSpPr txBox="1"/>
          <p:nvPr/>
        </p:nvSpPr>
        <p:spPr>
          <a:xfrm>
            <a:off x="889000" y="5257800"/>
            <a:ext cx="1041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300" b="1">
                <a:solidFill>
                  <a:srgbClr val="172033"/>
                </a:solidFill>
                <a:latin typeface="Aptos"/>
              </a:rPr>
              <a:t>Recomendación: si otra persona trabaja en el mismo reporte, coordinen quién lo edita y vuelve a guardar.</a:t>
            </a:r>
          </a:p>
        </p:txBody>
      </p:sp>
    </p:spTree>
    <p:extLst>
      <p:ext uri="{BB962C8B-B14F-4D97-AF65-F5344CB8AC3E}">
        <p14:creationId xmlns:p14="http://schemas.microsoft.com/office/powerpoint/2010/main" val="446067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C3F4A0-F9F7-4E31-B503-C2381FD0A00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6FB82-1D43-4B89-BD23-6CCA753E977B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06BBC9-EAF8-45C4-95CD-9BD288DD1F8B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REPORTES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AB51F-0310-4BB9-BD16-44F43E8F26CB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0F5FF281-4CD3-4856-85BD-FB8A77E0564A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DA87A-5334-4FCE-9F30-042CAB1ED46A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04C3F-00B5-421E-A291-9EEB9C642969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5. Acciones del listado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3FB40-A550-436D-B948-BA394F55C7BC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 dirty="0">
                <a:solidFill>
                  <a:srgbClr val="5D6B82"/>
                </a:solidFill>
                <a:latin typeface="Aptos"/>
              </a:rPr>
              <a:t>Cada fila concentra consulta, edición, eliminación, imágenes y revisión.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9FC817-5078-43A5-ACF6-2E818B63EADC}"/>
              </a:ext>
            </a:extLst>
          </p:cNvPr>
          <p:cNvSpPr/>
          <p:nvPr/>
        </p:nvSpPr>
        <p:spPr>
          <a:xfrm>
            <a:off x="533400" y="1841500"/>
            <a:ext cx="11112500" cy="111760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1CF23B-FB80-4049-A771-A01576F96C26}"/>
              </a:ext>
            </a:extLst>
          </p:cNvPr>
          <p:cNvSpPr/>
          <p:nvPr/>
        </p:nvSpPr>
        <p:spPr>
          <a:xfrm>
            <a:off x="812800" y="22098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4C7817-CCE1-42BA-8C98-7B0E8382FA9A}"/>
              </a:ext>
            </a:extLst>
          </p:cNvPr>
          <p:cNvSpPr txBox="1"/>
          <p:nvPr/>
        </p:nvSpPr>
        <p:spPr>
          <a:xfrm>
            <a:off x="825500" y="22606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35F342-D074-44FC-9C6C-3FCDD0A5D80B}"/>
              </a:ext>
            </a:extLst>
          </p:cNvPr>
          <p:cNvSpPr txBox="1"/>
          <p:nvPr/>
        </p:nvSpPr>
        <p:spPr>
          <a:xfrm>
            <a:off x="1219200" y="2159000"/>
            <a:ext cx="1714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Ver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8AF5282-6099-45B7-985A-A22E66A1966A}"/>
              </a:ext>
            </a:extLst>
          </p:cNvPr>
          <p:cNvSpPr/>
          <p:nvPr/>
        </p:nvSpPr>
        <p:spPr>
          <a:xfrm>
            <a:off x="2908300" y="22098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649305-8EAF-4CB1-8DA7-ECE9C1340685}"/>
              </a:ext>
            </a:extLst>
          </p:cNvPr>
          <p:cNvSpPr txBox="1"/>
          <p:nvPr/>
        </p:nvSpPr>
        <p:spPr>
          <a:xfrm>
            <a:off x="2921000" y="22606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1374D2-4761-4F3A-A413-01F2B25F1FEF}"/>
              </a:ext>
            </a:extLst>
          </p:cNvPr>
          <p:cNvSpPr txBox="1"/>
          <p:nvPr/>
        </p:nvSpPr>
        <p:spPr>
          <a:xfrm>
            <a:off x="3314700" y="2159000"/>
            <a:ext cx="1714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Editar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43F35BE-292D-4BE5-B8B3-86E7AAB57F61}"/>
              </a:ext>
            </a:extLst>
          </p:cNvPr>
          <p:cNvSpPr/>
          <p:nvPr/>
        </p:nvSpPr>
        <p:spPr>
          <a:xfrm>
            <a:off x="5003800" y="22098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F373AC-FA28-4340-BC95-90FC0F23D22A}"/>
              </a:ext>
            </a:extLst>
          </p:cNvPr>
          <p:cNvSpPr txBox="1"/>
          <p:nvPr/>
        </p:nvSpPr>
        <p:spPr>
          <a:xfrm>
            <a:off x="5016500" y="22606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DE6441-732B-4311-9684-13EDC107FD47}"/>
              </a:ext>
            </a:extLst>
          </p:cNvPr>
          <p:cNvSpPr txBox="1"/>
          <p:nvPr/>
        </p:nvSpPr>
        <p:spPr>
          <a:xfrm>
            <a:off x="5410200" y="2159000"/>
            <a:ext cx="1714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Eliminar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D18A50E-B55D-4578-90C9-89184CF793DD}"/>
              </a:ext>
            </a:extLst>
          </p:cNvPr>
          <p:cNvSpPr/>
          <p:nvPr/>
        </p:nvSpPr>
        <p:spPr>
          <a:xfrm>
            <a:off x="6533437" y="2177449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5BEBBA-F956-43F5-A935-BD3258B4BB96}"/>
              </a:ext>
            </a:extLst>
          </p:cNvPr>
          <p:cNvSpPr txBox="1"/>
          <p:nvPr/>
        </p:nvSpPr>
        <p:spPr>
          <a:xfrm>
            <a:off x="6546137" y="2228249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C94AA1-E347-46AE-A7B0-F3919EBA14D8}"/>
              </a:ext>
            </a:extLst>
          </p:cNvPr>
          <p:cNvSpPr txBox="1"/>
          <p:nvPr/>
        </p:nvSpPr>
        <p:spPr>
          <a:xfrm>
            <a:off x="7082398" y="2159000"/>
            <a:ext cx="1714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Doble clic: marcar revisión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D9271C6-FAB3-484F-8611-44BD6A6325EC}"/>
              </a:ext>
            </a:extLst>
          </p:cNvPr>
          <p:cNvSpPr/>
          <p:nvPr/>
        </p:nvSpPr>
        <p:spPr>
          <a:xfrm>
            <a:off x="9194800" y="22098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5864E1-8CC1-44B0-9BDF-4BADAAAFCB42}"/>
              </a:ext>
            </a:extLst>
          </p:cNvPr>
          <p:cNvSpPr txBox="1"/>
          <p:nvPr/>
        </p:nvSpPr>
        <p:spPr>
          <a:xfrm>
            <a:off x="9207500" y="22606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DF98FE-E89F-459E-B522-BD37DA246BF0}"/>
              </a:ext>
            </a:extLst>
          </p:cNvPr>
          <p:cNvSpPr txBox="1"/>
          <p:nvPr/>
        </p:nvSpPr>
        <p:spPr>
          <a:xfrm>
            <a:off x="9601200" y="2159000"/>
            <a:ext cx="1714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Carrusel: navegar imágenes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BD551C-3A83-4C4F-BBE7-E9146AB41517}"/>
              </a:ext>
            </a:extLst>
          </p:cNvPr>
          <p:cNvSpPr txBox="1"/>
          <p:nvPr/>
        </p:nvSpPr>
        <p:spPr>
          <a:xfrm>
            <a:off x="762000" y="3429000"/>
            <a:ext cx="10604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>
                <a:solidFill>
                  <a:srgbClr val="172033"/>
                </a:solidFill>
                <a:latin typeface="Aptos"/>
              </a:rPr>
              <a:t>La fila amarilla indica que el registro quedó marcado para revisión. El estado se guarda en la base de datos y no se pierde al refrescar.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D0CF8D8-4EAC-45BC-B773-3679A9376F22}"/>
              </a:ext>
            </a:extLst>
          </p:cNvPr>
          <p:cNvSpPr/>
          <p:nvPr/>
        </p:nvSpPr>
        <p:spPr>
          <a:xfrm>
            <a:off x="762000" y="4381500"/>
            <a:ext cx="10604500" cy="889000"/>
          </a:xfrm>
          <a:prstGeom prst="roundRect">
            <a:avLst/>
          </a:prstGeom>
          <a:solidFill>
            <a:srgbClr val="FFF6D8"/>
          </a:solidFill>
          <a:ln w="12700">
            <a:solidFill>
              <a:srgbClr val="E7C5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B7950C-906B-45F0-BEB4-C8804FA01FBC}"/>
              </a:ext>
            </a:extLst>
          </p:cNvPr>
          <p:cNvSpPr txBox="1"/>
          <p:nvPr/>
        </p:nvSpPr>
        <p:spPr>
          <a:xfrm>
            <a:off x="1041400" y="4622800"/>
            <a:ext cx="114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 b="1">
                <a:solidFill>
                  <a:srgbClr val="8A5B00"/>
                </a:solidFill>
                <a:latin typeface="Aptos"/>
              </a:rPr>
              <a:t>Consejo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48EBB2-9460-4F9F-BEC5-6DA7E2283583}"/>
              </a:ext>
            </a:extLst>
          </p:cNvPr>
          <p:cNvSpPr txBox="1"/>
          <p:nvPr/>
        </p:nvSpPr>
        <p:spPr>
          <a:xfrm>
            <a:off x="2159000" y="4572000"/>
            <a:ext cx="876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Antes de eliminar, el sistema muestra una confirmación bloqueante. ESC cancela; confirma solo cuando estés seguro.</a:t>
            </a:r>
          </a:p>
        </p:txBody>
      </p:sp>
      <p:pic>
        <p:nvPicPr>
          <p:cNvPr id="31" name="Picture 30" descr="Captura de KittyHP en la diapositiva 10.">
            <a:extLst>
              <a:ext uri="{FF2B5EF4-FFF2-40B4-BE49-F238E27FC236}">
                <a16:creationId xmlns:a16="http://schemas.microsoft.com/office/drawing/2014/main" id="{FD036610-DF16-400B-9464-C2B2032777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23" r="36892"/>
          <a:stretch/>
        </p:blipFill>
        <p:spPr>
          <a:xfrm>
            <a:off x="2640471" y="2044962"/>
            <a:ext cx="591605" cy="677040"/>
          </a:xfrm>
          <a:prstGeom prst="rect">
            <a:avLst/>
          </a:prstGeom>
        </p:spPr>
      </p:pic>
      <p:pic>
        <p:nvPicPr>
          <p:cNvPr id="32" name="Picture 31" descr="Captura de KittyHP en la diapositiva 10.">
            <a:extLst>
              <a:ext uri="{FF2B5EF4-FFF2-40B4-BE49-F238E27FC236}">
                <a16:creationId xmlns:a16="http://schemas.microsoft.com/office/drawing/2014/main" id="{DB07583B-AFCD-4B7B-90BC-B58DB9B14C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7284"/>
          <a:stretch/>
        </p:blipFill>
        <p:spPr>
          <a:xfrm>
            <a:off x="580497" y="2065982"/>
            <a:ext cx="591605" cy="635000"/>
          </a:xfrm>
          <a:prstGeom prst="rect">
            <a:avLst/>
          </a:prstGeom>
        </p:spPr>
      </p:pic>
      <p:pic>
        <p:nvPicPr>
          <p:cNvPr id="33" name="Picture 32" descr="Captura de KittyHP en la diapositiva 10.">
            <a:extLst>
              <a:ext uri="{FF2B5EF4-FFF2-40B4-BE49-F238E27FC236}">
                <a16:creationId xmlns:a16="http://schemas.microsoft.com/office/drawing/2014/main" id="{53515CDC-AB01-40C4-9DB7-2ED05BE8B6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374" r="5104"/>
          <a:stretch/>
        </p:blipFill>
        <p:spPr>
          <a:xfrm>
            <a:off x="4744968" y="2051741"/>
            <a:ext cx="591605" cy="659051"/>
          </a:xfrm>
          <a:prstGeom prst="rect">
            <a:avLst/>
          </a:prstGeom>
        </p:spPr>
      </p:pic>
      <p:pic>
        <p:nvPicPr>
          <p:cNvPr id="35" name="Picture 34" descr="Captura de KittyHP en la diapositiva 10.">
            <a:extLst>
              <a:ext uri="{FF2B5EF4-FFF2-40B4-BE49-F238E27FC236}">
                <a16:creationId xmlns:a16="http://schemas.microsoft.com/office/drawing/2014/main" id="{68C8BDEB-BB4C-4470-B000-0AE3F7663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1629" y="2032392"/>
            <a:ext cx="929900" cy="674055"/>
          </a:xfrm>
          <a:prstGeom prst="rect">
            <a:avLst/>
          </a:prstGeom>
        </p:spPr>
      </p:pic>
      <p:pic>
        <p:nvPicPr>
          <p:cNvPr id="37" name="Picture 36" descr="Captura de KittyHP en la diapositiva 10.">
            <a:extLst>
              <a:ext uri="{FF2B5EF4-FFF2-40B4-BE49-F238E27FC236}">
                <a16:creationId xmlns:a16="http://schemas.microsoft.com/office/drawing/2014/main" id="{6EF04936-F601-4845-A5F7-55A47B62E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3766" y="2044962"/>
            <a:ext cx="712432" cy="657205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01ACB65-3C17-475B-870A-E2AB07986891}"/>
              </a:ext>
            </a:extLst>
          </p:cNvPr>
          <p:cNvSpPr/>
          <p:nvPr/>
        </p:nvSpPr>
        <p:spPr>
          <a:xfrm>
            <a:off x="8610600" y="2082800"/>
            <a:ext cx="965200" cy="63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318961F-856A-4667-82B1-784CE6B8A145}"/>
              </a:ext>
            </a:extLst>
          </p:cNvPr>
          <p:cNvSpPr/>
          <p:nvPr/>
        </p:nvSpPr>
        <p:spPr>
          <a:xfrm>
            <a:off x="8851900" y="2146300"/>
            <a:ext cx="482600" cy="46990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7755C5-24CE-45C8-97DE-FCAA0214211E}"/>
              </a:ext>
            </a:extLst>
          </p:cNvPr>
          <p:cNvSpPr txBox="1"/>
          <p:nvPr/>
        </p:nvSpPr>
        <p:spPr>
          <a:xfrm>
            <a:off x="8674100" y="2273300"/>
            <a:ext cx="15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1E5799"/>
                </a:solidFill>
                <a:latin typeface="Aptos"/>
              </a:rPr>
              <a:t>‹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C7D183-C807-47E1-B5A8-E1B17B44A27E}"/>
              </a:ext>
            </a:extLst>
          </p:cNvPr>
          <p:cNvSpPr txBox="1"/>
          <p:nvPr/>
        </p:nvSpPr>
        <p:spPr>
          <a:xfrm>
            <a:off x="9385300" y="2273300"/>
            <a:ext cx="15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1E5799"/>
                </a:solidFill>
                <a:latin typeface="Aptos"/>
              </a:rPr>
              <a:t>›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76BB670-5938-464F-8E58-68AE6BB341F8}"/>
              </a:ext>
            </a:extLst>
          </p:cNvPr>
          <p:cNvSpPr/>
          <p:nvPr/>
        </p:nvSpPr>
        <p:spPr>
          <a:xfrm>
            <a:off x="9093200" y="2463800"/>
            <a:ext cx="292100" cy="190500"/>
          </a:xfrm>
          <a:prstGeom prst="roundRect">
            <a:avLst/>
          </a:prstGeom>
          <a:solidFill>
            <a:srgbClr val="1720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CEDB1B-C4F8-4475-9515-176CE24148F1}"/>
              </a:ext>
            </a:extLst>
          </p:cNvPr>
          <p:cNvSpPr txBox="1"/>
          <p:nvPr/>
        </p:nvSpPr>
        <p:spPr>
          <a:xfrm>
            <a:off x="9118600" y="2501900"/>
            <a:ext cx="2413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700" b="1">
                <a:solidFill>
                  <a:srgbClr val="FFFFFF"/>
                </a:solidFill>
                <a:latin typeface="Aptos"/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2825973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C3F4A0-F9F7-4E31-B503-C2381FD0A00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6FB82-1D43-4B89-BD23-6CCA753E977B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06BBC9-EAF8-45C4-95CD-9BD288DD1F8B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REPORTES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6AB51F-0310-4BB9-BD16-44F43E8F26CB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0F5FF281-4CD3-4856-85BD-FB8A77E0564A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DA87A-5334-4FCE-9F30-042CAB1ED46A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11</a:t>
            </a:r>
            <a:endParaRPr lang="es-MX" sz="800" b="1" dirty="0">
              <a:solidFill>
                <a:srgbClr val="5D6B82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04C3F-00B5-421E-A291-9EEB9C642969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 dirty="0">
                <a:solidFill>
                  <a:srgbClr val="0B2F5B"/>
                </a:solidFill>
                <a:latin typeface="Aptos"/>
              </a:rPr>
              <a:t>6. Paginación del listado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3FB40-A550-436D-B948-BA394F55C7BC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 dirty="0">
                <a:solidFill>
                  <a:srgbClr val="5D6B82"/>
                </a:solidFill>
                <a:latin typeface="Aptos"/>
              </a:rPr>
              <a:t>Al final hay una serie de botones para poder navegar entre el listado.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9FC817-5078-43A5-ACF6-2E818B63EADC}"/>
              </a:ext>
            </a:extLst>
          </p:cNvPr>
          <p:cNvSpPr/>
          <p:nvPr/>
        </p:nvSpPr>
        <p:spPr>
          <a:xfrm>
            <a:off x="533400" y="1841500"/>
            <a:ext cx="11112500" cy="111760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1CF23B-FB80-4049-A771-A01576F96C26}"/>
              </a:ext>
            </a:extLst>
          </p:cNvPr>
          <p:cNvSpPr/>
          <p:nvPr/>
        </p:nvSpPr>
        <p:spPr>
          <a:xfrm>
            <a:off x="812800" y="22098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4C7817-CCE1-42BA-8C98-7B0E8382FA9A}"/>
              </a:ext>
            </a:extLst>
          </p:cNvPr>
          <p:cNvSpPr txBox="1"/>
          <p:nvPr/>
        </p:nvSpPr>
        <p:spPr>
          <a:xfrm>
            <a:off x="825500" y="22606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35F342-D074-44FC-9C6C-3FCDD0A5D80B}"/>
              </a:ext>
            </a:extLst>
          </p:cNvPr>
          <p:cNvSpPr txBox="1"/>
          <p:nvPr/>
        </p:nvSpPr>
        <p:spPr>
          <a:xfrm>
            <a:off x="1231900" y="2255542"/>
            <a:ext cx="1714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172033"/>
                </a:solidFill>
                <a:latin typeface="Aptos"/>
              </a:rPr>
              <a:t>Número de filas por página</a:t>
            </a:r>
            <a:endParaRPr lang="es-MX" sz="1000"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43F35BE-292D-4BE5-B8B3-86E7AAB57F61}"/>
              </a:ext>
            </a:extLst>
          </p:cNvPr>
          <p:cNvSpPr/>
          <p:nvPr/>
        </p:nvSpPr>
        <p:spPr>
          <a:xfrm>
            <a:off x="5003800" y="22098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F373AC-FA28-4340-BC95-90FC0F23D22A}"/>
              </a:ext>
            </a:extLst>
          </p:cNvPr>
          <p:cNvSpPr txBox="1"/>
          <p:nvPr/>
        </p:nvSpPr>
        <p:spPr>
          <a:xfrm>
            <a:off x="5016500" y="22606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 b="1" dirty="0">
                <a:solidFill>
                  <a:srgbClr val="0B2F5B"/>
                </a:solidFill>
                <a:latin typeface="Aptos"/>
              </a:rPr>
              <a:t>2</a:t>
            </a:r>
            <a:endParaRPr lang="es-MX" sz="1100" b="1" dirty="0">
              <a:solidFill>
                <a:srgbClr val="0B2F5B"/>
              </a:solidFill>
              <a:latin typeface="Apto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DE6441-732B-4311-9684-13EDC107FD47}"/>
              </a:ext>
            </a:extLst>
          </p:cNvPr>
          <p:cNvSpPr txBox="1"/>
          <p:nvPr/>
        </p:nvSpPr>
        <p:spPr>
          <a:xfrm>
            <a:off x="5420179" y="2215891"/>
            <a:ext cx="1714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Navegar entre páginas</a:t>
            </a:r>
            <a:endParaRPr lang="es-MX" sz="1000"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D9271C6-FAB3-484F-8611-44BD6A6325EC}"/>
              </a:ext>
            </a:extLst>
          </p:cNvPr>
          <p:cNvSpPr/>
          <p:nvPr/>
        </p:nvSpPr>
        <p:spPr>
          <a:xfrm>
            <a:off x="9194800" y="22098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5864E1-8CC1-44B0-9BDF-4BADAAAFCB42}"/>
              </a:ext>
            </a:extLst>
          </p:cNvPr>
          <p:cNvSpPr txBox="1"/>
          <p:nvPr/>
        </p:nvSpPr>
        <p:spPr>
          <a:xfrm>
            <a:off x="9207500" y="22606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 b="1" dirty="0">
                <a:solidFill>
                  <a:srgbClr val="0B2F5B"/>
                </a:solidFill>
                <a:latin typeface="Aptos"/>
              </a:rPr>
              <a:t>3</a:t>
            </a:r>
            <a:endParaRPr lang="es-MX" sz="1100" b="1" dirty="0">
              <a:solidFill>
                <a:srgbClr val="0B2F5B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DF98FE-E89F-459E-B522-BD37DA246BF0}"/>
              </a:ext>
            </a:extLst>
          </p:cNvPr>
          <p:cNvSpPr txBox="1"/>
          <p:nvPr/>
        </p:nvSpPr>
        <p:spPr>
          <a:xfrm>
            <a:off x="9588500" y="2255542"/>
            <a:ext cx="1714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Número total de registros</a:t>
            </a:r>
            <a:endParaRPr lang="es-MX" sz="1000" b="1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BD551C-3A83-4C4F-BBE7-E9146AB41517}"/>
              </a:ext>
            </a:extLst>
          </p:cNvPr>
          <p:cNvSpPr txBox="1"/>
          <p:nvPr/>
        </p:nvSpPr>
        <p:spPr>
          <a:xfrm>
            <a:off x="801007" y="3803050"/>
            <a:ext cx="10604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>
                <a:solidFill>
                  <a:srgbClr val="172033"/>
                </a:solidFill>
                <a:latin typeface="Aptos"/>
              </a:rPr>
              <a:t>Los controles se ajustan dinámicamente según el número de registros guardados.</a:t>
            </a:r>
            <a:endParaRPr lang="es-MX" sz="150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D0CF8D8-4EAC-45BC-B773-3679A9376F22}"/>
              </a:ext>
            </a:extLst>
          </p:cNvPr>
          <p:cNvSpPr/>
          <p:nvPr/>
        </p:nvSpPr>
        <p:spPr>
          <a:xfrm>
            <a:off x="762000" y="4381500"/>
            <a:ext cx="10604500" cy="889000"/>
          </a:xfrm>
          <a:prstGeom prst="roundRect">
            <a:avLst/>
          </a:prstGeom>
          <a:solidFill>
            <a:srgbClr val="FFF6D8"/>
          </a:solidFill>
          <a:ln w="12700">
            <a:solidFill>
              <a:srgbClr val="E7C5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B7950C-906B-45F0-BEB4-C8804FA01FBC}"/>
              </a:ext>
            </a:extLst>
          </p:cNvPr>
          <p:cNvSpPr txBox="1"/>
          <p:nvPr/>
        </p:nvSpPr>
        <p:spPr>
          <a:xfrm>
            <a:off x="1041400" y="4622800"/>
            <a:ext cx="114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 b="1">
                <a:solidFill>
                  <a:srgbClr val="8A5B00"/>
                </a:solidFill>
                <a:latin typeface="Aptos"/>
              </a:rPr>
              <a:t>Consejo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48EBB2-9460-4F9F-BEC5-6DA7E2283583}"/>
              </a:ext>
            </a:extLst>
          </p:cNvPr>
          <p:cNvSpPr txBox="1"/>
          <p:nvPr/>
        </p:nvSpPr>
        <p:spPr>
          <a:xfrm>
            <a:off x="1995714" y="4622800"/>
            <a:ext cx="876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Ajusta el número de filas por página de acuerdo con el tamaño de tu pantalla.</a:t>
            </a:r>
            <a:endParaRPr lang="es-MX" sz="1200" dirty="0">
              <a:solidFill>
                <a:srgbClr val="172033"/>
              </a:solidFill>
              <a:latin typeface="Aptos"/>
            </a:endParaRPr>
          </a:p>
        </p:txBody>
      </p:sp>
      <p:pic>
        <p:nvPicPr>
          <p:cNvPr id="38" name="Picture 37" descr="Captura de KittyHP en la diapositiva 11.">
            <a:extLst>
              <a:ext uri="{FF2B5EF4-FFF2-40B4-BE49-F238E27FC236}">
                <a16:creationId xmlns:a16="http://schemas.microsoft.com/office/drawing/2014/main" id="{655593DA-B275-44A2-825E-86E4680A0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37907"/>
            <a:ext cx="11112500" cy="53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453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668862-4586-4AF2-8831-02004EFC611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EBD4EC-A306-4B09-9456-A5D66678E2E4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B3D2C-23A9-46D2-8108-E5AC20B37A99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REPORTES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BD4391-4255-4C79-B55C-68FF3ADBBC81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9B7BE440-FE34-49AC-88A3-D4FF9E870261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B14009-C361-47F5-820D-D1BED2BDDD15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12</a:t>
            </a:r>
            <a:endParaRPr lang="es-MX" sz="800" b="1" dirty="0">
              <a:solidFill>
                <a:srgbClr val="5D6B82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69E90C-6A73-4C69-A39B-6F5D961F7789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 dirty="0">
                <a:solidFill>
                  <a:srgbClr val="0B2F5B"/>
                </a:solidFill>
                <a:latin typeface="Aptos"/>
              </a:rPr>
              <a:t>7. Crear un reporte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9F7313-9B49-43D4-B0C6-747850348A76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Los campos pueden completarse según la información disponible.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323C6E5-CAB7-490E-83C5-C287E6228937}"/>
              </a:ext>
            </a:extLst>
          </p:cNvPr>
          <p:cNvSpPr/>
          <p:nvPr/>
        </p:nvSpPr>
        <p:spPr>
          <a:xfrm>
            <a:off x="533400" y="1892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37E475-E4BE-4FC3-818E-6BF3A5C08ADE}"/>
              </a:ext>
            </a:extLst>
          </p:cNvPr>
          <p:cNvSpPr txBox="1"/>
          <p:nvPr/>
        </p:nvSpPr>
        <p:spPr>
          <a:xfrm>
            <a:off x="762000" y="1841500"/>
            <a:ext cx="266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172033"/>
                </a:solidFill>
                <a:latin typeface="Aptos"/>
              </a:rPr>
              <a:t>Selecciona Family, Top Issue, Category y Major Part.</a:t>
            </a:r>
            <a:endParaRPr lang="es-MX" sz="120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097DD8-A04E-4A39-9BDF-917151CB96AC}"/>
              </a:ext>
            </a:extLst>
          </p:cNvPr>
          <p:cNvSpPr/>
          <p:nvPr/>
        </p:nvSpPr>
        <p:spPr>
          <a:xfrm>
            <a:off x="533400" y="2590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9680F0-8EA6-4B09-A5A2-E52F0A80DFAE}"/>
              </a:ext>
            </a:extLst>
          </p:cNvPr>
          <p:cNvSpPr txBox="1"/>
          <p:nvPr/>
        </p:nvSpPr>
        <p:spPr>
          <a:xfrm>
            <a:off x="762000" y="2540000"/>
            <a:ext cx="266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Captura cantidades; F/R se calcula con Failure ÷ Build.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2163A9-09ED-41CD-9C91-97FAA4C6EF8E}"/>
              </a:ext>
            </a:extLst>
          </p:cNvPr>
          <p:cNvSpPr/>
          <p:nvPr/>
        </p:nvSpPr>
        <p:spPr>
          <a:xfrm>
            <a:off x="533400" y="3289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2A7E22-970D-4D56-91DF-B35598DB8615}"/>
              </a:ext>
            </a:extLst>
          </p:cNvPr>
          <p:cNvSpPr txBox="1"/>
          <p:nvPr/>
        </p:nvSpPr>
        <p:spPr>
          <a:xfrm>
            <a:off x="762000" y="3238500"/>
            <a:ext cx="266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Return puede operarse en modo manual o automático.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3DBFBF-596C-40AD-9214-AF07ED353953}"/>
              </a:ext>
            </a:extLst>
          </p:cNvPr>
          <p:cNvSpPr/>
          <p:nvPr/>
        </p:nvSpPr>
        <p:spPr>
          <a:xfrm>
            <a:off x="533400" y="3987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688299-692D-4F3A-8F05-97698F88E9A3}"/>
              </a:ext>
            </a:extLst>
          </p:cNvPr>
          <p:cNvSpPr txBox="1"/>
          <p:nvPr/>
        </p:nvSpPr>
        <p:spPr>
          <a:xfrm>
            <a:off x="762000" y="39370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Guarda desde el encabezado fijo.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A469AB2-F2F6-447C-8651-E71F15E18CB8}"/>
              </a:ext>
            </a:extLst>
          </p:cNvPr>
          <p:cNvSpPr/>
          <p:nvPr/>
        </p:nvSpPr>
        <p:spPr>
          <a:xfrm>
            <a:off x="3429000" y="1612900"/>
            <a:ext cx="8382000" cy="477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0" name="Picture 19" descr="Captura de KittyHP en la diapositiva 12.">
            <a:extLst>
              <a:ext uri="{FF2B5EF4-FFF2-40B4-BE49-F238E27FC236}">
                <a16:creationId xmlns:a16="http://schemas.microsoft.com/office/drawing/2014/main" id="{0F22AA23-640D-403A-8E93-9985E19B7F4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0" y="1676400"/>
            <a:ext cx="8255000" cy="46482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AB144468-BC1A-41CE-B117-F4F373AB33DF}"/>
              </a:ext>
            </a:extLst>
          </p:cNvPr>
          <p:cNvSpPr/>
          <p:nvPr/>
        </p:nvSpPr>
        <p:spPr>
          <a:xfrm>
            <a:off x="9669236" y="1588016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2C18BD-A279-4BAC-90F7-E1EBB281B4C8}"/>
              </a:ext>
            </a:extLst>
          </p:cNvPr>
          <p:cNvSpPr txBox="1"/>
          <p:nvPr/>
        </p:nvSpPr>
        <p:spPr>
          <a:xfrm>
            <a:off x="9681936" y="1638816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 dirty="0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E0DEFF-E63D-4038-98F3-DA585455AA1D}"/>
              </a:ext>
            </a:extLst>
          </p:cNvPr>
          <p:cNvSpPr txBox="1"/>
          <p:nvPr/>
        </p:nvSpPr>
        <p:spPr>
          <a:xfrm>
            <a:off x="8801100" y="1676400"/>
            <a:ext cx="1397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Guardar reporte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F916F97-DDA1-4743-BBE5-F04A5431FA5E}"/>
              </a:ext>
            </a:extLst>
          </p:cNvPr>
          <p:cNvCxnSpPr>
            <a:cxnSpLocks/>
          </p:cNvCxnSpPr>
          <p:nvPr/>
        </p:nvCxnSpPr>
        <p:spPr>
          <a:xfrm>
            <a:off x="9999436" y="1773138"/>
            <a:ext cx="795564" cy="233462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502AF07-CFF3-4580-BA68-A10EDE6E02B1}"/>
              </a:ext>
            </a:extLst>
          </p:cNvPr>
          <p:cNvSpPr/>
          <p:nvPr/>
        </p:nvSpPr>
        <p:spPr>
          <a:xfrm>
            <a:off x="9042400" y="34036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AEA8CE-3CBC-42FE-9D08-605CF67DABDB}"/>
              </a:ext>
            </a:extLst>
          </p:cNvPr>
          <p:cNvSpPr txBox="1"/>
          <p:nvPr/>
        </p:nvSpPr>
        <p:spPr>
          <a:xfrm>
            <a:off x="9055100" y="34544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699B3C-D658-4A07-AA03-148ACB8F5DF2}"/>
              </a:ext>
            </a:extLst>
          </p:cNvPr>
          <p:cNvSpPr txBox="1"/>
          <p:nvPr/>
        </p:nvSpPr>
        <p:spPr>
          <a:xfrm>
            <a:off x="9415236" y="3517900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Imágenes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E40E3F0-7B76-44DB-97B7-672D9B6C644D}"/>
              </a:ext>
            </a:extLst>
          </p:cNvPr>
          <p:cNvCxnSpPr/>
          <p:nvPr/>
        </p:nvCxnSpPr>
        <p:spPr>
          <a:xfrm flipV="1">
            <a:off x="9271000" y="3238500"/>
            <a:ext cx="1079500" cy="304800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D4A78E5-ECE5-4685-90A6-8954808205E8}"/>
              </a:ext>
            </a:extLst>
          </p:cNvPr>
          <p:cNvSpPr/>
          <p:nvPr/>
        </p:nvSpPr>
        <p:spPr>
          <a:xfrm>
            <a:off x="3492500" y="2298700"/>
            <a:ext cx="8255000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4126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540D7A-6CCC-4635-8CC8-BB828D08D1A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88A52-A34E-481B-82EA-92D7C9D1CD0A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1C596D-152C-40CA-9461-3ED87DAD0556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REPORTES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F7041E-51B6-48E6-9C23-D3DC9AE90E66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E8692532-E03E-4169-946D-7A8247994ED7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60B615-E14A-429E-9316-91BA2E702D93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5D6B82"/>
                </a:solidFill>
                <a:latin typeface="Aptos"/>
              </a:rPr>
              <a:t>13</a:t>
            </a:r>
            <a:endParaRPr lang="es-MX" sz="800" b="1" dirty="0">
              <a:solidFill>
                <a:srgbClr val="5D6B82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FD57B-26AB-4243-98E4-A3A57403993D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 dirty="0">
                <a:solidFill>
                  <a:srgbClr val="0B2F5B"/>
                </a:solidFill>
                <a:latin typeface="Aptos"/>
              </a:rPr>
              <a:t>8. Detalles e imágenes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5521B5-F3A8-46F0-8C88-FCD565FAB4A6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 información de origen permite rastrear las unidades agrupadas.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368CCD-546A-4C2F-AC39-741089E95837}"/>
              </a:ext>
            </a:extLst>
          </p:cNvPr>
          <p:cNvSpPr/>
          <p:nvPr/>
        </p:nvSpPr>
        <p:spPr>
          <a:xfrm>
            <a:off x="3238500" y="1612900"/>
            <a:ext cx="8572500" cy="487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2" name="Picture 11" descr="Captura de KittyHP en la diapositiva 13.">
            <a:extLst>
              <a:ext uri="{FF2B5EF4-FFF2-40B4-BE49-F238E27FC236}">
                <a16:creationId xmlns:a16="http://schemas.microsoft.com/office/drawing/2014/main" id="{77C10035-03AE-403B-A260-2BE500570A3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0" y="1676400"/>
            <a:ext cx="8445500" cy="47498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229D07-D9FD-46AE-9D40-5AB230CCBBAE}"/>
              </a:ext>
            </a:extLst>
          </p:cNvPr>
          <p:cNvSpPr/>
          <p:nvPr/>
        </p:nvSpPr>
        <p:spPr>
          <a:xfrm>
            <a:off x="482600" y="1892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290921-0551-4F5C-83C7-53ABC540399C}"/>
              </a:ext>
            </a:extLst>
          </p:cNvPr>
          <p:cNvSpPr txBox="1"/>
          <p:nvPr/>
        </p:nvSpPr>
        <p:spPr>
          <a:xfrm>
            <a:off x="711200" y="1841500"/>
            <a:ext cx="260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Detalles: Family completa, SN y Remark.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8B03175-268E-4D85-BBB8-81D97DC192F7}"/>
              </a:ext>
            </a:extLst>
          </p:cNvPr>
          <p:cNvSpPr/>
          <p:nvPr/>
        </p:nvSpPr>
        <p:spPr>
          <a:xfrm>
            <a:off x="482600" y="2590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121FDA-D9C4-4689-9C1C-284E020785B6}"/>
              </a:ext>
            </a:extLst>
          </p:cNvPr>
          <p:cNvSpPr txBox="1"/>
          <p:nvPr/>
        </p:nvSpPr>
        <p:spPr>
          <a:xfrm>
            <a:off x="711200" y="2540000"/>
            <a:ext cx="2603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En edición, Category permite reasignar una unidad.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D661B31-4BE0-4611-9EEF-38816D66D4D1}"/>
              </a:ext>
            </a:extLst>
          </p:cNvPr>
          <p:cNvSpPr/>
          <p:nvPr/>
        </p:nvSpPr>
        <p:spPr>
          <a:xfrm>
            <a:off x="482600" y="3289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C82FB8-BE40-4E66-9AB0-6EAA513422D3}"/>
              </a:ext>
            </a:extLst>
          </p:cNvPr>
          <p:cNvSpPr txBox="1"/>
          <p:nvPr/>
        </p:nvSpPr>
        <p:spPr>
          <a:xfrm>
            <a:off x="711200" y="3238500"/>
            <a:ext cx="2603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Hasta 10 Fail Pictures y 10 Evidence por reporte.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F498FD8-1011-4E5C-B661-DA96A97688F1}"/>
              </a:ext>
            </a:extLst>
          </p:cNvPr>
          <p:cNvSpPr/>
          <p:nvPr/>
        </p:nvSpPr>
        <p:spPr>
          <a:xfrm>
            <a:off x="482600" y="3987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9ED5DF-FF90-4ABB-9566-56C35BF12E6E}"/>
              </a:ext>
            </a:extLst>
          </p:cNvPr>
          <p:cNvSpPr txBox="1"/>
          <p:nvPr/>
        </p:nvSpPr>
        <p:spPr>
          <a:xfrm>
            <a:off x="711200" y="3937000"/>
            <a:ext cx="26035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Usa flechas, contador y eliminar en el carrusel.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4A4BB10-B8B7-400F-AB11-D4411A1BA3E0}"/>
              </a:ext>
            </a:extLst>
          </p:cNvPr>
          <p:cNvSpPr/>
          <p:nvPr/>
        </p:nvSpPr>
        <p:spPr>
          <a:xfrm>
            <a:off x="4572000" y="46355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B81531-0ED4-46E3-8B81-720A6CAF5BE1}"/>
              </a:ext>
            </a:extLst>
          </p:cNvPr>
          <p:cNvSpPr txBox="1"/>
          <p:nvPr/>
        </p:nvSpPr>
        <p:spPr>
          <a:xfrm>
            <a:off x="4584700" y="46863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5FC4F6-FBBF-4C92-99C3-916EE5F44A38}"/>
              </a:ext>
            </a:extLst>
          </p:cNvPr>
          <p:cNvSpPr txBox="1"/>
          <p:nvPr/>
        </p:nvSpPr>
        <p:spPr>
          <a:xfrm>
            <a:off x="4978400" y="4635500"/>
            <a:ext cx="152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Tabla Detalles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BF1A73-699A-4150-B8EA-B47276F0B986}"/>
              </a:ext>
            </a:extLst>
          </p:cNvPr>
          <p:cNvCxnSpPr/>
          <p:nvPr/>
        </p:nvCxnSpPr>
        <p:spPr>
          <a:xfrm>
            <a:off x="4749800" y="4953000"/>
            <a:ext cx="1663700" cy="355600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38B15C7-D532-422C-A3D3-ECB21E9E698E}"/>
              </a:ext>
            </a:extLst>
          </p:cNvPr>
          <p:cNvSpPr/>
          <p:nvPr/>
        </p:nvSpPr>
        <p:spPr>
          <a:xfrm>
            <a:off x="3302000" y="2298700"/>
            <a:ext cx="8445500" cy="127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4547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1BC029-28D8-4FD4-B3CB-6A631F59E89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D2AF7-BAD4-47F7-A76E-33B86687F07E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A5405B-AE98-470F-8F18-E180CAB1015B}"/>
              </a:ext>
            </a:extLst>
          </p:cNvPr>
          <p:cNvSpPr txBox="1"/>
          <p:nvPr/>
        </p:nvSpPr>
        <p:spPr>
          <a:xfrm>
            <a:off x="8763000" y="279400"/>
            <a:ext cx="298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IMPORTACIÓN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68778A-6BB0-4585-B4DA-ECCF5CA5B586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BAAAABC4-DCAA-4567-A356-70AB411E389B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5406F1-8D87-425A-8D95-BCA55F38682E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266197-B426-415A-8E96-D31E4A8C72FA}"/>
              </a:ext>
            </a:extLst>
          </p:cNvPr>
          <p:cNvSpPr txBox="1"/>
          <p:nvPr/>
        </p:nvSpPr>
        <p:spPr>
          <a:xfrm>
            <a:off x="431800" y="6604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Antes de importar Excel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3F167D-7338-437D-8077-5046C818CB44}"/>
              </a:ext>
            </a:extLst>
          </p:cNvPr>
          <p:cNvSpPr txBox="1"/>
          <p:nvPr/>
        </p:nvSpPr>
        <p:spPr>
          <a:xfrm>
            <a:off x="444500" y="1193800"/>
            <a:ext cx="1111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Una verificación de 30 segundos evita la mayoría de los rechazos.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CD8C1B-1026-4465-8D5F-8EC53E761D8D}"/>
              </a:ext>
            </a:extLst>
          </p:cNvPr>
          <p:cNvSpPr/>
          <p:nvPr/>
        </p:nvSpPr>
        <p:spPr>
          <a:xfrm>
            <a:off x="698500" y="19304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C6A92B-33EA-4D88-9A23-88857EEFAF02}"/>
              </a:ext>
            </a:extLst>
          </p:cNvPr>
          <p:cNvSpPr txBox="1"/>
          <p:nvPr/>
        </p:nvSpPr>
        <p:spPr>
          <a:xfrm>
            <a:off x="952500" y="1841500"/>
            <a:ext cx="647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400">
                <a:solidFill>
                  <a:srgbClr val="172033"/>
                </a:solidFill>
                <a:latin typeface="Aptos"/>
              </a:rPr>
              <a:t>Usa un archivo .xlsx con el patrón: Reporte MM DD Est.50.xlsx.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BF3F007-077F-47BB-B135-0D051DF79735}"/>
              </a:ext>
            </a:extLst>
          </p:cNvPr>
          <p:cNvSpPr/>
          <p:nvPr/>
        </p:nvSpPr>
        <p:spPr>
          <a:xfrm>
            <a:off x="698500" y="2590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D86527-6EF3-45D3-ADC8-4FA4CE9326B0}"/>
              </a:ext>
            </a:extLst>
          </p:cNvPr>
          <p:cNvSpPr txBox="1"/>
          <p:nvPr/>
        </p:nvSpPr>
        <p:spPr>
          <a:xfrm>
            <a:off x="952500" y="2501900"/>
            <a:ext cx="647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400">
                <a:solidFill>
                  <a:srgbClr val="172033"/>
                </a:solidFill>
                <a:latin typeface="Aptos"/>
              </a:rPr>
              <a:t>Incluye exactamente las hojas Station-50_Fail y Station-50_Input.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C9B209F-BA14-4B1E-A87D-D821C7FAB097}"/>
              </a:ext>
            </a:extLst>
          </p:cNvPr>
          <p:cNvSpPr/>
          <p:nvPr/>
        </p:nvSpPr>
        <p:spPr>
          <a:xfrm>
            <a:off x="698500" y="32512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BE5575-8D36-4A2A-80B3-A40A788EBADB}"/>
              </a:ext>
            </a:extLst>
          </p:cNvPr>
          <p:cNvSpPr txBox="1"/>
          <p:nvPr/>
        </p:nvSpPr>
        <p:spPr>
          <a:xfrm>
            <a:off x="952500" y="3162300"/>
            <a:ext cx="647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400">
                <a:solidFill>
                  <a:srgbClr val="172033"/>
                </a:solidFill>
                <a:latin typeface="Aptos"/>
              </a:rPr>
              <a:t>No renombres encabezados como Family, FailureDescription, Cause o MajorPart.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15A537-52FF-4430-8943-F764CC3376E7}"/>
              </a:ext>
            </a:extLst>
          </p:cNvPr>
          <p:cNvSpPr/>
          <p:nvPr/>
        </p:nvSpPr>
        <p:spPr>
          <a:xfrm>
            <a:off x="698500" y="39116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DCE10D-11C9-47E8-931C-E0ECFE2D3FCE}"/>
              </a:ext>
            </a:extLst>
          </p:cNvPr>
          <p:cNvSpPr txBox="1"/>
          <p:nvPr/>
        </p:nvSpPr>
        <p:spPr>
          <a:xfrm>
            <a:off x="952500" y="3822700"/>
            <a:ext cx="647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400">
                <a:solidFill>
                  <a:srgbClr val="172033"/>
                </a:solidFill>
                <a:latin typeface="Aptos"/>
              </a:rPr>
              <a:t>Cierra el archivo si Excel lo mantiene bloqueado y confirma que no esté dañado.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6FF0C7C-B024-4BC6-B31C-203FB8DCDD04}"/>
              </a:ext>
            </a:extLst>
          </p:cNvPr>
          <p:cNvSpPr/>
          <p:nvPr/>
        </p:nvSpPr>
        <p:spPr>
          <a:xfrm>
            <a:off x="698500" y="45720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572020-F199-477E-ABB3-F785BC936240}"/>
              </a:ext>
            </a:extLst>
          </p:cNvPr>
          <p:cNvSpPr txBox="1"/>
          <p:nvPr/>
        </p:nvSpPr>
        <p:spPr>
          <a:xfrm>
            <a:off x="952500" y="4483100"/>
            <a:ext cx="647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400">
                <a:solidFill>
                  <a:srgbClr val="172033"/>
                </a:solidFill>
                <a:latin typeface="Aptos"/>
              </a:rPr>
              <a:t>Durante el spinner, espera o cancela; no navegues a otra interfaz.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7EEED35-2E6D-4B59-9CCC-65D9AB608D76}"/>
              </a:ext>
            </a:extLst>
          </p:cNvPr>
          <p:cNvSpPr/>
          <p:nvPr/>
        </p:nvSpPr>
        <p:spPr>
          <a:xfrm>
            <a:off x="7747000" y="1905000"/>
            <a:ext cx="3746500" cy="1397000"/>
          </a:xfrm>
          <a:prstGeom prst="roundRect">
            <a:avLst/>
          </a:prstGeom>
          <a:solidFill>
            <a:srgbClr val="E8F7F2"/>
          </a:solidFill>
          <a:ln w="12700">
            <a:solidFill>
              <a:srgbClr val="9FD4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B23422-89FF-4A24-92E0-553776904416}"/>
              </a:ext>
            </a:extLst>
          </p:cNvPr>
          <p:cNvSpPr txBox="1"/>
          <p:nvPr/>
        </p:nvSpPr>
        <p:spPr>
          <a:xfrm>
            <a:off x="8026400" y="2146300"/>
            <a:ext cx="292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300" b="1">
                <a:solidFill>
                  <a:srgbClr val="16836B"/>
                </a:solidFill>
                <a:latin typeface="Aptos"/>
              </a:rPr>
              <a:t>Ejemplo correcto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A623B2-071E-4F20-B3A5-4B50128BF9B0}"/>
              </a:ext>
            </a:extLst>
          </p:cNvPr>
          <p:cNvSpPr txBox="1"/>
          <p:nvPr/>
        </p:nvSpPr>
        <p:spPr>
          <a:xfrm>
            <a:off x="8026400" y="2628900"/>
            <a:ext cx="2984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500" b="1">
                <a:solidFill>
                  <a:srgbClr val="0B2F5B"/>
                </a:solidFill>
                <a:latin typeface="Aptos"/>
              </a:rPr>
              <a:t>Reporte 07 23 Est.50.xlsx</a:t>
            </a:r>
            <a:endParaRPr lang="es-MX" sz="1500" b="1">
              <a:solidFill>
                <a:srgbClr val="0B2F5B"/>
              </a:solidFill>
              <a:latin typeface="Apto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121EBF9-05DC-41E1-AD1E-EB9CA68B91A5}"/>
              </a:ext>
            </a:extLst>
          </p:cNvPr>
          <p:cNvSpPr/>
          <p:nvPr/>
        </p:nvSpPr>
        <p:spPr>
          <a:xfrm>
            <a:off x="7747000" y="3619500"/>
            <a:ext cx="3746500" cy="1397000"/>
          </a:xfrm>
          <a:prstGeom prst="roundRect">
            <a:avLst/>
          </a:prstGeom>
          <a:solidFill>
            <a:srgbClr val="FDECEF"/>
          </a:solidFill>
          <a:ln w="12700">
            <a:solidFill>
              <a:srgbClr val="F3A8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866362-617F-4BCA-A165-D62F429CAE63}"/>
              </a:ext>
            </a:extLst>
          </p:cNvPr>
          <p:cNvSpPr txBox="1"/>
          <p:nvPr/>
        </p:nvSpPr>
        <p:spPr>
          <a:xfrm>
            <a:off x="8026400" y="3860800"/>
            <a:ext cx="292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300" b="1">
                <a:solidFill>
                  <a:srgbClr val="C8243A"/>
                </a:solidFill>
                <a:latin typeface="Aptos"/>
              </a:rPr>
              <a:t>Ejemplo incorrecto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4B7672-088E-49F6-8BC9-0AB8ABF30670}"/>
              </a:ext>
            </a:extLst>
          </p:cNvPr>
          <p:cNvSpPr txBox="1"/>
          <p:nvPr/>
        </p:nvSpPr>
        <p:spPr>
          <a:xfrm>
            <a:off x="8026400" y="4343400"/>
            <a:ext cx="2984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 b="1">
                <a:solidFill>
                  <a:srgbClr val="172033"/>
                </a:solidFill>
                <a:latin typeface="Aptos"/>
              </a:rPr>
              <a:t>Reporte final.xlsx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BC8C3A2-9837-4ED0-A674-D2FBB48A84D4}"/>
              </a:ext>
            </a:extLst>
          </p:cNvPr>
          <p:cNvSpPr/>
          <p:nvPr/>
        </p:nvSpPr>
        <p:spPr>
          <a:xfrm>
            <a:off x="7747000" y="5334000"/>
            <a:ext cx="3746500" cy="76200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14ADC2-8B2F-4BB3-A789-C78055B7033E}"/>
              </a:ext>
            </a:extLst>
          </p:cNvPr>
          <p:cNvSpPr txBox="1"/>
          <p:nvPr/>
        </p:nvSpPr>
        <p:spPr>
          <a:xfrm>
            <a:off x="8001000" y="5588000"/>
            <a:ext cx="323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La fecha queda editable antes de confirmar.</a:t>
            </a:r>
          </a:p>
        </p:txBody>
      </p:sp>
    </p:spTree>
    <p:extLst>
      <p:ext uri="{BB962C8B-B14F-4D97-AF65-F5344CB8AC3E}">
        <p14:creationId xmlns:p14="http://schemas.microsoft.com/office/powerpoint/2010/main" val="3859446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3A74F1-8448-4458-9C63-1137168F9D5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AA786-4AB7-42DC-80D3-C8C5DF4330F7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97316-D5A4-46F6-A28C-B030149A2CCC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IMPORTACIÓN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CEB6C2-1CF9-462D-B8FC-6056C2976137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93D23BC5-9770-4783-B162-F1177ACDC3F2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35FF01-CFAF-4480-B884-ED0DE6E3A087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15</a:t>
            </a:r>
            <a:endParaRPr lang="es-MX" sz="800" b="1" dirty="0">
              <a:solidFill>
                <a:srgbClr val="5D6B82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40D54B-0508-4FE6-AE2A-ECB242BB870E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 dirty="0">
                <a:solidFill>
                  <a:srgbClr val="0B2F5B"/>
                </a:solidFill>
                <a:latin typeface="Aptos"/>
              </a:rPr>
              <a:t>9. Importar un archivo Excel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7A7B09-ACE9-45E0-AA8D-28F2B7655BB8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 importación siempre pasa por una vista previa antes de guardar.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856FF8-3B02-4C20-8834-F481EB8EE1B8}"/>
              </a:ext>
            </a:extLst>
          </p:cNvPr>
          <p:cNvSpPr/>
          <p:nvPr/>
        </p:nvSpPr>
        <p:spPr>
          <a:xfrm>
            <a:off x="533400" y="2095500"/>
            <a:ext cx="19685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7E2C005-01A0-49DC-9665-2C5AEACD7CE6}"/>
              </a:ext>
            </a:extLst>
          </p:cNvPr>
          <p:cNvSpPr/>
          <p:nvPr/>
        </p:nvSpPr>
        <p:spPr>
          <a:xfrm>
            <a:off x="736600" y="2336800"/>
            <a:ext cx="482600" cy="482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E8DCB2-B7CF-4CA8-A974-9AE81F7174DE}"/>
              </a:ext>
            </a:extLst>
          </p:cNvPr>
          <p:cNvSpPr txBox="1"/>
          <p:nvPr/>
        </p:nvSpPr>
        <p:spPr>
          <a:xfrm>
            <a:off x="749300" y="2438400"/>
            <a:ext cx="457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4D19E2-5769-4FED-A5C5-6E1AB356FCCF}"/>
              </a:ext>
            </a:extLst>
          </p:cNvPr>
          <p:cNvSpPr txBox="1"/>
          <p:nvPr/>
        </p:nvSpPr>
        <p:spPr>
          <a:xfrm>
            <a:off x="736600" y="3009900"/>
            <a:ext cx="1587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Seleccionar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8CE5E9-11C9-4946-8B94-9D9646C59716}"/>
              </a:ext>
            </a:extLst>
          </p:cNvPr>
          <p:cNvSpPr txBox="1"/>
          <p:nvPr/>
        </p:nvSpPr>
        <p:spPr>
          <a:xfrm>
            <a:off x="736600" y="3416300"/>
            <a:ext cx="15621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Importar Excel y elegir el archivo.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FE511AF-CE54-4B69-85DD-ABC776C029B7}"/>
              </a:ext>
            </a:extLst>
          </p:cNvPr>
          <p:cNvSpPr/>
          <p:nvPr/>
        </p:nvSpPr>
        <p:spPr>
          <a:xfrm>
            <a:off x="2921000" y="2095500"/>
            <a:ext cx="19685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7209DA0-BB6F-45E2-B3E7-9CE08525D7F5}"/>
              </a:ext>
            </a:extLst>
          </p:cNvPr>
          <p:cNvSpPr/>
          <p:nvPr/>
        </p:nvSpPr>
        <p:spPr>
          <a:xfrm>
            <a:off x="3124200" y="2336800"/>
            <a:ext cx="482600" cy="482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954030-4B85-4A46-A39E-0D62EFD551C0}"/>
              </a:ext>
            </a:extLst>
          </p:cNvPr>
          <p:cNvSpPr txBox="1"/>
          <p:nvPr/>
        </p:nvSpPr>
        <p:spPr>
          <a:xfrm>
            <a:off x="3136900" y="2438400"/>
            <a:ext cx="457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039C8F-2E9D-48D5-93AB-18373DA7D57A}"/>
              </a:ext>
            </a:extLst>
          </p:cNvPr>
          <p:cNvSpPr txBox="1"/>
          <p:nvPr/>
        </p:nvSpPr>
        <p:spPr>
          <a:xfrm>
            <a:off x="3124200" y="3009900"/>
            <a:ext cx="1587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Validar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51615E-8301-448A-B2BE-48C373AFA53C}"/>
              </a:ext>
            </a:extLst>
          </p:cNvPr>
          <p:cNvSpPr txBox="1"/>
          <p:nvPr/>
        </p:nvSpPr>
        <p:spPr>
          <a:xfrm>
            <a:off x="3124200" y="3416300"/>
            <a:ext cx="15621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Pestañas exactas: Station-50_Fail y Station-50_Input.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CDF3D5D-03D8-4785-AE31-FA31E4453928}"/>
              </a:ext>
            </a:extLst>
          </p:cNvPr>
          <p:cNvSpPr/>
          <p:nvPr/>
        </p:nvSpPr>
        <p:spPr>
          <a:xfrm>
            <a:off x="5308600" y="2095500"/>
            <a:ext cx="19685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407641C-887D-40C9-9177-884FA92D50F4}"/>
              </a:ext>
            </a:extLst>
          </p:cNvPr>
          <p:cNvSpPr/>
          <p:nvPr/>
        </p:nvSpPr>
        <p:spPr>
          <a:xfrm>
            <a:off x="5511800" y="2336800"/>
            <a:ext cx="482600" cy="482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108A4B-B3EA-4CFC-A3DB-94BE7D0CF15A}"/>
              </a:ext>
            </a:extLst>
          </p:cNvPr>
          <p:cNvSpPr txBox="1"/>
          <p:nvPr/>
        </p:nvSpPr>
        <p:spPr>
          <a:xfrm>
            <a:off x="5524500" y="2438400"/>
            <a:ext cx="457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0AF15B-EE42-4289-84DB-A37D2E41DD38}"/>
              </a:ext>
            </a:extLst>
          </p:cNvPr>
          <p:cNvSpPr txBox="1"/>
          <p:nvPr/>
        </p:nvSpPr>
        <p:spPr>
          <a:xfrm>
            <a:off x="5511800" y="3009900"/>
            <a:ext cx="1587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Revisar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4E1446-44B4-4DBF-AB44-E5844E0BE2D9}"/>
              </a:ext>
            </a:extLst>
          </p:cNvPr>
          <p:cNvSpPr txBox="1"/>
          <p:nvPr/>
        </p:nvSpPr>
        <p:spPr>
          <a:xfrm>
            <a:off x="5511800" y="3416300"/>
            <a:ext cx="15621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Editar filas, fecha, categorías y partes.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8877AE-DBAE-4E1B-B758-AEF178D65542}"/>
              </a:ext>
            </a:extLst>
          </p:cNvPr>
          <p:cNvSpPr/>
          <p:nvPr/>
        </p:nvSpPr>
        <p:spPr>
          <a:xfrm>
            <a:off x="7696200" y="2095500"/>
            <a:ext cx="19685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008F60B-5F28-4A2A-ABFB-5834EA6B696F}"/>
              </a:ext>
            </a:extLst>
          </p:cNvPr>
          <p:cNvSpPr/>
          <p:nvPr/>
        </p:nvSpPr>
        <p:spPr>
          <a:xfrm>
            <a:off x="7899400" y="2336800"/>
            <a:ext cx="482600" cy="482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C15811-3069-4FB8-B68A-6CC9CC96EA24}"/>
              </a:ext>
            </a:extLst>
          </p:cNvPr>
          <p:cNvSpPr txBox="1"/>
          <p:nvPr/>
        </p:nvSpPr>
        <p:spPr>
          <a:xfrm>
            <a:off x="7912100" y="2438400"/>
            <a:ext cx="457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4DDEFB-853A-4C78-B2E2-643902E4C411}"/>
              </a:ext>
            </a:extLst>
          </p:cNvPr>
          <p:cNvSpPr txBox="1"/>
          <p:nvPr/>
        </p:nvSpPr>
        <p:spPr>
          <a:xfrm>
            <a:off x="7899400" y="3009900"/>
            <a:ext cx="1587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Excluir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042176-67FD-41C4-912A-5F2A900E234B}"/>
              </a:ext>
            </a:extLst>
          </p:cNvPr>
          <p:cNvSpPr txBox="1"/>
          <p:nvPr/>
        </p:nvSpPr>
        <p:spPr>
          <a:xfrm>
            <a:off x="7899400" y="3416300"/>
            <a:ext cx="15621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Aplicar exclusiones o eliminar filas.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C93D46D-4CC7-46B7-84BC-E8DD71D4F71C}"/>
              </a:ext>
            </a:extLst>
          </p:cNvPr>
          <p:cNvSpPr/>
          <p:nvPr/>
        </p:nvSpPr>
        <p:spPr>
          <a:xfrm>
            <a:off x="10083800" y="2095500"/>
            <a:ext cx="19685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F9A792B-6882-42C8-863E-9D0A60FF574E}"/>
              </a:ext>
            </a:extLst>
          </p:cNvPr>
          <p:cNvSpPr/>
          <p:nvPr/>
        </p:nvSpPr>
        <p:spPr>
          <a:xfrm>
            <a:off x="10287000" y="2336800"/>
            <a:ext cx="482600" cy="482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E6EA7C-700B-4C92-8C04-7062205085E4}"/>
              </a:ext>
            </a:extLst>
          </p:cNvPr>
          <p:cNvSpPr txBox="1"/>
          <p:nvPr/>
        </p:nvSpPr>
        <p:spPr>
          <a:xfrm>
            <a:off x="10299700" y="2438400"/>
            <a:ext cx="4572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75744F-0441-47AF-BE97-870F3AAAC7A4}"/>
              </a:ext>
            </a:extLst>
          </p:cNvPr>
          <p:cNvSpPr txBox="1"/>
          <p:nvPr/>
        </p:nvSpPr>
        <p:spPr>
          <a:xfrm>
            <a:off x="10287000" y="3009900"/>
            <a:ext cx="15875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Confirmar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8DA6C4-4F5B-4EF1-9692-7428C0791C2F}"/>
              </a:ext>
            </a:extLst>
          </p:cNvPr>
          <p:cNvSpPr txBox="1"/>
          <p:nvPr/>
        </p:nvSpPr>
        <p:spPr>
          <a:xfrm>
            <a:off x="10287000" y="3416300"/>
            <a:ext cx="15621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Crear o actualizar los registros.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11DC3D0-86AF-474A-ACB1-DBB0CDD5CD1C}"/>
              </a:ext>
            </a:extLst>
          </p:cNvPr>
          <p:cNvSpPr/>
          <p:nvPr/>
        </p:nvSpPr>
        <p:spPr>
          <a:xfrm>
            <a:off x="533400" y="4699000"/>
            <a:ext cx="11518900" cy="1092200"/>
          </a:xfrm>
          <a:prstGeom prst="roundRect">
            <a:avLst/>
          </a:prstGeom>
          <a:solidFill>
            <a:srgbClr val="E8F1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8FC106-B1D3-490C-B4F0-9189AA4C798A}"/>
              </a:ext>
            </a:extLst>
          </p:cNvPr>
          <p:cNvSpPr txBox="1"/>
          <p:nvPr/>
        </p:nvSpPr>
        <p:spPr>
          <a:xfrm>
            <a:off x="787400" y="4927600"/>
            <a:ext cx="190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 b="1">
                <a:solidFill>
                  <a:srgbClr val="1E5799"/>
                </a:solidFill>
                <a:latin typeface="Aptos"/>
              </a:rPr>
              <a:t>Nombre esperado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0B7C11-721E-46D5-9898-5CD8686D5D64}"/>
              </a:ext>
            </a:extLst>
          </p:cNvPr>
          <p:cNvSpPr txBox="1"/>
          <p:nvPr/>
        </p:nvSpPr>
        <p:spPr>
          <a:xfrm>
            <a:off x="2603500" y="4902200"/>
            <a:ext cx="292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r-FR" sz="1600" b="1">
                <a:solidFill>
                  <a:srgbClr val="0B2F5B"/>
                </a:solidFill>
                <a:latin typeface="Aptos"/>
              </a:rPr>
              <a:t>Reporte MM DD Est.50.xlsx</a:t>
            </a:r>
            <a:endParaRPr lang="es-MX" sz="1600" b="1">
              <a:solidFill>
                <a:srgbClr val="0B2F5B"/>
              </a:solidFill>
              <a:latin typeface="Apto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7520E1-8F5A-4A0A-9FA5-DDEEDE937E73}"/>
              </a:ext>
            </a:extLst>
          </p:cNvPr>
          <p:cNvSpPr txBox="1"/>
          <p:nvPr/>
        </p:nvSpPr>
        <p:spPr>
          <a:xfrm>
            <a:off x="787400" y="5334000"/>
            <a:ext cx="10604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La fecha detectada se propone en la vista previa y alimenta Reportes y Overall.</a:t>
            </a:r>
          </a:p>
        </p:txBody>
      </p:sp>
    </p:spTree>
    <p:extLst>
      <p:ext uri="{BB962C8B-B14F-4D97-AF65-F5344CB8AC3E}">
        <p14:creationId xmlns:p14="http://schemas.microsoft.com/office/powerpoint/2010/main" val="475304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2669E5-7AA6-4B44-BE5C-3A78A9F7A2F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D58AD-3C52-42BA-8EB5-4CCA8704CF8F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4FB056-BEFC-4868-9F3C-9986528A68A2}"/>
              </a:ext>
            </a:extLst>
          </p:cNvPr>
          <p:cNvSpPr txBox="1"/>
          <p:nvPr/>
        </p:nvSpPr>
        <p:spPr>
          <a:xfrm>
            <a:off x="8763000" y="279400"/>
            <a:ext cx="298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IMPORTACIÓN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11A4BE-EE83-4139-A0AB-B50840E58284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E9E583B7-101F-4719-95A1-95075BCC966B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22BD2A-B0C2-477C-8CB5-92B117443D07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AF3E79-75C4-429F-BC89-8AD8EF405C29}"/>
              </a:ext>
            </a:extLst>
          </p:cNvPr>
          <p:cNvSpPr txBox="1"/>
          <p:nvPr/>
        </p:nvSpPr>
        <p:spPr>
          <a:xfrm>
            <a:off x="431800" y="6604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De dónde sale cada dato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D025AF-6F7C-4E33-B794-CCD718E6206F}"/>
              </a:ext>
            </a:extLst>
          </p:cNvPr>
          <p:cNvSpPr txBox="1"/>
          <p:nvPr/>
        </p:nvSpPr>
        <p:spPr>
          <a:xfrm>
            <a:off x="444500" y="1193800"/>
            <a:ext cx="1111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Mapeo usado por KittyHP al preparar la vista previa.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777256-348A-40A6-8032-982D3F4494F5}"/>
              </a:ext>
            </a:extLst>
          </p:cNvPr>
          <p:cNvSpPr/>
          <p:nvPr/>
        </p:nvSpPr>
        <p:spPr>
          <a:xfrm>
            <a:off x="508000" y="1778000"/>
            <a:ext cx="3937000" cy="457200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373ABE-67A5-4A05-9870-B07E81058AA9}"/>
              </a:ext>
            </a:extLst>
          </p:cNvPr>
          <p:cNvSpPr txBox="1"/>
          <p:nvPr/>
        </p:nvSpPr>
        <p:spPr>
          <a:xfrm>
            <a:off x="635000" y="1898650"/>
            <a:ext cx="368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 b="1">
                <a:solidFill>
                  <a:srgbClr val="FFFFFF"/>
                </a:solidFill>
                <a:latin typeface="Aptos"/>
              </a:rPr>
              <a:t>Excel / origen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E11383-833B-4A45-96D0-B221792E12A3}"/>
              </a:ext>
            </a:extLst>
          </p:cNvPr>
          <p:cNvSpPr/>
          <p:nvPr/>
        </p:nvSpPr>
        <p:spPr>
          <a:xfrm>
            <a:off x="4445000" y="1778000"/>
            <a:ext cx="3175000" cy="457200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7B99BA-4FA3-4769-9E1E-F9E9F0AE85C7}"/>
              </a:ext>
            </a:extLst>
          </p:cNvPr>
          <p:cNvSpPr txBox="1"/>
          <p:nvPr/>
        </p:nvSpPr>
        <p:spPr>
          <a:xfrm>
            <a:off x="4572000" y="1898650"/>
            <a:ext cx="2921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 b="1">
                <a:solidFill>
                  <a:srgbClr val="FFFFFF"/>
                </a:solidFill>
                <a:latin typeface="Aptos"/>
              </a:rPr>
              <a:t>KittyHP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3DEE06-1BBE-429F-AD7C-B7804A3C75CA}"/>
              </a:ext>
            </a:extLst>
          </p:cNvPr>
          <p:cNvSpPr/>
          <p:nvPr/>
        </p:nvSpPr>
        <p:spPr>
          <a:xfrm>
            <a:off x="7620000" y="1778000"/>
            <a:ext cx="4064000" cy="457200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C8F1D9-1422-4F97-BB99-E2E84F3CAB58}"/>
              </a:ext>
            </a:extLst>
          </p:cNvPr>
          <p:cNvSpPr txBox="1"/>
          <p:nvPr/>
        </p:nvSpPr>
        <p:spPr>
          <a:xfrm>
            <a:off x="7747000" y="189865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 b="1">
                <a:solidFill>
                  <a:srgbClr val="FFFFFF"/>
                </a:solidFill>
                <a:latin typeface="Aptos"/>
              </a:rPr>
              <a:t>Regla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ACA3F1-ECE2-4294-9771-DBFCEDF85F4F}"/>
              </a:ext>
            </a:extLst>
          </p:cNvPr>
          <p:cNvSpPr/>
          <p:nvPr/>
        </p:nvSpPr>
        <p:spPr>
          <a:xfrm>
            <a:off x="508000" y="2235200"/>
            <a:ext cx="3937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814C2A-C828-4B66-A22D-C55A935ECBAF}"/>
              </a:ext>
            </a:extLst>
          </p:cNvPr>
          <p:cNvSpPr txBox="1"/>
          <p:nvPr/>
        </p:nvSpPr>
        <p:spPr>
          <a:xfrm>
            <a:off x="635000" y="2368550"/>
            <a:ext cx="368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00" b="1">
                <a:solidFill>
                  <a:srgbClr val="172033"/>
                </a:solidFill>
                <a:latin typeface="Aptos"/>
              </a:rPr>
              <a:t>Family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A99245-2955-430D-9C06-4404ED4D89F5}"/>
              </a:ext>
            </a:extLst>
          </p:cNvPr>
          <p:cNvSpPr/>
          <p:nvPr/>
        </p:nvSpPr>
        <p:spPr>
          <a:xfrm>
            <a:off x="4445000" y="2235200"/>
            <a:ext cx="3175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EC6FDA-F4A8-438B-8491-DCECB9AD6098}"/>
              </a:ext>
            </a:extLst>
          </p:cNvPr>
          <p:cNvSpPr txBox="1"/>
          <p:nvPr/>
        </p:nvSpPr>
        <p:spPr>
          <a:xfrm>
            <a:off x="4572000" y="2368550"/>
            <a:ext cx="292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00" b="1">
                <a:solidFill>
                  <a:srgbClr val="1E5799"/>
                </a:solidFill>
                <a:latin typeface="Aptos"/>
              </a:rPr>
              <a:t>Family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C75AD0-FDB7-4D33-B806-18D1EAF91F49}"/>
              </a:ext>
            </a:extLst>
          </p:cNvPr>
          <p:cNvSpPr/>
          <p:nvPr/>
        </p:nvSpPr>
        <p:spPr>
          <a:xfrm>
            <a:off x="7620000" y="2235200"/>
            <a:ext cx="4064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B415C7-0C3A-4D8A-8835-9EDA9E6AE204}"/>
              </a:ext>
            </a:extLst>
          </p:cNvPr>
          <p:cNvSpPr txBox="1"/>
          <p:nvPr/>
        </p:nvSpPr>
        <p:spPr>
          <a:xfrm>
            <a:off x="7747000" y="2371725"/>
            <a:ext cx="3810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050">
                <a:solidFill>
                  <a:srgbClr val="172033"/>
                </a:solidFill>
                <a:latin typeface="Aptos"/>
              </a:rPr>
              <a:t>Normaliza el nombre del segmento.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92FEB-7D1A-4E9B-A6A7-AA58D8799797}"/>
              </a:ext>
            </a:extLst>
          </p:cNvPr>
          <p:cNvSpPr/>
          <p:nvPr/>
        </p:nvSpPr>
        <p:spPr>
          <a:xfrm>
            <a:off x="508000" y="2705100"/>
            <a:ext cx="3937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57CEF5-606A-4A64-A6D3-15CCF2FF6FF3}"/>
              </a:ext>
            </a:extLst>
          </p:cNvPr>
          <p:cNvSpPr txBox="1"/>
          <p:nvPr/>
        </p:nvSpPr>
        <p:spPr>
          <a:xfrm>
            <a:off x="635000" y="2838450"/>
            <a:ext cx="368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00" b="1">
                <a:solidFill>
                  <a:srgbClr val="172033"/>
                </a:solidFill>
                <a:latin typeface="Aptos"/>
              </a:rPr>
              <a:t>FailureDescription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30D548-DB63-409D-8F7D-95EE13F3994A}"/>
              </a:ext>
            </a:extLst>
          </p:cNvPr>
          <p:cNvSpPr/>
          <p:nvPr/>
        </p:nvSpPr>
        <p:spPr>
          <a:xfrm>
            <a:off x="4445000" y="2705100"/>
            <a:ext cx="3175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1A5F01-53E2-4CB3-A7B2-F13BDD3C54A1}"/>
              </a:ext>
            </a:extLst>
          </p:cNvPr>
          <p:cNvSpPr txBox="1"/>
          <p:nvPr/>
        </p:nvSpPr>
        <p:spPr>
          <a:xfrm>
            <a:off x="4572000" y="2838450"/>
            <a:ext cx="292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00" b="1">
                <a:solidFill>
                  <a:srgbClr val="1E5799"/>
                </a:solidFill>
                <a:latin typeface="Aptos"/>
              </a:rPr>
              <a:t>Top Issue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149B81-1166-41A7-82B4-9423330F3BF8}"/>
              </a:ext>
            </a:extLst>
          </p:cNvPr>
          <p:cNvSpPr/>
          <p:nvPr/>
        </p:nvSpPr>
        <p:spPr>
          <a:xfrm>
            <a:off x="7620000" y="2705100"/>
            <a:ext cx="4064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24F31C-347D-4A6E-A6EE-914433D9966B}"/>
              </a:ext>
            </a:extLst>
          </p:cNvPr>
          <p:cNvSpPr txBox="1"/>
          <p:nvPr/>
        </p:nvSpPr>
        <p:spPr>
          <a:xfrm>
            <a:off x="7747000" y="2841625"/>
            <a:ext cx="3810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050">
                <a:solidFill>
                  <a:srgbClr val="172033"/>
                </a:solidFill>
                <a:latin typeface="Aptos"/>
              </a:rPr>
              <a:t>Agrupa descripciones iguales.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1C0A83-ED2A-4B70-BBBA-052CF0E47081}"/>
              </a:ext>
            </a:extLst>
          </p:cNvPr>
          <p:cNvSpPr/>
          <p:nvPr/>
        </p:nvSpPr>
        <p:spPr>
          <a:xfrm>
            <a:off x="508000" y="3175000"/>
            <a:ext cx="3937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B0ED75-8430-4CEE-8901-46DB67209217}"/>
              </a:ext>
            </a:extLst>
          </p:cNvPr>
          <p:cNvSpPr txBox="1"/>
          <p:nvPr/>
        </p:nvSpPr>
        <p:spPr>
          <a:xfrm>
            <a:off x="635000" y="3308350"/>
            <a:ext cx="368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00" b="1">
                <a:solidFill>
                  <a:srgbClr val="172033"/>
                </a:solidFill>
                <a:latin typeface="Aptos"/>
              </a:rPr>
              <a:t>Cause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C9645F-CA04-448B-9D94-C86035C23BFF}"/>
              </a:ext>
            </a:extLst>
          </p:cNvPr>
          <p:cNvSpPr/>
          <p:nvPr/>
        </p:nvSpPr>
        <p:spPr>
          <a:xfrm>
            <a:off x="4445000" y="3175000"/>
            <a:ext cx="3175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EDF76C-2340-4A21-8521-FECA5F1E81F3}"/>
              </a:ext>
            </a:extLst>
          </p:cNvPr>
          <p:cNvSpPr txBox="1"/>
          <p:nvPr/>
        </p:nvSpPr>
        <p:spPr>
          <a:xfrm>
            <a:off x="4572000" y="3308350"/>
            <a:ext cx="292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00" b="1">
                <a:solidFill>
                  <a:srgbClr val="1E5799"/>
                </a:solidFill>
                <a:latin typeface="Aptos"/>
              </a:rPr>
              <a:t>Category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9C740C-94DA-4202-A3CD-78656C5C1E78}"/>
              </a:ext>
            </a:extLst>
          </p:cNvPr>
          <p:cNvSpPr/>
          <p:nvPr/>
        </p:nvSpPr>
        <p:spPr>
          <a:xfrm>
            <a:off x="7620000" y="3175000"/>
            <a:ext cx="4064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14A641-31CD-406F-B151-D038B4B2329F}"/>
              </a:ext>
            </a:extLst>
          </p:cNvPr>
          <p:cNvSpPr txBox="1"/>
          <p:nvPr/>
        </p:nvSpPr>
        <p:spPr>
          <a:xfrm>
            <a:off x="7747000" y="3311525"/>
            <a:ext cx="3810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50">
                <a:solidFill>
                  <a:srgbClr val="172033"/>
                </a:solidFill>
                <a:latin typeface="Aptos"/>
              </a:rPr>
              <a:t>Convierte códigos BM/MB, DB, BP, WW/NN…</a:t>
            </a:r>
            <a:endParaRPr lang="es-MX" sz="1050">
              <a:solidFill>
                <a:srgbClr val="172033"/>
              </a:solidFill>
              <a:latin typeface="Apto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69649F-6EE8-422E-8F69-5DC56B672DE1}"/>
              </a:ext>
            </a:extLst>
          </p:cNvPr>
          <p:cNvSpPr/>
          <p:nvPr/>
        </p:nvSpPr>
        <p:spPr>
          <a:xfrm>
            <a:off x="508000" y="3644900"/>
            <a:ext cx="3937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6E822F-0E84-4730-BC44-7497F8AAFD87}"/>
              </a:ext>
            </a:extLst>
          </p:cNvPr>
          <p:cNvSpPr txBox="1"/>
          <p:nvPr/>
        </p:nvSpPr>
        <p:spPr>
          <a:xfrm>
            <a:off x="635000" y="3778250"/>
            <a:ext cx="368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00" b="1">
                <a:solidFill>
                  <a:srgbClr val="172033"/>
                </a:solidFill>
                <a:latin typeface="Aptos"/>
              </a:rPr>
              <a:t>MajorPart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BF6D7B-D55C-4628-BC92-59F69376C79F}"/>
              </a:ext>
            </a:extLst>
          </p:cNvPr>
          <p:cNvSpPr/>
          <p:nvPr/>
        </p:nvSpPr>
        <p:spPr>
          <a:xfrm>
            <a:off x="4445000" y="3644900"/>
            <a:ext cx="3175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E5DE9C-E0FE-4BBF-B61F-472E8EECD4DE}"/>
              </a:ext>
            </a:extLst>
          </p:cNvPr>
          <p:cNvSpPr txBox="1"/>
          <p:nvPr/>
        </p:nvSpPr>
        <p:spPr>
          <a:xfrm>
            <a:off x="4572000" y="3778250"/>
            <a:ext cx="292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00" b="1">
                <a:solidFill>
                  <a:srgbClr val="1E5799"/>
                </a:solidFill>
                <a:latin typeface="Aptos"/>
              </a:rPr>
              <a:t>Major Part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B66474-EED3-4959-8EEE-1E0276FFF1DC}"/>
              </a:ext>
            </a:extLst>
          </p:cNvPr>
          <p:cNvSpPr/>
          <p:nvPr/>
        </p:nvSpPr>
        <p:spPr>
          <a:xfrm>
            <a:off x="7620000" y="3644900"/>
            <a:ext cx="4064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3CE6EC-3107-458C-B515-8EEE04DA0EE0}"/>
              </a:ext>
            </a:extLst>
          </p:cNvPr>
          <p:cNvSpPr txBox="1"/>
          <p:nvPr/>
        </p:nvSpPr>
        <p:spPr>
          <a:xfrm>
            <a:off x="7747000" y="3781425"/>
            <a:ext cx="3810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050">
                <a:solidFill>
                  <a:srgbClr val="172033"/>
                </a:solidFill>
                <a:latin typeface="Aptos"/>
              </a:rPr>
              <a:t>Conserva el código de la pieza.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BA4A3A-38CB-4A64-AA89-7E4F21CE5211}"/>
              </a:ext>
            </a:extLst>
          </p:cNvPr>
          <p:cNvSpPr/>
          <p:nvPr/>
        </p:nvSpPr>
        <p:spPr>
          <a:xfrm>
            <a:off x="508000" y="4114800"/>
            <a:ext cx="3937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C7DC36-9822-48E3-ADFB-D48763C9F1FE}"/>
              </a:ext>
            </a:extLst>
          </p:cNvPr>
          <p:cNvSpPr txBox="1"/>
          <p:nvPr/>
        </p:nvSpPr>
        <p:spPr>
          <a:xfrm>
            <a:off x="635000" y="4248150"/>
            <a:ext cx="368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00" b="1">
                <a:solidFill>
                  <a:srgbClr val="172033"/>
                </a:solidFill>
                <a:latin typeface="Aptos"/>
              </a:rPr>
              <a:t>CUSTSN / Remark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E81BF01-FC43-48DE-B062-2C28BA3B343E}"/>
              </a:ext>
            </a:extLst>
          </p:cNvPr>
          <p:cNvSpPr/>
          <p:nvPr/>
        </p:nvSpPr>
        <p:spPr>
          <a:xfrm>
            <a:off x="4445000" y="4114800"/>
            <a:ext cx="3175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F8B25D-4621-449A-934E-CEB883E19A28}"/>
              </a:ext>
            </a:extLst>
          </p:cNvPr>
          <p:cNvSpPr txBox="1"/>
          <p:nvPr/>
        </p:nvSpPr>
        <p:spPr>
          <a:xfrm>
            <a:off x="4572000" y="4248150"/>
            <a:ext cx="292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00" b="1">
                <a:solidFill>
                  <a:srgbClr val="1E5799"/>
                </a:solidFill>
                <a:latin typeface="Aptos"/>
              </a:rPr>
              <a:t>SN / Remark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16D1E96-55A9-4B5F-947E-2B9DBD9D0ABB}"/>
              </a:ext>
            </a:extLst>
          </p:cNvPr>
          <p:cNvSpPr/>
          <p:nvPr/>
        </p:nvSpPr>
        <p:spPr>
          <a:xfrm>
            <a:off x="7620000" y="4114800"/>
            <a:ext cx="4064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BD104E-4DBA-4F2C-B507-97619CDA7977}"/>
              </a:ext>
            </a:extLst>
          </p:cNvPr>
          <p:cNvSpPr txBox="1"/>
          <p:nvPr/>
        </p:nvSpPr>
        <p:spPr>
          <a:xfrm>
            <a:off x="7747000" y="4251325"/>
            <a:ext cx="3810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050">
                <a:solidFill>
                  <a:srgbClr val="172033"/>
                </a:solidFill>
                <a:latin typeface="Aptos"/>
              </a:rPr>
              <a:t>Se guarda como detalle de origen.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4BF3740-64C2-4410-8BB3-76881E554D36}"/>
              </a:ext>
            </a:extLst>
          </p:cNvPr>
          <p:cNvSpPr/>
          <p:nvPr/>
        </p:nvSpPr>
        <p:spPr>
          <a:xfrm>
            <a:off x="508000" y="4584700"/>
            <a:ext cx="3937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22D6009-9471-4747-BD67-1EB7DF47C496}"/>
              </a:ext>
            </a:extLst>
          </p:cNvPr>
          <p:cNvSpPr txBox="1"/>
          <p:nvPr/>
        </p:nvSpPr>
        <p:spPr>
          <a:xfrm>
            <a:off x="635000" y="4718050"/>
            <a:ext cx="368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00" b="1">
                <a:solidFill>
                  <a:srgbClr val="172033"/>
                </a:solidFill>
                <a:latin typeface="Aptos"/>
              </a:rPr>
              <a:t>Station-50_Fail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85E4A3-7242-48D6-AF5A-2C464F5C6AD3}"/>
              </a:ext>
            </a:extLst>
          </p:cNvPr>
          <p:cNvSpPr/>
          <p:nvPr/>
        </p:nvSpPr>
        <p:spPr>
          <a:xfrm>
            <a:off x="4445000" y="4584700"/>
            <a:ext cx="3175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409FF5-257C-4963-BEC6-70D2540E5336}"/>
              </a:ext>
            </a:extLst>
          </p:cNvPr>
          <p:cNvSpPr txBox="1"/>
          <p:nvPr/>
        </p:nvSpPr>
        <p:spPr>
          <a:xfrm>
            <a:off x="4572000" y="4718050"/>
            <a:ext cx="292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00" b="1">
                <a:solidFill>
                  <a:srgbClr val="1E5799"/>
                </a:solidFill>
                <a:latin typeface="Aptos"/>
              </a:rPr>
              <a:t>Failure Qty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1CFFD8C-EB13-45C6-B2C5-22ADBCF5DC91}"/>
              </a:ext>
            </a:extLst>
          </p:cNvPr>
          <p:cNvSpPr/>
          <p:nvPr/>
        </p:nvSpPr>
        <p:spPr>
          <a:xfrm>
            <a:off x="7620000" y="4584700"/>
            <a:ext cx="4064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13A064-53C5-498B-A599-3E80664C230F}"/>
              </a:ext>
            </a:extLst>
          </p:cNvPr>
          <p:cNvSpPr txBox="1"/>
          <p:nvPr/>
        </p:nvSpPr>
        <p:spPr>
          <a:xfrm>
            <a:off x="7747000" y="4721225"/>
            <a:ext cx="3810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050">
                <a:solidFill>
                  <a:srgbClr val="172033"/>
                </a:solidFill>
                <a:latin typeface="Aptos"/>
              </a:rPr>
              <a:t>Cuenta las fallas del grupo.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7D65531-0016-47E2-9E49-57AC19EDA8FB}"/>
              </a:ext>
            </a:extLst>
          </p:cNvPr>
          <p:cNvSpPr/>
          <p:nvPr/>
        </p:nvSpPr>
        <p:spPr>
          <a:xfrm>
            <a:off x="508000" y="5054600"/>
            <a:ext cx="3937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AEE02D-7325-48C1-8E3A-4B2E776363F9}"/>
              </a:ext>
            </a:extLst>
          </p:cNvPr>
          <p:cNvSpPr txBox="1"/>
          <p:nvPr/>
        </p:nvSpPr>
        <p:spPr>
          <a:xfrm>
            <a:off x="635000" y="5187950"/>
            <a:ext cx="368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00" b="1">
                <a:solidFill>
                  <a:srgbClr val="172033"/>
                </a:solidFill>
                <a:latin typeface="Aptos"/>
              </a:rPr>
              <a:t>Station-50_Input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4F14CBA-17BB-4E54-94BC-F893F7412BDC}"/>
              </a:ext>
            </a:extLst>
          </p:cNvPr>
          <p:cNvSpPr/>
          <p:nvPr/>
        </p:nvSpPr>
        <p:spPr>
          <a:xfrm>
            <a:off x="4445000" y="5054600"/>
            <a:ext cx="3175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F0B2F4-C6EB-479C-B5FE-89A02D94BEFC}"/>
              </a:ext>
            </a:extLst>
          </p:cNvPr>
          <p:cNvSpPr txBox="1"/>
          <p:nvPr/>
        </p:nvSpPr>
        <p:spPr>
          <a:xfrm>
            <a:off x="4572000" y="5187950"/>
            <a:ext cx="292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00" b="1">
                <a:solidFill>
                  <a:srgbClr val="1E5799"/>
                </a:solidFill>
                <a:latin typeface="Aptos"/>
              </a:rPr>
              <a:t>Build Qty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067E01D-DDFD-4F35-AC46-0DD78B2BCF5F}"/>
              </a:ext>
            </a:extLst>
          </p:cNvPr>
          <p:cNvSpPr/>
          <p:nvPr/>
        </p:nvSpPr>
        <p:spPr>
          <a:xfrm>
            <a:off x="7620000" y="5054600"/>
            <a:ext cx="4064000" cy="469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7623C1-227A-4449-8462-0DCB752FD8E0}"/>
              </a:ext>
            </a:extLst>
          </p:cNvPr>
          <p:cNvSpPr txBox="1"/>
          <p:nvPr/>
        </p:nvSpPr>
        <p:spPr>
          <a:xfrm>
            <a:off x="7747000" y="5191125"/>
            <a:ext cx="3810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050">
                <a:solidFill>
                  <a:srgbClr val="172033"/>
                </a:solidFill>
                <a:latin typeface="Aptos"/>
              </a:rPr>
              <a:t>Obtiene el total de entrada.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BA6511B-2636-4ECD-9C84-860F96EDC71C}"/>
              </a:ext>
            </a:extLst>
          </p:cNvPr>
          <p:cNvSpPr/>
          <p:nvPr/>
        </p:nvSpPr>
        <p:spPr>
          <a:xfrm>
            <a:off x="508000" y="5702300"/>
            <a:ext cx="11176000" cy="46990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D8C0D4-D66F-43A0-B770-8EAD87AA261F}"/>
              </a:ext>
            </a:extLst>
          </p:cNvPr>
          <p:cNvSpPr txBox="1"/>
          <p:nvPr/>
        </p:nvSpPr>
        <p:spPr>
          <a:xfrm>
            <a:off x="711200" y="5842000"/>
            <a:ext cx="10744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00" b="1">
                <a:solidFill>
                  <a:srgbClr val="0B2F5B"/>
                </a:solidFill>
                <a:latin typeface="Aptos"/>
              </a:rPr>
              <a:t>F/R = Failure Qty ÷ Build Qty × 100. La fecha se obtiene del nombre y puede ajustarse globalmente en la vista previa.</a:t>
            </a:r>
          </a:p>
        </p:txBody>
      </p:sp>
    </p:spTree>
    <p:extLst>
      <p:ext uri="{BB962C8B-B14F-4D97-AF65-F5344CB8AC3E}">
        <p14:creationId xmlns:p14="http://schemas.microsoft.com/office/powerpoint/2010/main" val="25270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3497EF-9849-47CD-A980-A3C45ACA256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DE8FDA-D2F7-4E19-9CC6-1383DF16B45A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02332C-2689-4714-AD0C-F7841463ED8B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IMPORTACIÓN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9712D7-07D4-4807-97EF-CA4C1C140A62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14013F3F-E981-4FDD-A782-2013EB02C583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92D87-D4F4-4D75-885E-EDF28ADCC565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17</a:t>
            </a:r>
            <a:endParaRPr lang="es-MX" sz="800" b="1" dirty="0">
              <a:solidFill>
                <a:srgbClr val="5D6B82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84543-2CC1-4120-B3E3-FC75F4075748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 dirty="0">
                <a:solidFill>
                  <a:srgbClr val="0B2F5B"/>
                </a:solidFill>
                <a:latin typeface="Aptos"/>
              </a:rPr>
              <a:t>10. Vista previa de importación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357D9E-4E28-491A-B168-800741F703AA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Nada se guarda hasta seleccionar “Confirmar importación”.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08E3A7-0E4F-4269-9A2E-263E2424E610}"/>
              </a:ext>
            </a:extLst>
          </p:cNvPr>
          <p:cNvSpPr/>
          <p:nvPr/>
        </p:nvSpPr>
        <p:spPr>
          <a:xfrm>
            <a:off x="444500" y="1778000"/>
            <a:ext cx="11303000" cy="403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F4A13F-AD69-4FD0-86BD-F0A59647DFE4}"/>
              </a:ext>
            </a:extLst>
          </p:cNvPr>
          <p:cNvSpPr/>
          <p:nvPr/>
        </p:nvSpPr>
        <p:spPr>
          <a:xfrm>
            <a:off x="444500" y="1778000"/>
            <a:ext cx="11303000" cy="736600"/>
          </a:xfrm>
          <a:prstGeom prst="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F49C9B-BCA8-4523-A98E-49BE4331F5DC}"/>
              </a:ext>
            </a:extLst>
          </p:cNvPr>
          <p:cNvSpPr txBox="1"/>
          <p:nvPr/>
        </p:nvSpPr>
        <p:spPr>
          <a:xfrm>
            <a:off x="698500" y="1993900"/>
            <a:ext cx="3302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b="1">
                <a:solidFill>
                  <a:srgbClr val="172033"/>
                </a:solidFill>
                <a:latin typeface="Aptos"/>
              </a:rPr>
              <a:t>Vista previa de importación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7C13E2-2BFA-4CAE-9D90-8D3F99AE761B}"/>
              </a:ext>
            </a:extLst>
          </p:cNvPr>
          <p:cNvSpPr txBox="1"/>
          <p:nvPr/>
        </p:nvSpPr>
        <p:spPr>
          <a:xfrm>
            <a:off x="4191000" y="20320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5D6B82"/>
                </a:solidFill>
                <a:latin typeface="Aptos"/>
              </a:rPr>
              <a:t>Family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DB4884-A49D-45DC-A810-0FB367FE85F1}"/>
              </a:ext>
            </a:extLst>
          </p:cNvPr>
          <p:cNvSpPr/>
          <p:nvPr/>
        </p:nvSpPr>
        <p:spPr>
          <a:xfrm>
            <a:off x="4889500" y="1917700"/>
            <a:ext cx="1524000" cy="43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4BBD8A-9F87-4E86-8BE7-C899FF0CECFA}"/>
              </a:ext>
            </a:extLst>
          </p:cNvPr>
          <p:cNvSpPr txBox="1"/>
          <p:nvPr/>
        </p:nvSpPr>
        <p:spPr>
          <a:xfrm>
            <a:off x="5080000" y="2032000"/>
            <a:ext cx="114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Todas   ▾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6B90B6-D3A0-4414-AA71-5FBF193F27DD}"/>
              </a:ext>
            </a:extLst>
          </p:cNvPr>
          <p:cNvSpPr txBox="1"/>
          <p:nvPr/>
        </p:nvSpPr>
        <p:spPr>
          <a:xfrm>
            <a:off x="6604000" y="2032000"/>
            <a:ext cx="571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5D6B82"/>
                </a:solidFill>
                <a:latin typeface="Aptos"/>
              </a:rPr>
              <a:t>Fecha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D0CDF8-C7D6-4F15-8859-8D93B6D3F6B9}"/>
              </a:ext>
            </a:extLst>
          </p:cNvPr>
          <p:cNvSpPr/>
          <p:nvPr/>
        </p:nvSpPr>
        <p:spPr>
          <a:xfrm>
            <a:off x="7175500" y="1917700"/>
            <a:ext cx="1460500" cy="43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4F4DAE-6ED4-4965-81E5-05ECB2D85CC8}"/>
              </a:ext>
            </a:extLst>
          </p:cNvPr>
          <p:cNvSpPr txBox="1"/>
          <p:nvPr/>
        </p:nvSpPr>
        <p:spPr>
          <a:xfrm>
            <a:off x="7340600" y="2032000"/>
            <a:ext cx="114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07/23/2026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17DCAD8-27FD-4B18-998E-3F7960450447}"/>
              </a:ext>
            </a:extLst>
          </p:cNvPr>
          <p:cNvSpPr/>
          <p:nvPr/>
        </p:nvSpPr>
        <p:spPr>
          <a:xfrm>
            <a:off x="8890000" y="1917700"/>
            <a:ext cx="1168400" cy="43180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E7A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BD1F95-E6A3-4B85-9486-D1BB971DCCF3}"/>
              </a:ext>
            </a:extLst>
          </p:cNvPr>
          <p:cNvSpPr txBox="1"/>
          <p:nvPr/>
        </p:nvSpPr>
        <p:spPr>
          <a:xfrm>
            <a:off x="9067800" y="2032000"/>
            <a:ext cx="8382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9A5B00"/>
                </a:solidFill>
                <a:latin typeface="Aptos"/>
              </a:rPr>
              <a:t>Exclusiones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98D8FFC-076D-4906-8B38-FD1CA9B7C1C0}"/>
              </a:ext>
            </a:extLst>
          </p:cNvPr>
          <p:cNvSpPr/>
          <p:nvPr/>
        </p:nvSpPr>
        <p:spPr>
          <a:xfrm>
            <a:off x="10172700" y="1917700"/>
            <a:ext cx="1333500" cy="43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F9A28E-FAD7-4B25-8BBF-E6347AF7CC13}"/>
              </a:ext>
            </a:extLst>
          </p:cNvPr>
          <p:cNvSpPr txBox="1"/>
          <p:nvPr/>
        </p:nvSpPr>
        <p:spPr>
          <a:xfrm>
            <a:off x="10312400" y="2032000"/>
            <a:ext cx="10541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900" b="1">
                <a:solidFill>
                  <a:srgbClr val="172033"/>
                </a:solidFill>
                <a:latin typeface="Aptos"/>
              </a:rPr>
              <a:t>Restablecer todo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A8B3EB-6C78-423C-B24F-866BD4E1734B}"/>
              </a:ext>
            </a:extLst>
          </p:cNvPr>
          <p:cNvSpPr txBox="1"/>
          <p:nvPr/>
        </p:nvSpPr>
        <p:spPr>
          <a:xfrm>
            <a:off x="698500" y="2755900"/>
            <a:ext cx="127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E5799"/>
                </a:solidFill>
                <a:latin typeface="Aptos"/>
              </a:rPr>
              <a:t>Family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988BE7-5D5A-4472-AFEE-5C8359E0B34B}"/>
              </a:ext>
            </a:extLst>
          </p:cNvPr>
          <p:cNvSpPr txBox="1"/>
          <p:nvPr/>
        </p:nvSpPr>
        <p:spPr>
          <a:xfrm>
            <a:off x="2095500" y="2755900"/>
            <a:ext cx="317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E5799"/>
                </a:solidFill>
                <a:latin typeface="Aptos"/>
              </a:rPr>
              <a:t>Top Issue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379033-0188-41FC-998C-FB06D554287A}"/>
              </a:ext>
            </a:extLst>
          </p:cNvPr>
          <p:cNvSpPr txBox="1"/>
          <p:nvPr/>
        </p:nvSpPr>
        <p:spPr>
          <a:xfrm>
            <a:off x="5461000" y="2755900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E5799"/>
                </a:solidFill>
                <a:latin typeface="Aptos"/>
              </a:rPr>
              <a:t>Failure Qty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B77856-BB53-4150-81FB-9BF88FA85F6F}"/>
              </a:ext>
            </a:extLst>
          </p:cNvPr>
          <p:cNvSpPr txBox="1"/>
          <p:nvPr/>
        </p:nvSpPr>
        <p:spPr>
          <a:xfrm>
            <a:off x="6731000" y="2755900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E5799"/>
                </a:solidFill>
                <a:latin typeface="Aptos"/>
              </a:rPr>
              <a:t>Build Qty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EEE7A3-0712-4065-914C-7F29C724D2DD}"/>
              </a:ext>
            </a:extLst>
          </p:cNvPr>
          <p:cNvSpPr txBox="1"/>
          <p:nvPr/>
        </p:nvSpPr>
        <p:spPr>
          <a:xfrm>
            <a:off x="7937500" y="27559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E5799"/>
                </a:solidFill>
                <a:latin typeface="Aptos"/>
              </a:rPr>
              <a:t>F/R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D4E0A9-0636-4033-9097-6D32035BEE9A}"/>
              </a:ext>
            </a:extLst>
          </p:cNvPr>
          <p:cNvSpPr txBox="1"/>
          <p:nvPr/>
        </p:nvSpPr>
        <p:spPr>
          <a:xfrm>
            <a:off x="8763000" y="2755900"/>
            <a:ext cx="133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E5799"/>
                </a:solidFill>
                <a:latin typeface="Aptos"/>
              </a:rPr>
              <a:t>Category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7A4B81-0CB6-49A6-AC31-E0ECA914C69E}"/>
              </a:ext>
            </a:extLst>
          </p:cNvPr>
          <p:cNvSpPr txBox="1"/>
          <p:nvPr/>
        </p:nvSpPr>
        <p:spPr>
          <a:xfrm>
            <a:off x="10223500" y="2755900"/>
            <a:ext cx="127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E5799"/>
                </a:solidFill>
                <a:latin typeface="Aptos"/>
              </a:rPr>
              <a:t>Major Part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9DF6F08-6468-415A-B509-D1D7DC2CFD9C}"/>
              </a:ext>
            </a:extLst>
          </p:cNvPr>
          <p:cNvSpPr/>
          <p:nvPr/>
        </p:nvSpPr>
        <p:spPr>
          <a:xfrm>
            <a:off x="609600" y="3124200"/>
            <a:ext cx="1089660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3F9855-A59E-4CC6-A40E-4985C1D79D28}"/>
              </a:ext>
            </a:extLst>
          </p:cNvPr>
          <p:cNvSpPr txBox="1"/>
          <p:nvPr/>
        </p:nvSpPr>
        <p:spPr>
          <a:xfrm>
            <a:off x="762000" y="3276600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G12 800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126EE8-0C33-4095-8991-48DD0C5DA090}"/>
              </a:ext>
            </a:extLst>
          </p:cNvPr>
          <p:cNvSpPr txBox="1"/>
          <p:nvPr/>
        </p:nvSpPr>
        <p:spPr>
          <a:xfrm>
            <a:off x="2222500" y="3276600"/>
            <a:ext cx="292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Type-c test fail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F393D1-32E3-4E24-8FB5-87A34DA92CE1}"/>
              </a:ext>
            </a:extLst>
          </p:cNvPr>
          <p:cNvSpPr txBox="1"/>
          <p:nvPr/>
        </p:nvSpPr>
        <p:spPr>
          <a:xfrm>
            <a:off x="5651500" y="32766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21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519335-DDC0-4E07-8034-3786C5B5D2ED}"/>
              </a:ext>
            </a:extLst>
          </p:cNvPr>
          <p:cNvSpPr txBox="1"/>
          <p:nvPr/>
        </p:nvSpPr>
        <p:spPr>
          <a:xfrm>
            <a:off x="6921500" y="32766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3991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17C47E-B08C-4F95-A6F4-CB4E6DC8837A}"/>
              </a:ext>
            </a:extLst>
          </p:cNvPr>
          <p:cNvSpPr txBox="1"/>
          <p:nvPr/>
        </p:nvSpPr>
        <p:spPr>
          <a:xfrm>
            <a:off x="7937500" y="32766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0.53%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688587-9D38-45A2-8E54-12BFF9356D5D}"/>
              </a:ext>
            </a:extLst>
          </p:cNvPr>
          <p:cNvSpPr txBox="1"/>
          <p:nvPr/>
        </p:nvSpPr>
        <p:spPr>
          <a:xfrm>
            <a:off x="8763000" y="3276600"/>
            <a:ext cx="127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Motherboard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5862C1-345C-42DF-BEF6-7354A03B4717}"/>
              </a:ext>
            </a:extLst>
          </p:cNvPr>
          <p:cNvSpPr txBox="1"/>
          <p:nvPr/>
        </p:nvSpPr>
        <p:spPr>
          <a:xfrm>
            <a:off x="10414000" y="3276600"/>
            <a:ext cx="63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MB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CA5AB43-18A4-459D-A0A5-B19C2D453E6B}"/>
              </a:ext>
            </a:extLst>
          </p:cNvPr>
          <p:cNvSpPr/>
          <p:nvPr/>
        </p:nvSpPr>
        <p:spPr>
          <a:xfrm>
            <a:off x="609600" y="3797300"/>
            <a:ext cx="1089660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26FE85-17EE-4C4F-A693-83CEEB9D574E}"/>
              </a:ext>
            </a:extLst>
          </p:cNvPr>
          <p:cNvSpPr txBox="1"/>
          <p:nvPr/>
        </p:nvSpPr>
        <p:spPr>
          <a:xfrm>
            <a:off x="762000" y="3949700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G12 800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A6F00A-617A-4002-ADDF-8E50038E0317}"/>
              </a:ext>
            </a:extLst>
          </p:cNvPr>
          <p:cNvSpPr txBox="1"/>
          <p:nvPr/>
        </p:nvSpPr>
        <p:spPr>
          <a:xfrm>
            <a:off x="2222500" y="3949700"/>
            <a:ext cx="292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FAN Stop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E32FD8-DBA6-47A0-949E-9563712ED64B}"/>
              </a:ext>
            </a:extLst>
          </p:cNvPr>
          <p:cNvSpPr txBox="1"/>
          <p:nvPr/>
        </p:nvSpPr>
        <p:spPr>
          <a:xfrm>
            <a:off x="5651500" y="39497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B00B74-622C-4990-9C58-25434E0A5E14}"/>
              </a:ext>
            </a:extLst>
          </p:cNvPr>
          <p:cNvSpPr txBox="1"/>
          <p:nvPr/>
        </p:nvSpPr>
        <p:spPr>
          <a:xfrm>
            <a:off x="6921500" y="39497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3991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AF84E0-4749-4673-8A5B-F6357D7669CB}"/>
              </a:ext>
            </a:extLst>
          </p:cNvPr>
          <p:cNvSpPr txBox="1"/>
          <p:nvPr/>
        </p:nvSpPr>
        <p:spPr>
          <a:xfrm>
            <a:off x="7937500" y="39497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0.13%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4FF451-1F11-485E-8729-D4FDFCA6BB38}"/>
              </a:ext>
            </a:extLst>
          </p:cNvPr>
          <p:cNvSpPr txBox="1"/>
          <p:nvPr/>
        </p:nvSpPr>
        <p:spPr>
          <a:xfrm>
            <a:off x="8763000" y="3949700"/>
            <a:ext cx="127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Motherboard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E098A3-E604-4A02-9971-96E4BE1ED967}"/>
              </a:ext>
            </a:extLst>
          </p:cNvPr>
          <p:cNvSpPr txBox="1"/>
          <p:nvPr/>
        </p:nvSpPr>
        <p:spPr>
          <a:xfrm>
            <a:off x="10414000" y="3949700"/>
            <a:ext cx="63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MB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D230ACB-BF97-4813-8200-ABAF0939C378}"/>
              </a:ext>
            </a:extLst>
          </p:cNvPr>
          <p:cNvSpPr/>
          <p:nvPr/>
        </p:nvSpPr>
        <p:spPr>
          <a:xfrm>
            <a:off x="609600" y="4470400"/>
            <a:ext cx="10896600" cy="53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4BD12F-29E4-45F8-9780-2E3ACE654774}"/>
              </a:ext>
            </a:extLst>
          </p:cNvPr>
          <p:cNvSpPr txBox="1"/>
          <p:nvPr/>
        </p:nvSpPr>
        <p:spPr>
          <a:xfrm>
            <a:off x="762000" y="4622800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G12 800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AA3738-6E20-4FEB-BBD9-DDAE7D9232F1}"/>
              </a:ext>
            </a:extLst>
          </p:cNvPr>
          <p:cNvSpPr txBox="1"/>
          <p:nvPr/>
        </p:nvSpPr>
        <p:spPr>
          <a:xfrm>
            <a:off x="2222500" y="4622800"/>
            <a:ext cx="292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Power on defect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9C224A-2447-4802-9487-5A4976A15F48}"/>
              </a:ext>
            </a:extLst>
          </p:cNvPr>
          <p:cNvSpPr txBox="1"/>
          <p:nvPr/>
        </p:nvSpPr>
        <p:spPr>
          <a:xfrm>
            <a:off x="5651500" y="46228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A10AA4-9030-4719-8984-FC46A6245266}"/>
              </a:ext>
            </a:extLst>
          </p:cNvPr>
          <p:cNvSpPr txBox="1"/>
          <p:nvPr/>
        </p:nvSpPr>
        <p:spPr>
          <a:xfrm>
            <a:off x="6921500" y="46228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3991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021C21-8A51-4DCE-82B0-52781378F734}"/>
              </a:ext>
            </a:extLst>
          </p:cNvPr>
          <p:cNvSpPr txBox="1"/>
          <p:nvPr/>
        </p:nvSpPr>
        <p:spPr>
          <a:xfrm>
            <a:off x="7937500" y="4622800"/>
            <a:ext cx="698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0.10%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096784-FEB6-4468-B7F9-C7EC9468BB3C}"/>
              </a:ext>
            </a:extLst>
          </p:cNvPr>
          <p:cNvSpPr txBox="1"/>
          <p:nvPr/>
        </p:nvSpPr>
        <p:spPr>
          <a:xfrm>
            <a:off x="8763000" y="4622800"/>
            <a:ext cx="127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Motherboard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032615-88A1-4D6C-BB90-DAAA3DD7D344}"/>
              </a:ext>
            </a:extLst>
          </p:cNvPr>
          <p:cNvSpPr txBox="1"/>
          <p:nvPr/>
        </p:nvSpPr>
        <p:spPr>
          <a:xfrm>
            <a:off x="10414000" y="4622800"/>
            <a:ext cx="63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>
                <a:solidFill>
                  <a:srgbClr val="172033"/>
                </a:solidFill>
                <a:latin typeface="Aptos"/>
              </a:rPr>
              <a:t>MB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9EE4C6-C3C3-4B0E-959A-CB0CBA66788A}"/>
              </a:ext>
            </a:extLst>
          </p:cNvPr>
          <p:cNvSpPr txBox="1"/>
          <p:nvPr/>
        </p:nvSpPr>
        <p:spPr>
          <a:xfrm>
            <a:off x="635000" y="5346700"/>
            <a:ext cx="10795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5D6B82"/>
                </a:solidFill>
                <a:latin typeface="Aptos"/>
              </a:rPr>
              <a:t>Filtros solo cambian lo visible; la confirmación incluye todas las filas no eliminadas y no excluidas.</a:t>
            </a:r>
          </a:p>
        </p:txBody>
      </p:sp>
    </p:spTree>
    <p:extLst>
      <p:ext uri="{BB962C8B-B14F-4D97-AF65-F5344CB8AC3E}">
        <p14:creationId xmlns:p14="http://schemas.microsoft.com/office/powerpoint/2010/main" val="2127325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FB51D5-B775-49A0-9697-0AE8064F343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EBEC5-577A-4A18-9A30-C081BDDC26E9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6DDED6-9650-47DE-859C-FA44709676B4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IMPORTACIÓN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A9E055-0DC6-4900-AAB7-132B3B0FB1A8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7DC2A250-187A-4ACA-AD52-33527EDFA02A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DA035-9A59-4633-9164-BFA1A1A33AFA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18</a:t>
            </a:r>
            <a:endParaRPr lang="es-MX" sz="800" b="1" dirty="0">
              <a:solidFill>
                <a:srgbClr val="5D6B82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C60935-B77C-4E67-A024-4171D95B3F18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 dirty="0">
                <a:solidFill>
                  <a:srgbClr val="0B2F5B"/>
                </a:solidFill>
                <a:latin typeface="Aptos"/>
              </a:rPr>
              <a:t>11. Exclusiones y reglas del análisis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49AA65-3F79-44DB-AD95-3B7EC943F9B1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Las exclusiones afectan el cálculo antes de confirmar.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5B14E7C-8C71-4E2A-B3F9-B462783EE7AD}"/>
              </a:ext>
            </a:extLst>
          </p:cNvPr>
          <p:cNvSpPr/>
          <p:nvPr/>
        </p:nvSpPr>
        <p:spPr>
          <a:xfrm>
            <a:off x="571500" y="2032000"/>
            <a:ext cx="24765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D24CB7-C3F2-4BA0-9A12-1448BB5083F1}"/>
              </a:ext>
            </a:extLst>
          </p:cNvPr>
          <p:cNvSpPr txBox="1"/>
          <p:nvPr/>
        </p:nvSpPr>
        <p:spPr>
          <a:xfrm>
            <a:off x="774700" y="22860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1E5799"/>
                </a:solidFill>
                <a:latin typeface="Aptos"/>
              </a:rPr>
              <a:t>Cause (H)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44116F-2659-4EFC-851B-21BCFF3159C1}"/>
              </a:ext>
            </a:extLst>
          </p:cNvPr>
          <p:cNvSpPr txBox="1"/>
          <p:nvPr/>
        </p:nvSpPr>
        <p:spPr>
          <a:xfrm>
            <a:off x="774700" y="2857500"/>
            <a:ext cx="203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BM · BP · DB · WW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1D31D5D-0D30-4CB8-A4DB-84E2D9FE394D}"/>
              </a:ext>
            </a:extLst>
          </p:cNvPr>
          <p:cNvSpPr/>
          <p:nvPr/>
        </p:nvSpPr>
        <p:spPr>
          <a:xfrm>
            <a:off x="3429000" y="2032000"/>
            <a:ext cx="24765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0ED34B-4493-4AB1-AE2F-D9E410E2AA8E}"/>
              </a:ext>
            </a:extLst>
          </p:cNvPr>
          <p:cNvSpPr txBox="1"/>
          <p:nvPr/>
        </p:nvSpPr>
        <p:spPr>
          <a:xfrm>
            <a:off x="3632200" y="22860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1E5799"/>
                </a:solidFill>
                <a:latin typeface="Aptos"/>
              </a:rPr>
              <a:t>MajorPart (M)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86F407-FD08-41D8-B620-2E476AD058D9}"/>
              </a:ext>
            </a:extLst>
          </p:cNvPr>
          <p:cNvSpPr txBox="1"/>
          <p:nvPr/>
        </p:nvSpPr>
        <p:spPr>
          <a:xfrm>
            <a:off x="3632200" y="2857500"/>
            <a:ext cx="203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BAP · CAM · HDD · MB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08D1115-B1F6-4481-82DA-BDB8563B628C}"/>
              </a:ext>
            </a:extLst>
          </p:cNvPr>
          <p:cNvSpPr/>
          <p:nvPr/>
        </p:nvSpPr>
        <p:spPr>
          <a:xfrm>
            <a:off x="6286500" y="2032000"/>
            <a:ext cx="24765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55CAFB-5557-4925-A268-F79F66CAD7C1}"/>
              </a:ext>
            </a:extLst>
          </p:cNvPr>
          <p:cNvSpPr txBox="1"/>
          <p:nvPr/>
        </p:nvSpPr>
        <p:spPr>
          <a:xfrm>
            <a:off x="6489700" y="22860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1E5799"/>
                </a:solidFill>
                <a:latin typeface="Aptos"/>
              </a:rPr>
              <a:t>Shift Fail (Z)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3C09D4-0122-4721-A148-2D25BE50B272}"/>
              </a:ext>
            </a:extLst>
          </p:cNvPr>
          <p:cNvSpPr txBox="1"/>
          <p:nvPr/>
        </p:nvSpPr>
        <p:spPr>
          <a:xfrm>
            <a:off x="6489700" y="2857500"/>
            <a:ext cx="203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A · B · C · 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B0C4477-36BC-405A-BA60-853C4A6239F2}"/>
              </a:ext>
            </a:extLst>
          </p:cNvPr>
          <p:cNvSpPr/>
          <p:nvPr/>
        </p:nvSpPr>
        <p:spPr>
          <a:xfrm>
            <a:off x="9144000" y="2032000"/>
            <a:ext cx="24765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186C6C-D6B5-48C7-B267-CA571037DA59}"/>
              </a:ext>
            </a:extLst>
          </p:cNvPr>
          <p:cNvSpPr txBox="1"/>
          <p:nvPr/>
        </p:nvSpPr>
        <p:spPr>
          <a:xfrm>
            <a:off x="9347200" y="2286000"/>
            <a:ext cx="203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1E5799"/>
                </a:solidFill>
                <a:latin typeface="Aptos"/>
              </a:rPr>
              <a:t>Repeat (AA)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4293A0-5FEE-4896-82AB-1F899846A516}"/>
              </a:ext>
            </a:extLst>
          </p:cNvPr>
          <p:cNvSpPr txBox="1"/>
          <p:nvPr/>
        </p:nvSpPr>
        <p:spPr>
          <a:xfrm>
            <a:off x="9347200" y="2857500"/>
            <a:ext cx="203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1 · 2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E8D51DE-230E-4BB9-8472-75B5C3A31DB3}"/>
              </a:ext>
            </a:extLst>
          </p:cNvPr>
          <p:cNvSpPr/>
          <p:nvPr/>
        </p:nvSpPr>
        <p:spPr>
          <a:xfrm>
            <a:off x="571500" y="4572000"/>
            <a:ext cx="11049000" cy="1143000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E7A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BC2F4C-3914-4852-B92E-22A55DEF29A2}"/>
              </a:ext>
            </a:extLst>
          </p:cNvPr>
          <p:cNvSpPr txBox="1"/>
          <p:nvPr/>
        </p:nvSpPr>
        <p:spPr>
          <a:xfrm>
            <a:off x="825500" y="4800600"/>
            <a:ext cx="10414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8A5B00"/>
                </a:solidFill>
                <a:latin typeface="Aptos"/>
              </a:rPr>
              <a:t>Cuando hay exclusiones activas, el botón cambia de color.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8EE528-6021-4AD7-8AE2-2D023DA861AC}"/>
              </a:ext>
            </a:extLst>
          </p:cNvPr>
          <p:cNvSpPr txBox="1"/>
          <p:nvPr/>
        </p:nvSpPr>
        <p:spPr>
          <a:xfrm>
            <a:off x="825500" y="5232400"/>
            <a:ext cx="1041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Al aplicar o quitar una exclusión se conservan el filtro de Family y la fecha elegida.</a:t>
            </a:r>
          </a:p>
        </p:txBody>
      </p:sp>
    </p:spTree>
    <p:extLst>
      <p:ext uri="{BB962C8B-B14F-4D97-AF65-F5344CB8AC3E}">
        <p14:creationId xmlns:p14="http://schemas.microsoft.com/office/powerpoint/2010/main" val="2192049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2BAA90F-95FE-4DBE-BBA2-BAFC1A0E258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1662E2-0F19-47C7-A9B3-E6694958E51B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14030F-D30B-48E8-8E16-2AF3BC21A3C2}"/>
              </a:ext>
            </a:extLst>
          </p:cNvPr>
          <p:cNvSpPr txBox="1"/>
          <p:nvPr/>
        </p:nvSpPr>
        <p:spPr>
          <a:xfrm>
            <a:off x="8763000" y="279400"/>
            <a:ext cx="298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IMPORTACIÓN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6DECFD-81E8-4CD9-B32B-7BD0D25ADA9F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TextBox 29">
            <a:hlinkClick r:id="rId2"/>
            <a:extLst>
              <a:ext uri="{FF2B5EF4-FFF2-40B4-BE49-F238E27FC236}">
                <a16:creationId xmlns:a16="http://schemas.microsoft.com/office/drawing/2014/main" id="{80E5667E-BD49-48B7-AE51-D7183FC79C8F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A0B5E5-8A54-4AB3-A77C-8C067C3A4440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19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39E1CE-9363-46CF-9A38-BCFE185530CC}"/>
              </a:ext>
            </a:extLst>
          </p:cNvPr>
          <p:cNvSpPr txBox="1"/>
          <p:nvPr/>
        </p:nvSpPr>
        <p:spPr>
          <a:xfrm>
            <a:off x="431800" y="6604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Cómo funciona el Pareto 60 %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0CC871-F869-4417-BE6E-9B7BD4D7206F}"/>
              </a:ext>
            </a:extLst>
          </p:cNvPr>
          <p:cNvSpPr txBox="1"/>
          <p:nvPr/>
        </p:nvSpPr>
        <p:spPr>
          <a:xfrm>
            <a:off x="444500" y="1193800"/>
            <a:ext cx="1111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Prioriza los grupos que, acumulados, explican al menos el 60 % de los defectos del segmento.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4695CFE-4A5A-41CD-9DE3-2763D735F24C}"/>
              </a:ext>
            </a:extLst>
          </p:cNvPr>
          <p:cNvSpPr/>
          <p:nvPr/>
        </p:nvSpPr>
        <p:spPr>
          <a:xfrm>
            <a:off x="571500" y="1968500"/>
            <a:ext cx="24765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0DF4372-2D29-45FF-A2ED-DFF9F47BC50B}"/>
              </a:ext>
            </a:extLst>
          </p:cNvPr>
          <p:cNvSpPr/>
          <p:nvPr/>
        </p:nvSpPr>
        <p:spPr>
          <a:xfrm>
            <a:off x="800100" y="2235200"/>
            <a:ext cx="457200" cy="457200"/>
          </a:xfrm>
          <a:prstGeom prst="ellipse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9397F3-ADC0-441B-8786-40C5F071C577}"/>
              </a:ext>
            </a:extLst>
          </p:cNvPr>
          <p:cNvSpPr txBox="1"/>
          <p:nvPr/>
        </p:nvSpPr>
        <p:spPr>
          <a:xfrm>
            <a:off x="800100" y="2336800"/>
            <a:ext cx="457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7C6783-51F6-4094-9E42-7D2B7988E5C2}"/>
              </a:ext>
            </a:extLst>
          </p:cNvPr>
          <p:cNvSpPr txBox="1"/>
          <p:nvPr/>
        </p:nvSpPr>
        <p:spPr>
          <a:xfrm>
            <a:off x="1409700" y="2286000"/>
            <a:ext cx="1371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 b="1">
                <a:solidFill>
                  <a:srgbClr val="0B2F5B"/>
                </a:solidFill>
                <a:latin typeface="Aptos"/>
              </a:rPr>
              <a:t>Agrupar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0AC673-B0C7-4813-BC9B-907137CDE74A}"/>
              </a:ext>
            </a:extLst>
          </p:cNvPr>
          <p:cNvSpPr txBox="1"/>
          <p:nvPr/>
        </p:nvSpPr>
        <p:spPr>
          <a:xfrm>
            <a:off x="800100" y="2946400"/>
            <a:ext cx="20193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50">
                <a:solidFill>
                  <a:srgbClr val="172033"/>
                </a:solidFill>
                <a:latin typeface="Aptos"/>
              </a:rPr>
              <a:t>Fecha + Family + Top Issue + Category.</a:t>
            </a:r>
            <a:endParaRPr lang="es-MX" sz="1250">
              <a:solidFill>
                <a:srgbClr val="172033"/>
              </a:solidFill>
              <a:latin typeface="Apto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C6DA3CF-C5F1-45D8-8C7D-51FEFCFFEFCE}"/>
              </a:ext>
            </a:extLst>
          </p:cNvPr>
          <p:cNvSpPr/>
          <p:nvPr/>
        </p:nvSpPr>
        <p:spPr>
          <a:xfrm>
            <a:off x="3429000" y="1968500"/>
            <a:ext cx="24765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0B83331-41E1-4104-B8E1-EE89E724A2A7}"/>
              </a:ext>
            </a:extLst>
          </p:cNvPr>
          <p:cNvSpPr/>
          <p:nvPr/>
        </p:nvSpPr>
        <p:spPr>
          <a:xfrm>
            <a:off x="3657600" y="2235200"/>
            <a:ext cx="457200" cy="457200"/>
          </a:xfrm>
          <a:prstGeom prst="ellipse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731725-C950-4D06-98EE-C18F8F598846}"/>
              </a:ext>
            </a:extLst>
          </p:cNvPr>
          <p:cNvSpPr txBox="1"/>
          <p:nvPr/>
        </p:nvSpPr>
        <p:spPr>
          <a:xfrm>
            <a:off x="3657600" y="2336800"/>
            <a:ext cx="457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10276A-BCB1-447D-813D-59EF1887A4EB}"/>
              </a:ext>
            </a:extLst>
          </p:cNvPr>
          <p:cNvSpPr txBox="1"/>
          <p:nvPr/>
        </p:nvSpPr>
        <p:spPr>
          <a:xfrm>
            <a:off x="4267200" y="2286000"/>
            <a:ext cx="1371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 b="1">
                <a:solidFill>
                  <a:srgbClr val="0B2F5B"/>
                </a:solidFill>
                <a:latin typeface="Aptos"/>
              </a:rPr>
              <a:t>Ordenar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6FE416-B05F-4835-830F-B0B56D38F9BA}"/>
              </a:ext>
            </a:extLst>
          </p:cNvPr>
          <p:cNvSpPr txBox="1"/>
          <p:nvPr/>
        </p:nvSpPr>
        <p:spPr>
          <a:xfrm>
            <a:off x="3657600" y="2946400"/>
            <a:ext cx="20193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250">
                <a:solidFill>
                  <a:srgbClr val="172033"/>
                </a:solidFill>
                <a:latin typeface="Aptos"/>
              </a:rPr>
              <a:t>Failure Qty de mayor a menor.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EF9665E-A7C0-4943-B4FE-A4B2D0A9D479}"/>
              </a:ext>
            </a:extLst>
          </p:cNvPr>
          <p:cNvSpPr/>
          <p:nvPr/>
        </p:nvSpPr>
        <p:spPr>
          <a:xfrm>
            <a:off x="6286500" y="1968500"/>
            <a:ext cx="24765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35B9908-C78A-4F9C-85D5-B8C5BD03FB01}"/>
              </a:ext>
            </a:extLst>
          </p:cNvPr>
          <p:cNvSpPr/>
          <p:nvPr/>
        </p:nvSpPr>
        <p:spPr>
          <a:xfrm>
            <a:off x="6515100" y="2235200"/>
            <a:ext cx="457200" cy="457200"/>
          </a:xfrm>
          <a:prstGeom prst="ellipse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8F8A517-3357-41E8-B2D2-E68586680367}"/>
              </a:ext>
            </a:extLst>
          </p:cNvPr>
          <p:cNvSpPr txBox="1"/>
          <p:nvPr/>
        </p:nvSpPr>
        <p:spPr>
          <a:xfrm>
            <a:off x="6515100" y="2336800"/>
            <a:ext cx="457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1EDF0E-1E44-4B87-BDCD-2EC5201ABFFB}"/>
              </a:ext>
            </a:extLst>
          </p:cNvPr>
          <p:cNvSpPr txBox="1"/>
          <p:nvPr/>
        </p:nvSpPr>
        <p:spPr>
          <a:xfrm>
            <a:off x="7124700" y="2286000"/>
            <a:ext cx="1371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 b="1">
                <a:solidFill>
                  <a:srgbClr val="0B2F5B"/>
                </a:solidFill>
                <a:latin typeface="Aptos"/>
              </a:rPr>
              <a:t>Acumular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A4D660-30E4-4EB0-B539-7056343BBD12}"/>
              </a:ext>
            </a:extLst>
          </p:cNvPr>
          <p:cNvSpPr txBox="1"/>
          <p:nvPr/>
        </p:nvSpPr>
        <p:spPr>
          <a:xfrm>
            <a:off x="6515100" y="2946400"/>
            <a:ext cx="20193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250">
                <a:solidFill>
                  <a:srgbClr val="172033"/>
                </a:solidFill>
                <a:latin typeface="Aptos"/>
              </a:rPr>
              <a:t>Suma progresiva de los defectos priorizados.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490A57D-2C99-4073-8854-CEE86A804A5F}"/>
              </a:ext>
            </a:extLst>
          </p:cNvPr>
          <p:cNvSpPr/>
          <p:nvPr/>
        </p:nvSpPr>
        <p:spPr>
          <a:xfrm>
            <a:off x="9144000" y="1968500"/>
            <a:ext cx="24765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91774BB-9062-4647-A904-529B1AB2E36E}"/>
              </a:ext>
            </a:extLst>
          </p:cNvPr>
          <p:cNvSpPr/>
          <p:nvPr/>
        </p:nvSpPr>
        <p:spPr>
          <a:xfrm>
            <a:off x="9372600" y="2235200"/>
            <a:ext cx="457200" cy="457200"/>
          </a:xfrm>
          <a:prstGeom prst="ellipse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6A20DF-98F2-4A42-A432-9098257945D8}"/>
              </a:ext>
            </a:extLst>
          </p:cNvPr>
          <p:cNvSpPr txBox="1"/>
          <p:nvPr/>
        </p:nvSpPr>
        <p:spPr>
          <a:xfrm>
            <a:off x="9372600" y="2336800"/>
            <a:ext cx="457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CB52B1-6D5F-42FF-808D-C1C3DD763D0C}"/>
              </a:ext>
            </a:extLst>
          </p:cNvPr>
          <p:cNvSpPr txBox="1"/>
          <p:nvPr/>
        </p:nvSpPr>
        <p:spPr>
          <a:xfrm>
            <a:off x="9982200" y="2286000"/>
            <a:ext cx="1371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 b="1">
                <a:solidFill>
                  <a:srgbClr val="0B2F5B"/>
                </a:solidFill>
                <a:latin typeface="Aptos"/>
              </a:rPr>
              <a:t>Detener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EE3C5C2-F4BC-4602-B91A-CCFCF26934DF}"/>
              </a:ext>
            </a:extLst>
          </p:cNvPr>
          <p:cNvSpPr txBox="1"/>
          <p:nvPr/>
        </p:nvSpPr>
        <p:spPr>
          <a:xfrm>
            <a:off x="9372600" y="2946400"/>
            <a:ext cx="20193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250">
                <a:solidFill>
                  <a:srgbClr val="172033"/>
                </a:solidFill>
                <a:latin typeface="Aptos"/>
              </a:rPr>
              <a:t>Cuando el acumulado alcanza o supera el 60 %.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09DCD00-6672-4D3B-8B02-A954D3988908}"/>
              </a:ext>
            </a:extLst>
          </p:cNvPr>
          <p:cNvSpPr/>
          <p:nvPr/>
        </p:nvSpPr>
        <p:spPr>
          <a:xfrm>
            <a:off x="571500" y="4978400"/>
            <a:ext cx="11049000" cy="96520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7424B3-F3C2-4DE7-8C53-EA5FE92DFDDF}"/>
              </a:ext>
            </a:extLst>
          </p:cNvPr>
          <p:cNvSpPr txBox="1"/>
          <p:nvPr/>
        </p:nvSpPr>
        <p:spPr>
          <a:xfrm>
            <a:off x="863600" y="5257800"/>
            <a:ext cx="4508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E5799"/>
                </a:solidFill>
                <a:latin typeface="Aptos"/>
              </a:rPr>
              <a:t>F/R = Failure Qty ÷ Build Qty × 100</a:t>
            </a:r>
            <a:endParaRPr lang="es-MX" sz="1700" b="1">
              <a:solidFill>
                <a:srgbClr val="1E5799"/>
              </a:solidFill>
              <a:latin typeface="Apto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5279401-DED0-4056-B170-9E7C2997266C}"/>
              </a:ext>
            </a:extLst>
          </p:cNvPr>
          <p:cNvSpPr txBox="1"/>
          <p:nvPr/>
        </p:nvSpPr>
        <p:spPr>
          <a:xfrm>
            <a:off x="5778500" y="5308600"/>
            <a:ext cx="5334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250">
                <a:solidFill>
                  <a:srgbClr val="172033"/>
                </a:solidFill>
                <a:latin typeface="Aptos"/>
              </a:rPr>
              <a:t>La sumatoria Pareto aparece al final de la vista previa.</a:t>
            </a:r>
          </a:p>
        </p:txBody>
      </p:sp>
    </p:spTree>
    <p:extLst>
      <p:ext uri="{BB962C8B-B14F-4D97-AF65-F5344CB8AC3E}">
        <p14:creationId xmlns:p14="http://schemas.microsoft.com/office/powerpoint/2010/main" val="780033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6327EA-C689-4352-A475-02A4CD6378C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B62E0F-AD99-4B4E-98C0-61DEF3310526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E345D0-F060-4E01-867E-57C4BA213E56}"/>
              </a:ext>
            </a:extLst>
          </p:cNvPr>
          <p:cNvSpPr txBox="1"/>
          <p:nvPr/>
        </p:nvSpPr>
        <p:spPr>
          <a:xfrm>
            <a:off x="8763000" y="279400"/>
            <a:ext cx="298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IMPORTACIÓN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1EB61-9490-40A5-94DA-4E70C0135939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9FAE995D-F10B-40DF-823E-6AE06CB40A39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F7B70-1690-4183-9FCA-DBBB1639D03B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19FAB5-23A5-458A-A449-72AFA83C5E2C}"/>
              </a:ext>
            </a:extLst>
          </p:cNvPr>
          <p:cNvSpPr txBox="1"/>
          <p:nvPr/>
        </p:nvSpPr>
        <p:spPr>
          <a:xfrm>
            <a:off x="431800" y="6604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Importar nuevamente el mismo archivo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339908-4635-4F9E-ACF2-811820BD3FEB}"/>
              </a:ext>
            </a:extLst>
          </p:cNvPr>
          <p:cNvSpPr txBox="1"/>
          <p:nvPr/>
        </p:nvSpPr>
        <p:spPr>
          <a:xfrm>
            <a:off x="444500" y="1193800"/>
            <a:ext cx="1111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 coincidencia actualiza el grupo existente y evita duplicados.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B204B1-2452-436F-9A02-4D1D252E00D8}"/>
              </a:ext>
            </a:extLst>
          </p:cNvPr>
          <p:cNvSpPr/>
          <p:nvPr/>
        </p:nvSpPr>
        <p:spPr>
          <a:xfrm>
            <a:off x="533400" y="1968500"/>
            <a:ext cx="3429000" cy="20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E3AD938-62A0-464D-8C0E-1DB173FC7386}"/>
              </a:ext>
            </a:extLst>
          </p:cNvPr>
          <p:cNvSpPr/>
          <p:nvPr/>
        </p:nvSpPr>
        <p:spPr>
          <a:xfrm>
            <a:off x="787400" y="2247900"/>
            <a:ext cx="482600" cy="482600"/>
          </a:xfrm>
          <a:prstGeom prst="ellipse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E4CCB-4CD9-47E6-9755-C2D8FCFF965C}"/>
              </a:ext>
            </a:extLst>
          </p:cNvPr>
          <p:cNvSpPr txBox="1"/>
          <p:nvPr/>
        </p:nvSpPr>
        <p:spPr>
          <a:xfrm>
            <a:off x="787400" y="2362200"/>
            <a:ext cx="482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9B1E20-1909-43C4-9E87-94ECF14E0629}"/>
              </a:ext>
            </a:extLst>
          </p:cNvPr>
          <p:cNvSpPr txBox="1"/>
          <p:nvPr/>
        </p:nvSpPr>
        <p:spPr>
          <a:xfrm>
            <a:off x="1447800" y="2286000"/>
            <a:ext cx="2222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Buscar coincidencia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8FABFE-3B16-4A99-9DB9-7AA2389E7E71}"/>
              </a:ext>
            </a:extLst>
          </p:cNvPr>
          <p:cNvSpPr txBox="1"/>
          <p:nvPr/>
        </p:nvSpPr>
        <p:spPr>
          <a:xfrm>
            <a:off x="787400" y="29464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Fecha + Family normalizada + Top Issue + Category.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FE4A689-6578-48BF-B494-8DD4A13CDEFF}"/>
              </a:ext>
            </a:extLst>
          </p:cNvPr>
          <p:cNvSpPr/>
          <p:nvPr/>
        </p:nvSpPr>
        <p:spPr>
          <a:xfrm>
            <a:off x="4292600" y="1968500"/>
            <a:ext cx="3429000" cy="20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E075389-8E45-4D57-B4EF-1D300E81CA67}"/>
              </a:ext>
            </a:extLst>
          </p:cNvPr>
          <p:cNvSpPr/>
          <p:nvPr/>
        </p:nvSpPr>
        <p:spPr>
          <a:xfrm>
            <a:off x="4546600" y="2247900"/>
            <a:ext cx="482600" cy="482600"/>
          </a:xfrm>
          <a:prstGeom prst="ellipse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5D7219-000B-483A-9236-4C4CA99B5AD5}"/>
              </a:ext>
            </a:extLst>
          </p:cNvPr>
          <p:cNvSpPr txBox="1"/>
          <p:nvPr/>
        </p:nvSpPr>
        <p:spPr>
          <a:xfrm>
            <a:off x="4546600" y="2362200"/>
            <a:ext cx="482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41AAEC-7D9D-4541-821E-59ABE4075AB3}"/>
              </a:ext>
            </a:extLst>
          </p:cNvPr>
          <p:cNvSpPr txBox="1"/>
          <p:nvPr/>
        </p:nvSpPr>
        <p:spPr>
          <a:xfrm>
            <a:off x="5207000" y="2286000"/>
            <a:ext cx="2222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Decidir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409E66-58A3-485C-A2E4-EBBFAD397C44}"/>
              </a:ext>
            </a:extLst>
          </p:cNvPr>
          <p:cNvSpPr txBox="1"/>
          <p:nvPr/>
        </p:nvSpPr>
        <p:spPr>
          <a:xfrm>
            <a:off x="4546600" y="29464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Si existe, actualiza. Si no existe, crea un grupo nuevo.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BD95269-842E-4521-BAE1-D1797ECC61C4}"/>
              </a:ext>
            </a:extLst>
          </p:cNvPr>
          <p:cNvSpPr/>
          <p:nvPr/>
        </p:nvSpPr>
        <p:spPr>
          <a:xfrm>
            <a:off x="8051800" y="1968500"/>
            <a:ext cx="3429000" cy="20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DC4D316-EF50-4D99-B834-0159ECD47DE0}"/>
              </a:ext>
            </a:extLst>
          </p:cNvPr>
          <p:cNvSpPr/>
          <p:nvPr/>
        </p:nvSpPr>
        <p:spPr>
          <a:xfrm>
            <a:off x="8305800" y="2247900"/>
            <a:ext cx="482600" cy="482600"/>
          </a:xfrm>
          <a:prstGeom prst="ellipse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46B894-4A22-455D-8D81-84189C74B502}"/>
              </a:ext>
            </a:extLst>
          </p:cNvPr>
          <p:cNvSpPr txBox="1"/>
          <p:nvPr/>
        </p:nvSpPr>
        <p:spPr>
          <a:xfrm>
            <a:off x="8305800" y="2362200"/>
            <a:ext cx="482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AD44B-312F-47C6-ADA5-56749274070C}"/>
              </a:ext>
            </a:extLst>
          </p:cNvPr>
          <p:cNvSpPr txBox="1"/>
          <p:nvPr/>
        </p:nvSpPr>
        <p:spPr>
          <a:xfrm>
            <a:off x="8966200" y="2286000"/>
            <a:ext cx="2222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Confirmar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FC98F9-92E9-49DB-A2E6-87664486419D}"/>
              </a:ext>
            </a:extLst>
          </p:cNvPr>
          <p:cNvSpPr txBox="1"/>
          <p:nvPr/>
        </p:nvSpPr>
        <p:spPr>
          <a:xfrm>
            <a:off x="8305800" y="2946400"/>
            <a:ext cx="292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Procesa todos los registros restantes, aunque un filtro los oculte.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5C1C806-980A-4DAE-88CF-72FDE159863D}"/>
              </a:ext>
            </a:extLst>
          </p:cNvPr>
          <p:cNvSpPr/>
          <p:nvPr/>
        </p:nvSpPr>
        <p:spPr>
          <a:xfrm>
            <a:off x="533400" y="4381500"/>
            <a:ext cx="10947400" cy="1422400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E7C5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B27111-28FD-4A10-90F6-667C6C7FB07E}"/>
              </a:ext>
            </a:extLst>
          </p:cNvPr>
          <p:cNvSpPr txBox="1"/>
          <p:nvPr/>
        </p:nvSpPr>
        <p:spPr>
          <a:xfrm>
            <a:off x="787400" y="4635500"/>
            <a:ext cx="228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300" b="1">
                <a:solidFill>
                  <a:srgbClr val="8A5B00"/>
                </a:solidFill>
                <a:latin typeface="Aptos"/>
              </a:rPr>
              <a:t>Qué se conserva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83D81A-8037-4DD9-98D4-FADAD57FF2F3}"/>
              </a:ext>
            </a:extLst>
          </p:cNvPr>
          <p:cNvSpPr txBox="1"/>
          <p:nvPr/>
        </p:nvSpPr>
        <p:spPr>
          <a:xfrm>
            <a:off x="787400" y="5041900"/>
            <a:ext cx="10287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300">
                <a:solidFill>
                  <a:srgbClr val="172033"/>
                </a:solidFill>
                <a:latin typeface="Aptos"/>
              </a:rPr>
              <a:t>Las imágenes, Repair Result, Actions y el estado de revisión deben mantenerse al actualizar. Return se deja sin autollenado durante la importación; revísalo antes de guardar cambios manuales.</a:t>
            </a:r>
          </a:p>
        </p:txBody>
      </p:sp>
    </p:spTree>
    <p:extLst>
      <p:ext uri="{BB962C8B-B14F-4D97-AF65-F5344CB8AC3E}">
        <p14:creationId xmlns:p14="http://schemas.microsoft.com/office/powerpoint/2010/main" val="3850342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710501-532A-4583-889C-66BED9C3DE7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5FA968-8B93-407D-BB39-9708CD78EEE3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B07B4-A5EE-49E0-B1DB-18760A950326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REPORTES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C8C279-F435-4DFA-9FA9-11B9669739B9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AC43DCEC-7CA1-43EB-860A-51012DC461AE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DE0465-C8C8-4ACB-8790-6AD38C65FEDF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21</a:t>
            </a:r>
            <a:endParaRPr lang="es-MX" sz="800" b="1" dirty="0">
              <a:solidFill>
                <a:srgbClr val="5D6B82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4514EC-0001-4601-9D1F-1D4B6F4316EA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 dirty="0">
                <a:solidFill>
                  <a:srgbClr val="0B2F5B"/>
                </a:solidFill>
                <a:latin typeface="Aptos"/>
              </a:rPr>
              <a:t>13. Visualizar y editar un reporte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61B64F-6C27-41DB-8654-BF4126FBB74C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El encabezado fijo mantiene las acciones disponibles durante el scroll.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85532F-800F-4BB2-A44C-B89744D63F59}"/>
              </a:ext>
            </a:extLst>
          </p:cNvPr>
          <p:cNvSpPr/>
          <p:nvPr/>
        </p:nvSpPr>
        <p:spPr>
          <a:xfrm>
            <a:off x="3556000" y="1612900"/>
            <a:ext cx="8255000" cy="469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2" name="Picture 11" descr="Captura de KittyHP en la diapositiva 21.">
            <a:extLst>
              <a:ext uri="{FF2B5EF4-FFF2-40B4-BE49-F238E27FC236}">
                <a16:creationId xmlns:a16="http://schemas.microsoft.com/office/drawing/2014/main" id="{BA4E22DD-1A2F-4E02-99D9-9B49383E0C9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0" y="1676400"/>
            <a:ext cx="8128000" cy="45720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7CC1DF-6149-4468-BE3E-26C88FEA1BC8}"/>
              </a:ext>
            </a:extLst>
          </p:cNvPr>
          <p:cNvSpPr/>
          <p:nvPr/>
        </p:nvSpPr>
        <p:spPr>
          <a:xfrm>
            <a:off x="482600" y="1892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365248-B0B4-4FA9-8C7C-035124B0D69E}"/>
              </a:ext>
            </a:extLst>
          </p:cNvPr>
          <p:cNvSpPr txBox="1"/>
          <p:nvPr/>
        </p:nvSpPr>
        <p:spPr>
          <a:xfrm>
            <a:off x="711200" y="18415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 dirty="0">
                <a:solidFill>
                  <a:srgbClr val="172033"/>
                </a:solidFill>
                <a:latin typeface="Aptos"/>
              </a:rPr>
              <a:t>Visualizar: datos, detalles e imágenes.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8D0F79B-55D9-436E-AA1E-83460DE4F3FC}"/>
              </a:ext>
            </a:extLst>
          </p:cNvPr>
          <p:cNvSpPr/>
          <p:nvPr/>
        </p:nvSpPr>
        <p:spPr>
          <a:xfrm>
            <a:off x="482600" y="2590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0A6BE2-9BD4-4780-BD0E-32540010B9B5}"/>
              </a:ext>
            </a:extLst>
          </p:cNvPr>
          <p:cNvSpPr txBox="1"/>
          <p:nvPr/>
        </p:nvSpPr>
        <p:spPr>
          <a:xfrm>
            <a:off x="711200" y="25400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Editar: cambia campos y guarda.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6DA19C9-114D-437F-B02B-4C8E5FE48AA4}"/>
              </a:ext>
            </a:extLst>
          </p:cNvPr>
          <p:cNvSpPr/>
          <p:nvPr/>
        </p:nvSpPr>
        <p:spPr>
          <a:xfrm>
            <a:off x="482600" y="3289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3E4F5C-EA8E-4A8F-857C-684D18E0FE46}"/>
              </a:ext>
            </a:extLst>
          </p:cNvPr>
          <p:cNvSpPr txBox="1"/>
          <p:nvPr/>
        </p:nvSpPr>
        <p:spPr>
          <a:xfrm>
            <a:off x="711200" y="32385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Ocultar detalles: reduce el contenido visible.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226A30C-4B65-4BAD-93FF-B3E7B42FA98E}"/>
              </a:ext>
            </a:extLst>
          </p:cNvPr>
          <p:cNvSpPr/>
          <p:nvPr/>
        </p:nvSpPr>
        <p:spPr>
          <a:xfrm>
            <a:off x="482600" y="3987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1B1B34-D2AA-4EF9-ACFF-DC2ECC1B2785}"/>
              </a:ext>
            </a:extLst>
          </p:cNvPr>
          <p:cNvSpPr txBox="1"/>
          <p:nvPr/>
        </p:nvSpPr>
        <p:spPr>
          <a:xfrm>
            <a:off x="711200" y="39370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ESC: regresa sin guardar.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2C8818A-7D01-4332-B175-05F9A58DE4FC}"/>
              </a:ext>
            </a:extLst>
          </p:cNvPr>
          <p:cNvSpPr/>
          <p:nvPr/>
        </p:nvSpPr>
        <p:spPr>
          <a:xfrm>
            <a:off x="9525000" y="1841500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2625A1-FE2C-4638-8B88-F1AD1223056C}"/>
              </a:ext>
            </a:extLst>
          </p:cNvPr>
          <p:cNvSpPr txBox="1"/>
          <p:nvPr/>
        </p:nvSpPr>
        <p:spPr>
          <a:xfrm>
            <a:off x="9537700" y="1892300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4B372E-0CA3-4973-8897-968B5BB9AB50}"/>
              </a:ext>
            </a:extLst>
          </p:cNvPr>
          <p:cNvSpPr txBox="1"/>
          <p:nvPr/>
        </p:nvSpPr>
        <p:spPr>
          <a:xfrm>
            <a:off x="9931400" y="1841500"/>
            <a:ext cx="152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Ocultar detalles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D93821-651D-4FF0-850F-53A3284E6F0E}"/>
              </a:ext>
            </a:extLst>
          </p:cNvPr>
          <p:cNvSpPr/>
          <p:nvPr/>
        </p:nvSpPr>
        <p:spPr>
          <a:xfrm>
            <a:off x="3632200" y="2298700"/>
            <a:ext cx="8153400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7223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41E1CC-2697-4310-95F9-05E905554A9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5DDB9-7E63-4AEA-9C33-0517DE22A639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D371D-DD0F-4512-9322-DE15137856B7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REPORTES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C443E6-3839-4A15-9D3A-5DAB719EEF0C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0BEB607C-6748-442D-96F9-1BFFF7D4DE10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CF69F-6475-4E57-A569-3EDEE9AC1D7E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22</a:t>
            </a:r>
            <a:endParaRPr lang="es-MX" sz="800" b="1" dirty="0">
              <a:solidFill>
                <a:srgbClr val="5D6B82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84491C-EF3D-4267-A7CE-AFF6B451F9D6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 dirty="0">
                <a:solidFill>
                  <a:srgbClr val="0B2F5B"/>
                </a:solidFill>
                <a:latin typeface="Aptos"/>
              </a:rPr>
              <a:t>14. Reasignar la categoría de una unidad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A28520-94C1-4864-8F5E-0B188D4540A5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Disponible en la tabla Detalles al editar.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B4E4EF8-49A9-496F-8E40-79214D752B3C}"/>
              </a:ext>
            </a:extLst>
          </p:cNvPr>
          <p:cNvSpPr/>
          <p:nvPr/>
        </p:nvSpPr>
        <p:spPr>
          <a:xfrm>
            <a:off x="508000" y="1905000"/>
            <a:ext cx="111760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2F351E-A029-4BF9-B320-ACC519ACBEE8}"/>
              </a:ext>
            </a:extLst>
          </p:cNvPr>
          <p:cNvSpPr/>
          <p:nvPr/>
        </p:nvSpPr>
        <p:spPr>
          <a:xfrm>
            <a:off x="508000" y="1905000"/>
            <a:ext cx="11176000" cy="558800"/>
          </a:xfrm>
          <a:prstGeom prst="rect">
            <a:avLst/>
          </a:prstGeom>
          <a:solidFill>
            <a:srgbClr val="E8F1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4AE947-3CC1-46C8-9216-117DEBFBA66F}"/>
              </a:ext>
            </a:extLst>
          </p:cNvPr>
          <p:cNvSpPr txBox="1"/>
          <p:nvPr/>
        </p:nvSpPr>
        <p:spPr>
          <a:xfrm>
            <a:off x="762000" y="20955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 b="1">
                <a:solidFill>
                  <a:srgbClr val="1E5799"/>
                </a:solidFill>
                <a:latin typeface="Aptos"/>
              </a:rPr>
              <a:t>Family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FDE39A-0BE3-41BE-9D50-7D57CD760EAD}"/>
              </a:ext>
            </a:extLst>
          </p:cNvPr>
          <p:cNvSpPr txBox="1"/>
          <p:nvPr/>
        </p:nvSpPr>
        <p:spPr>
          <a:xfrm>
            <a:off x="3429000" y="20955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 b="1">
                <a:solidFill>
                  <a:srgbClr val="1E5799"/>
                </a:solidFill>
                <a:latin typeface="Aptos"/>
              </a:rPr>
              <a:t>SN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46A021-7747-46CA-9DE7-43A62EFC1C01}"/>
              </a:ext>
            </a:extLst>
          </p:cNvPr>
          <p:cNvSpPr txBox="1"/>
          <p:nvPr/>
        </p:nvSpPr>
        <p:spPr>
          <a:xfrm>
            <a:off x="6032500" y="20955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 b="1">
                <a:solidFill>
                  <a:srgbClr val="1E5799"/>
                </a:solidFill>
                <a:latin typeface="Aptos"/>
              </a:rPr>
              <a:t>Remark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830148-BE29-445B-A9C6-3B3C377C5F28}"/>
              </a:ext>
            </a:extLst>
          </p:cNvPr>
          <p:cNvSpPr txBox="1"/>
          <p:nvPr/>
        </p:nvSpPr>
        <p:spPr>
          <a:xfrm>
            <a:off x="8890000" y="2095500"/>
            <a:ext cx="2286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 b="1">
                <a:solidFill>
                  <a:srgbClr val="1E5799"/>
                </a:solidFill>
                <a:latin typeface="Aptos"/>
              </a:rPr>
              <a:t>Category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31C689-3415-4FEC-A412-E6C1499B0023}"/>
              </a:ext>
            </a:extLst>
          </p:cNvPr>
          <p:cNvSpPr txBox="1"/>
          <p:nvPr/>
        </p:nvSpPr>
        <p:spPr>
          <a:xfrm>
            <a:off x="762000" y="2870200"/>
            <a:ext cx="2222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MACHU14W 1.0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AB191B-EEDB-4605-831A-AB5678011036}"/>
              </a:ext>
            </a:extLst>
          </p:cNvPr>
          <p:cNvSpPr txBox="1"/>
          <p:nvPr/>
        </p:nvSpPr>
        <p:spPr>
          <a:xfrm>
            <a:off x="3429000" y="2870200"/>
            <a:ext cx="2095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2MQ6290L1Y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CAE0B2-DF11-4132-982E-D0AC22701E5E}"/>
              </a:ext>
            </a:extLst>
          </p:cNvPr>
          <p:cNvSpPr txBox="1"/>
          <p:nvPr/>
        </p:nvSpPr>
        <p:spPr>
          <a:xfrm>
            <a:off x="6032500" y="2870200"/>
            <a:ext cx="2540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CAMBIO W WAN FALLA TEST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3BB5240-1020-416B-830F-DC2E3ABE042A}"/>
              </a:ext>
            </a:extLst>
          </p:cNvPr>
          <p:cNvSpPr/>
          <p:nvPr/>
        </p:nvSpPr>
        <p:spPr>
          <a:xfrm>
            <a:off x="8890000" y="2667000"/>
            <a:ext cx="2413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BF4FC4-862A-4E76-AA11-95861678A287}"/>
              </a:ext>
            </a:extLst>
          </p:cNvPr>
          <p:cNvSpPr txBox="1"/>
          <p:nvPr/>
        </p:nvSpPr>
        <p:spPr>
          <a:xfrm>
            <a:off x="9093200" y="2870200"/>
            <a:ext cx="2006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Motherboard          ▾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4B7108-2733-492A-9DE4-2D91C7964DE5}"/>
              </a:ext>
            </a:extLst>
          </p:cNvPr>
          <p:cNvSpPr txBox="1"/>
          <p:nvPr/>
        </p:nvSpPr>
        <p:spPr>
          <a:xfrm>
            <a:off x="660400" y="4826000"/>
            <a:ext cx="25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700" b="1">
                <a:solidFill>
                  <a:srgbClr val="1E5799"/>
                </a:solidFill>
                <a:latin typeface="Aptos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BA89E9-463B-4628-B6ED-B949D31F982E}"/>
              </a:ext>
            </a:extLst>
          </p:cNvPr>
          <p:cNvSpPr txBox="1"/>
          <p:nvPr/>
        </p:nvSpPr>
        <p:spPr>
          <a:xfrm>
            <a:off x="1041400" y="4851400"/>
            <a:ext cx="4381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>
                <a:solidFill>
                  <a:srgbClr val="172033"/>
                </a:solidFill>
                <a:latin typeface="Aptos"/>
              </a:rPr>
              <a:t>Selecciona la nueva Category en la unidad.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26E7DB-D1F0-487A-8437-6F7D01C1DB5F}"/>
              </a:ext>
            </a:extLst>
          </p:cNvPr>
          <p:cNvSpPr txBox="1"/>
          <p:nvPr/>
        </p:nvSpPr>
        <p:spPr>
          <a:xfrm>
            <a:off x="5740400" y="4826000"/>
            <a:ext cx="25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700" b="1">
                <a:solidFill>
                  <a:srgbClr val="1E5799"/>
                </a:solidFill>
                <a:latin typeface="Aptos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1C071E-FA63-4BD3-A360-485556105F30}"/>
              </a:ext>
            </a:extLst>
          </p:cNvPr>
          <p:cNvSpPr txBox="1"/>
          <p:nvPr/>
        </p:nvSpPr>
        <p:spPr>
          <a:xfrm>
            <a:off x="6121400" y="4851400"/>
            <a:ext cx="51435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>
                <a:solidFill>
                  <a:srgbClr val="172033"/>
                </a:solidFill>
                <a:latin typeface="Aptos"/>
              </a:rPr>
              <a:t>Guarda cambios para ejecutar la reasignación.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8A1108-37B9-4680-8F2A-4FF20BBB53C9}"/>
              </a:ext>
            </a:extLst>
          </p:cNvPr>
          <p:cNvSpPr txBox="1"/>
          <p:nvPr/>
        </p:nvSpPr>
        <p:spPr>
          <a:xfrm>
            <a:off x="1041400" y="5397500"/>
            <a:ext cx="10223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Si existe un grupo con Fecha + Family + Top Issue + Category, la unidad se mueve ahí; si no, el sistema crea un grupo nuevo.</a:t>
            </a:r>
          </a:p>
        </p:txBody>
      </p:sp>
    </p:spTree>
    <p:extLst>
      <p:ext uri="{BB962C8B-B14F-4D97-AF65-F5344CB8AC3E}">
        <p14:creationId xmlns:p14="http://schemas.microsoft.com/office/powerpoint/2010/main" val="2051613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082CFE-09BC-47FB-82E1-E0EA6598246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58B2AA-963A-4231-AC70-97D1550D7662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399563-D6B4-4489-96B5-4F8DF019474B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REPORTES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C21A37-F97B-415B-8713-6127B91042BD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1AF2275C-14BA-42BD-AF3E-29C448CD122A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169889-45BD-47F7-9C79-7CBB373B4D61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23</a:t>
            </a:r>
            <a:endParaRPr lang="es-MX" sz="800" b="1" dirty="0">
              <a:solidFill>
                <a:srgbClr val="5D6B82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EDCA2E-6527-4FAA-A513-D5B500119FEA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B2F5B"/>
                </a:solidFill>
                <a:latin typeface="Aptos"/>
              </a:rPr>
              <a:t>15. Return Yes y Return No</a:t>
            </a:r>
            <a:endParaRPr lang="es-MX" sz="2800" b="1" dirty="0">
              <a:solidFill>
                <a:srgbClr val="0B2F5B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5F2BCA-EE29-4972-992F-DA98129A1FFA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 importación deja Return vacío; el usuario decide cuándo capturarlo.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372BB3-A92F-4C5C-A202-E8E5EB3F899F}"/>
              </a:ext>
            </a:extLst>
          </p:cNvPr>
          <p:cNvSpPr/>
          <p:nvPr/>
        </p:nvSpPr>
        <p:spPr>
          <a:xfrm>
            <a:off x="1905000" y="2159000"/>
            <a:ext cx="36195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FD8FA-919B-4022-B66B-2BC3CC696B7F}"/>
              </a:ext>
            </a:extLst>
          </p:cNvPr>
          <p:cNvSpPr txBox="1"/>
          <p:nvPr/>
        </p:nvSpPr>
        <p:spPr>
          <a:xfrm>
            <a:off x="2286000" y="2540000"/>
            <a:ext cx="1397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172033"/>
                </a:solidFill>
                <a:latin typeface="Aptos"/>
              </a:rPr>
              <a:t>Return Yes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2C9E46-75B2-45D4-8EB9-865ABF4FC9B2}"/>
              </a:ext>
            </a:extLst>
          </p:cNvPr>
          <p:cNvSpPr/>
          <p:nvPr/>
        </p:nvSpPr>
        <p:spPr>
          <a:xfrm>
            <a:off x="2286000" y="2984500"/>
            <a:ext cx="1270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BC7C1-1D3E-4770-A313-298ADE71D361}"/>
              </a:ext>
            </a:extLst>
          </p:cNvPr>
          <p:cNvSpPr txBox="1"/>
          <p:nvPr/>
        </p:nvSpPr>
        <p:spPr>
          <a:xfrm>
            <a:off x="2514600" y="3175000"/>
            <a:ext cx="825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>
                <a:solidFill>
                  <a:srgbClr val="172033"/>
                </a:solidFill>
                <a:latin typeface="Aptos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181D31-35BD-4112-A931-D7434D7BE4CF}"/>
              </a:ext>
            </a:extLst>
          </p:cNvPr>
          <p:cNvSpPr txBox="1"/>
          <p:nvPr/>
        </p:nvSpPr>
        <p:spPr>
          <a:xfrm>
            <a:off x="3873500" y="2540000"/>
            <a:ext cx="1397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 b="1">
                <a:solidFill>
                  <a:srgbClr val="172033"/>
                </a:solidFill>
                <a:latin typeface="Aptos"/>
              </a:rPr>
              <a:t>Return No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9510A8B-BFF0-4446-AD53-FF5D0237774D}"/>
              </a:ext>
            </a:extLst>
          </p:cNvPr>
          <p:cNvSpPr/>
          <p:nvPr/>
        </p:nvSpPr>
        <p:spPr>
          <a:xfrm>
            <a:off x="3873500" y="2984500"/>
            <a:ext cx="12700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EBC803-6BD9-4C61-BB4B-BF6C6C18A3E3}"/>
              </a:ext>
            </a:extLst>
          </p:cNvPr>
          <p:cNvSpPr txBox="1"/>
          <p:nvPr/>
        </p:nvSpPr>
        <p:spPr>
          <a:xfrm>
            <a:off x="4127500" y="3175000"/>
            <a:ext cx="825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>
                <a:solidFill>
                  <a:srgbClr val="5D6B82"/>
                </a:solidFill>
                <a:latin typeface="Aptos"/>
              </a:rPr>
              <a:t>—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C18996C-95D8-4C15-85FF-1AB621BFC70D}"/>
              </a:ext>
            </a:extLst>
          </p:cNvPr>
          <p:cNvSpPr/>
          <p:nvPr/>
        </p:nvSpPr>
        <p:spPr>
          <a:xfrm>
            <a:off x="6667500" y="2159000"/>
            <a:ext cx="3619500" cy="1841500"/>
          </a:xfrm>
          <a:prstGeom prst="roundRect">
            <a:avLst/>
          </a:prstGeom>
          <a:solidFill>
            <a:srgbClr val="E8F1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653303-A2B0-48D3-8270-51EA07F905E0}"/>
              </a:ext>
            </a:extLst>
          </p:cNvPr>
          <p:cNvSpPr txBox="1"/>
          <p:nvPr/>
        </p:nvSpPr>
        <p:spPr>
          <a:xfrm>
            <a:off x="7048500" y="25146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Modo manual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6B65B-0FC9-41DC-B303-7D3F172B2341}"/>
              </a:ext>
            </a:extLst>
          </p:cNvPr>
          <p:cNvSpPr txBox="1"/>
          <p:nvPr/>
        </p:nvSpPr>
        <p:spPr>
          <a:xfrm>
            <a:off x="7048500" y="29845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Captura ambos valores y guarda.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84B439-2E4A-472C-B5C9-D97CCD5AAB84}"/>
              </a:ext>
            </a:extLst>
          </p:cNvPr>
          <p:cNvSpPr txBox="1"/>
          <p:nvPr/>
        </p:nvSpPr>
        <p:spPr>
          <a:xfrm>
            <a:off x="7048500" y="34290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6836B"/>
                </a:solidFill>
                <a:latin typeface="Aptos"/>
              </a:rPr>
              <a:t>Modo automático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E5B154-4800-438D-94D8-F3593E05709D}"/>
              </a:ext>
            </a:extLst>
          </p:cNvPr>
          <p:cNvSpPr txBox="1"/>
          <p:nvPr/>
        </p:nvSpPr>
        <p:spPr>
          <a:xfrm>
            <a:off x="7048500" y="38354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El sistema calcula Return No.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993A09-9FF9-4D2A-99F9-D8CBD261A138}"/>
              </a:ext>
            </a:extLst>
          </p:cNvPr>
          <p:cNvSpPr txBox="1"/>
          <p:nvPr/>
        </p:nvSpPr>
        <p:spPr>
          <a:xfrm>
            <a:off x="1905000" y="4635500"/>
            <a:ext cx="838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0B2F5B"/>
                </a:solidFill>
                <a:latin typeface="Aptos"/>
              </a:rPr>
              <a:t>Importante: un valor vacío se conserva vacío al guardar; 0 es un valor explícito.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92CC494-CD42-47FE-B321-CCD875D94294}"/>
              </a:ext>
            </a:extLst>
          </p:cNvPr>
          <p:cNvSpPr/>
          <p:nvPr/>
        </p:nvSpPr>
        <p:spPr>
          <a:xfrm>
            <a:off x="6667500" y="2133600"/>
            <a:ext cx="3619500" cy="2095500"/>
          </a:xfrm>
          <a:prstGeom prst="roundRect">
            <a:avLst/>
          </a:prstGeom>
          <a:solidFill>
            <a:srgbClr val="E8F1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386427-DC89-489D-A68D-5FC2C70BF51E}"/>
              </a:ext>
            </a:extLst>
          </p:cNvPr>
          <p:cNvSpPr txBox="1"/>
          <p:nvPr/>
        </p:nvSpPr>
        <p:spPr>
          <a:xfrm>
            <a:off x="7048500" y="25527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Modo manual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D849A3-E2DD-4B57-ABA4-2A81B2072E26}"/>
              </a:ext>
            </a:extLst>
          </p:cNvPr>
          <p:cNvSpPr txBox="1"/>
          <p:nvPr/>
        </p:nvSpPr>
        <p:spPr>
          <a:xfrm>
            <a:off x="7048500" y="30226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Captura ambos valores y guarda.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7BBBE4-3CAA-4359-92BE-DC13A0FFB7A2}"/>
              </a:ext>
            </a:extLst>
          </p:cNvPr>
          <p:cNvSpPr txBox="1"/>
          <p:nvPr/>
        </p:nvSpPr>
        <p:spPr>
          <a:xfrm>
            <a:off x="7048500" y="34798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 b="1">
                <a:solidFill>
                  <a:srgbClr val="16836B"/>
                </a:solidFill>
                <a:latin typeface="Aptos"/>
              </a:rPr>
              <a:t>Modo automático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F07ABC-D28E-4B7A-9E4E-B8109344CC9D}"/>
              </a:ext>
            </a:extLst>
          </p:cNvPr>
          <p:cNvSpPr txBox="1"/>
          <p:nvPr/>
        </p:nvSpPr>
        <p:spPr>
          <a:xfrm>
            <a:off x="7048500" y="3886200"/>
            <a:ext cx="2794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150">
                <a:solidFill>
                  <a:srgbClr val="172033"/>
                </a:solidFill>
                <a:latin typeface="Aptos"/>
              </a:rPr>
              <a:t>El sistema calcula Return No.</a:t>
            </a:r>
          </a:p>
        </p:txBody>
      </p:sp>
    </p:spTree>
    <p:extLst>
      <p:ext uri="{BB962C8B-B14F-4D97-AF65-F5344CB8AC3E}">
        <p14:creationId xmlns:p14="http://schemas.microsoft.com/office/powerpoint/2010/main" val="22629189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70E05-25A1-499B-9A3C-9DCAB9CCDED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53392-495A-4509-916E-B5804DDB796F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28ECE-A0BB-4160-9928-784D4D122592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OVERALL FPF TREND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9623D2-C2CC-4BC3-8783-668718A70AD0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E7FCA57C-4273-41D3-B285-D80060AEA764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1A0D00-0328-4698-885B-28BB26FE5DAC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24</a:t>
            </a:r>
            <a:endParaRPr lang="es-MX" sz="800" b="1" dirty="0">
              <a:solidFill>
                <a:srgbClr val="5D6B82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A88596-F441-4BED-9048-2B77FF0F7E54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 dirty="0">
                <a:solidFill>
                  <a:srgbClr val="0B2F5B"/>
                </a:solidFill>
                <a:latin typeface="Aptos"/>
              </a:rPr>
              <a:t>16. Consultar </a:t>
            </a:r>
            <a:r>
              <a:rPr lang="es-MX" sz="2800" b="1" dirty="0" err="1">
                <a:solidFill>
                  <a:srgbClr val="0B2F5B"/>
                </a:solidFill>
                <a:latin typeface="Aptos"/>
              </a:rPr>
              <a:t>Overall</a:t>
            </a:r>
            <a:r>
              <a:rPr lang="es-MX" sz="2800" b="1" dirty="0">
                <a:solidFill>
                  <a:srgbClr val="0B2F5B"/>
                </a:solidFill>
                <a:latin typeface="Aptos"/>
              </a:rPr>
              <a:t> FPF </a:t>
            </a:r>
            <a:r>
              <a:rPr lang="es-MX" sz="2800" b="1" dirty="0" err="1">
                <a:solidFill>
                  <a:srgbClr val="0B2F5B"/>
                </a:solidFill>
                <a:latin typeface="Aptos"/>
              </a:rPr>
              <a:t>Trend</a:t>
            </a:r>
            <a:endParaRPr lang="es-MX" sz="2800" b="1" dirty="0">
              <a:solidFill>
                <a:srgbClr val="0B2F5B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A954F-6E3C-4A91-9ADA-807677D74F90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 fecha seleccionada al importar determina el día que recibe los datos.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A2207A-7A0E-4C6F-96FF-E7E72D92DE25}"/>
              </a:ext>
            </a:extLst>
          </p:cNvPr>
          <p:cNvSpPr/>
          <p:nvPr/>
        </p:nvSpPr>
        <p:spPr>
          <a:xfrm>
            <a:off x="482600" y="1955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BCD104-2A04-4F47-8B9D-D68D972A1E52}"/>
              </a:ext>
            </a:extLst>
          </p:cNvPr>
          <p:cNvSpPr txBox="1"/>
          <p:nvPr/>
        </p:nvSpPr>
        <p:spPr>
          <a:xfrm>
            <a:off x="711200" y="1905000"/>
            <a:ext cx="260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Semana individual: captura por día.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23ABEC-8A18-4512-B1B2-36DAA2651FEB}"/>
              </a:ext>
            </a:extLst>
          </p:cNvPr>
          <p:cNvSpPr/>
          <p:nvPr/>
        </p:nvSpPr>
        <p:spPr>
          <a:xfrm>
            <a:off x="482600" y="2654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198A8-0E21-49D0-AF36-FD0A19C70246}"/>
              </a:ext>
            </a:extLst>
          </p:cNvPr>
          <p:cNvSpPr txBox="1"/>
          <p:nvPr/>
        </p:nvSpPr>
        <p:spPr>
          <a:xfrm>
            <a:off x="711200" y="2603500"/>
            <a:ext cx="260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Últimas semanas: consulta histórica.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3A67E0-1096-489F-B062-FCA5F5F29B59}"/>
              </a:ext>
            </a:extLst>
          </p:cNvPr>
          <p:cNvSpPr/>
          <p:nvPr/>
        </p:nvSpPr>
        <p:spPr>
          <a:xfrm>
            <a:off x="482600" y="3352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40D1CC-89AC-4129-A27C-23BE1CDC7EFE}"/>
              </a:ext>
            </a:extLst>
          </p:cNvPr>
          <p:cNvSpPr txBox="1"/>
          <p:nvPr/>
        </p:nvSpPr>
        <p:spPr>
          <a:xfrm>
            <a:off x="711200" y="3302000"/>
            <a:ext cx="260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Comparar semanas: análisis lateral.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32C462-EC2A-4A2C-A5A3-5C0B797D2552}"/>
              </a:ext>
            </a:extLst>
          </p:cNvPr>
          <p:cNvSpPr/>
          <p:nvPr/>
        </p:nvSpPr>
        <p:spPr>
          <a:xfrm>
            <a:off x="482600" y="4051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C6336F-93F6-4FF9-A792-6645E6F0FE58}"/>
              </a:ext>
            </a:extLst>
          </p:cNvPr>
          <p:cNvSpPr txBox="1"/>
          <p:nvPr/>
        </p:nvSpPr>
        <p:spPr>
          <a:xfrm>
            <a:off x="711200" y="4000500"/>
            <a:ext cx="260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Guardar semana y exportar: Admin/User.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6F327F9-DB86-46B4-B88D-6A839AC4FD58}"/>
              </a:ext>
            </a:extLst>
          </p:cNvPr>
          <p:cNvSpPr/>
          <p:nvPr/>
        </p:nvSpPr>
        <p:spPr>
          <a:xfrm>
            <a:off x="3238500" y="1612900"/>
            <a:ext cx="8572500" cy="487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0" name="Picture 19" descr="Captura de KittyHP en la diapositiva 24.">
            <a:extLst>
              <a:ext uri="{FF2B5EF4-FFF2-40B4-BE49-F238E27FC236}">
                <a16:creationId xmlns:a16="http://schemas.microsoft.com/office/drawing/2014/main" id="{6A39488C-7F15-4B37-A237-4A399FB0CE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0" y="1676400"/>
            <a:ext cx="8445500" cy="47498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7D157F06-5384-4F4C-BFED-CBA235ADF1DD}"/>
              </a:ext>
            </a:extLst>
          </p:cNvPr>
          <p:cNvSpPr/>
          <p:nvPr/>
        </p:nvSpPr>
        <p:spPr>
          <a:xfrm>
            <a:off x="4613729" y="2155567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381677-D188-40D1-A85B-091238EAB244}"/>
              </a:ext>
            </a:extLst>
          </p:cNvPr>
          <p:cNvSpPr txBox="1"/>
          <p:nvPr/>
        </p:nvSpPr>
        <p:spPr>
          <a:xfrm>
            <a:off x="4626429" y="2206367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48E6F2-E4FC-4E68-96F7-CEC92010F46A}"/>
              </a:ext>
            </a:extLst>
          </p:cNvPr>
          <p:cNvSpPr txBox="1"/>
          <p:nvPr/>
        </p:nvSpPr>
        <p:spPr>
          <a:xfrm>
            <a:off x="4220028" y="2273816"/>
            <a:ext cx="101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Vistas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D5ABF3B-AFD3-4AE9-9254-474AF8001135}"/>
              </a:ext>
            </a:extLst>
          </p:cNvPr>
          <p:cNvSpPr/>
          <p:nvPr/>
        </p:nvSpPr>
        <p:spPr>
          <a:xfrm>
            <a:off x="7928428" y="2338001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BF711F-9A7E-46B1-8BEE-73AA88DC805C}"/>
              </a:ext>
            </a:extLst>
          </p:cNvPr>
          <p:cNvSpPr txBox="1"/>
          <p:nvPr/>
        </p:nvSpPr>
        <p:spPr>
          <a:xfrm>
            <a:off x="7941128" y="2388801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 dirty="0">
                <a:solidFill>
                  <a:srgbClr val="0B2F5B"/>
                </a:solidFill>
                <a:latin typeface="Aptos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198EBA-F814-467A-96F0-EA67AB1786F2}"/>
              </a:ext>
            </a:extLst>
          </p:cNvPr>
          <p:cNvSpPr txBox="1"/>
          <p:nvPr/>
        </p:nvSpPr>
        <p:spPr>
          <a:xfrm>
            <a:off x="8458200" y="1841500"/>
            <a:ext cx="101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>
                <a:solidFill>
                  <a:srgbClr val="172033"/>
                </a:solidFill>
                <a:latin typeface="Aptos"/>
              </a:rPr>
              <a:t>Semana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6343C04-356C-4753-B4EE-FE49BFAF48E5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8245928" y="2238734"/>
            <a:ext cx="522515" cy="234706"/>
          </a:xfrm>
          <a:prstGeom prst="line">
            <a:avLst/>
          </a:prstGeom>
          <a:ln w="31750">
            <a:solidFill>
              <a:srgbClr val="F3A71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3F9F893-6F4F-4231-A78E-D0798E45C9E1}"/>
              </a:ext>
            </a:extLst>
          </p:cNvPr>
          <p:cNvSpPr/>
          <p:nvPr/>
        </p:nvSpPr>
        <p:spPr>
          <a:xfrm>
            <a:off x="3937000" y="5308600"/>
            <a:ext cx="7366000" cy="73660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343263-EB9C-4AE6-A2F7-5E891A8D4C1A}"/>
              </a:ext>
            </a:extLst>
          </p:cNvPr>
          <p:cNvSpPr txBox="1"/>
          <p:nvPr/>
        </p:nvSpPr>
        <p:spPr>
          <a:xfrm>
            <a:off x="4191000" y="5537200"/>
            <a:ext cx="685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Input Quantity = filas de entrada  ·  Defect Quantity = filas de falla  ·  Defect Rate = Defect ÷ Input × 100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67838E-CAD7-4B05-B2C6-ECCF248DCBC6}"/>
              </a:ext>
            </a:extLst>
          </p:cNvPr>
          <p:cNvSpPr/>
          <p:nvPr/>
        </p:nvSpPr>
        <p:spPr>
          <a:xfrm>
            <a:off x="3403600" y="2768600"/>
            <a:ext cx="8229600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9265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51218E-C413-4E41-94A7-34C69CAED0B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8F6A5-E886-4FFD-98F9-86752C864476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CB389C-05A9-4F78-A28C-41B6BA6E5B34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OVERALL FPF TREND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91A8D4-4667-49FC-8A70-01204D7F2BF5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226A4F02-46F3-47DF-8F4D-987173C1A674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AA2FBB-6317-46BC-9EC8-F5A41C92D48C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25</a:t>
            </a:r>
            <a:endParaRPr lang="es-MX" sz="800" b="1" dirty="0">
              <a:solidFill>
                <a:srgbClr val="5D6B82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499F59-1E60-46AE-A260-D874FE436AC0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 dirty="0">
                <a:solidFill>
                  <a:srgbClr val="0B2F5B"/>
                </a:solidFill>
                <a:latin typeface="Aptos"/>
              </a:rPr>
              <a:t>17. Familias visibles en </a:t>
            </a:r>
            <a:r>
              <a:rPr lang="es-MX" sz="2800" b="1" dirty="0" err="1">
                <a:solidFill>
                  <a:srgbClr val="0B2F5B"/>
                </a:solidFill>
                <a:latin typeface="Aptos"/>
              </a:rPr>
              <a:t>Overall</a:t>
            </a:r>
            <a:endParaRPr lang="es-MX" sz="2800" b="1" dirty="0">
              <a:solidFill>
                <a:srgbClr val="0B2F5B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F81360-14C3-47BA-80D2-50B3F361EBD2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El tablero usa una lista controlada para mantener series comparables.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6D6650-72EF-4E58-985C-DA4118CFEB93}"/>
              </a:ext>
            </a:extLst>
          </p:cNvPr>
          <p:cNvSpPr/>
          <p:nvPr/>
        </p:nvSpPr>
        <p:spPr>
          <a:xfrm>
            <a:off x="698500" y="2095500"/>
            <a:ext cx="2413000" cy="914400"/>
          </a:xfrm>
          <a:prstGeom prst="roundRect">
            <a:avLst/>
          </a:prstGeom>
          <a:solidFill>
            <a:srgbClr val="FFF4CD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9B437A-2379-485E-98AA-AF18FCDDF2E7}"/>
              </a:ext>
            </a:extLst>
          </p:cNvPr>
          <p:cNvSpPr txBox="1"/>
          <p:nvPr/>
        </p:nvSpPr>
        <p:spPr>
          <a:xfrm>
            <a:off x="850900" y="2400300"/>
            <a:ext cx="2108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400" b="1" dirty="0">
                <a:solidFill>
                  <a:srgbClr val="0B2F5B"/>
                </a:solidFill>
                <a:latin typeface="Aptos"/>
              </a:rPr>
              <a:t>G12 800 (Machu/</a:t>
            </a:r>
            <a:r>
              <a:rPr lang="es-MX" sz="1400" b="1" dirty="0" err="1">
                <a:solidFill>
                  <a:srgbClr val="0B2F5B"/>
                </a:solidFill>
                <a:latin typeface="Aptos"/>
              </a:rPr>
              <a:t>LaPaz</a:t>
            </a:r>
            <a:r>
              <a:rPr lang="es-MX" sz="1400" b="1" dirty="0">
                <a:solidFill>
                  <a:srgbClr val="0B2F5B"/>
                </a:solidFill>
                <a:latin typeface="Aptos"/>
              </a:rPr>
              <a:t>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A63686-38A8-4B0B-90DF-A4311FC2A099}"/>
              </a:ext>
            </a:extLst>
          </p:cNvPr>
          <p:cNvSpPr/>
          <p:nvPr/>
        </p:nvSpPr>
        <p:spPr>
          <a:xfrm>
            <a:off x="3492500" y="2095500"/>
            <a:ext cx="2413000" cy="9144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21DCF6-ED29-450B-9DF3-DB0566F354A1}"/>
              </a:ext>
            </a:extLst>
          </p:cNvPr>
          <p:cNvSpPr txBox="1"/>
          <p:nvPr/>
        </p:nvSpPr>
        <p:spPr>
          <a:xfrm>
            <a:off x="3644900" y="2400300"/>
            <a:ext cx="2108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0B2F5B"/>
                </a:solidFill>
                <a:latin typeface="Aptos"/>
              </a:rPr>
              <a:t>CHIRON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860F8C-D182-4E07-83C0-9778C4E20329}"/>
              </a:ext>
            </a:extLst>
          </p:cNvPr>
          <p:cNvSpPr/>
          <p:nvPr/>
        </p:nvSpPr>
        <p:spPr>
          <a:xfrm>
            <a:off x="6286500" y="2095500"/>
            <a:ext cx="2413000" cy="9144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637663-C7A7-44D2-B40D-8A9BBA2443F5}"/>
              </a:ext>
            </a:extLst>
          </p:cNvPr>
          <p:cNvSpPr txBox="1"/>
          <p:nvPr/>
        </p:nvSpPr>
        <p:spPr>
          <a:xfrm>
            <a:off x="6438900" y="2400300"/>
            <a:ext cx="2108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0B2F5B"/>
                </a:solidFill>
                <a:latin typeface="Aptos"/>
              </a:rPr>
              <a:t>GEMTREE 16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44546C9-7131-45AC-952F-53C9585B9111}"/>
              </a:ext>
            </a:extLst>
          </p:cNvPr>
          <p:cNvSpPr/>
          <p:nvPr/>
        </p:nvSpPr>
        <p:spPr>
          <a:xfrm>
            <a:off x="9080500" y="2095500"/>
            <a:ext cx="2413000" cy="9144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0D0AE6-7BC1-4F12-B4B8-381B3B5D34DC}"/>
              </a:ext>
            </a:extLst>
          </p:cNvPr>
          <p:cNvSpPr txBox="1"/>
          <p:nvPr/>
        </p:nvSpPr>
        <p:spPr>
          <a:xfrm>
            <a:off x="9232900" y="2400300"/>
            <a:ext cx="2108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0B2F5B"/>
                </a:solidFill>
                <a:latin typeface="Aptos"/>
              </a:rPr>
              <a:t>GEMTREE 18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B98BBB4-E131-4592-A981-9B36955A9F63}"/>
              </a:ext>
            </a:extLst>
          </p:cNvPr>
          <p:cNvSpPr/>
          <p:nvPr/>
        </p:nvSpPr>
        <p:spPr>
          <a:xfrm>
            <a:off x="698500" y="3429000"/>
            <a:ext cx="2413000" cy="9144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D2E93A-FC88-48CB-A322-09DFF81D82CA}"/>
              </a:ext>
            </a:extLst>
          </p:cNvPr>
          <p:cNvSpPr txBox="1"/>
          <p:nvPr/>
        </p:nvSpPr>
        <p:spPr>
          <a:xfrm>
            <a:off x="850900" y="3733800"/>
            <a:ext cx="2108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0B2F5B"/>
                </a:solidFill>
                <a:latin typeface="Aptos"/>
              </a:rPr>
              <a:t>MERINO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DED52C8-74CE-4449-A042-827EDB4BE03C}"/>
              </a:ext>
            </a:extLst>
          </p:cNvPr>
          <p:cNvSpPr/>
          <p:nvPr/>
        </p:nvSpPr>
        <p:spPr>
          <a:xfrm>
            <a:off x="3492500" y="3429000"/>
            <a:ext cx="2413000" cy="9144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F0CB91-CDE4-468A-A90A-E30D52F780A6}"/>
              </a:ext>
            </a:extLst>
          </p:cNvPr>
          <p:cNvSpPr txBox="1"/>
          <p:nvPr/>
        </p:nvSpPr>
        <p:spPr>
          <a:xfrm>
            <a:off x="3644900" y="3733800"/>
            <a:ext cx="2108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0B2F5B"/>
                </a:solidFill>
                <a:latin typeface="Aptos"/>
              </a:rPr>
              <a:t>LAMPAS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1587541-72ED-4EBE-A372-15328BE06DE6}"/>
              </a:ext>
            </a:extLst>
          </p:cNvPr>
          <p:cNvSpPr/>
          <p:nvPr/>
        </p:nvSpPr>
        <p:spPr>
          <a:xfrm>
            <a:off x="6286500" y="3429000"/>
            <a:ext cx="2413000" cy="9144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5BF5C7-0BC6-480A-9C3E-EC1F7DB7CBB2}"/>
              </a:ext>
            </a:extLst>
          </p:cNvPr>
          <p:cNvSpPr txBox="1"/>
          <p:nvPr/>
        </p:nvSpPr>
        <p:spPr>
          <a:xfrm>
            <a:off x="6438900" y="3733800"/>
            <a:ext cx="2108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400" b="1">
                <a:solidFill>
                  <a:srgbClr val="0B2F5B"/>
                </a:solidFill>
                <a:latin typeface="Aptos"/>
              </a:rPr>
              <a:t>CASHMERE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7322D2-577D-4F4C-8927-8064AD5B833A}"/>
              </a:ext>
            </a:extLst>
          </p:cNvPr>
          <p:cNvSpPr txBox="1"/>
          <p:nvPr/>
        </p:nvSpPr>
        <p:spPr>
          <a:xfrm>
            <a:off x="698500" y="4991100"/>
            <a:ext cx="2413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1E5799"/>
                </a:solidFill>
                <a:latin typeface="Aptos"/>
              </a:rPr>
              <a:t>IDS Overall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D5A455-EF55-406B-8141-387E8DD9C102}"/>
              </a:ext>
            </a:extLst>
          </p:cNvPr>
          <p:cNvSpPr txBox="1"/>
          <p:nvPr/>
        </p:nvSpPr>
        <p:spPr>
          <a:xfrm>
            <a:off x="698500" y="5397500"/>
            <a:ext cx="1028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Resume el total del conjunto mostrado.</a:t>
            </a:r>
          </a:p>
        </p:txBody>
      </p:sp>
    </p:spTree>
    <p:extLst>
      <p:ext uri="{BB962C8B-B14F-4D97-AF65-F5344CB8AC3E}">
        <p14:creationId xmlns:p14="http://schemas.microsoft.com/office/powerpoint/2010/main" val="2984771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114D1C-0E7D-4FAE-8BE6-4E1D3A6151F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10A83-4DD7-409E-95EB-CA47C5CC0CB5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610E8C-494C-4FCA-AE46-C33ABAD0243C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CONFIGURACIÓN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C99B30-5BE4-47E1-944C-AECBF824C65C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9AF6ECAF-2CB7-430D-97A6-8707846F60A1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608057-0593-406B-B8E5-E67C5E19E5CD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26</a:t>
            </a:r>
            <a:endParaRPr lang="es-MX" sz="800" b="1" dirty="0">
              <a:solidFill>
                <a:srgbClr val="5D6B82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ECDB20-888F-41EE-A1BB-04769061C596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 dirty="0">
                <a:solidFill>
                  <a:srgbClr val="0B2F5B"/>
                </a:solidFill>
                <a:latin typeface="Aptos"/>
              </a:rPr>
              <a:t>18. Administrar catálogos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6A78CD-2085-4536-9174-1E6E4B913077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Los selectores de los reportes se alimentan de estos valores.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ADDBBE-DE24-4B3E-92D5-59C284E97C86}"/>
              </a:ext>
            </a:extLst>
          </p:cNvPr>
          <p:cNvSpPr/>
          <p:nvPr/>
        </p:nvSpPr>
        <p:spPr>
          <a:xfrm>
            <a:off x="3429000" y="1612900"/>
            <a:ext cx="8382000" cy="477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2" name="Picture 11" descr="Captura de KittyHP en la diapositiva 26.">
            <a:extLst>
              <a:ext uri="{FF2B5EF4-FFF2-40B4-BE49-F238E27FC236}">
                <a16:creationId xmlns:a16="http://schemas.microsoft.com/office/drawing/2014/main" id="{71358A26-6699-4E75-8471-964C41961A9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0" y="1676400"/>
            <a:ext cx="8255000" cy="46482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C41DA0C-D76E-4348-9C75-66D51C5627C5}"/>
              </a:ext>
            </a:extLst>
          </p:cNvPr>
          <p:cNvSpPr/>
          <p:nvPr/>
        </p:nvSpPr>
        <p:spPr>
          <a:xfrm>
            <a:off x="482600" y="1892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FC6815-545B-413A-BBE2-37847F8EF780}"/>
              </a:ext>
            </a:extLst>
          </p:cNvPr>
          <p:cNvSpPr txBox="1"/>
          <p:nvPr/>
        </p:nvSpPr>
        <p:spPr>
          <a:xfrm>
            <a:off x="711200" y="1841500"/>
            <a:ext cx="241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Family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84DFA47-D54C-4931-A99E-B8223D917771}"/>
              </a:ext>
            </a:extLst>
          </p:cNvPr>
          <p:cNvSpPr/>
          <p:nvPr/>
        </p:nvSpPr>
        <p:spPr>
          <a:xfrm>
            <a:off x="482600" y="2590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B6C8A2-8FBA-4F55-8013-CC95C43DABB9}"/>
              </a:ext>
            </a:extLst>
          </p:cNvPr>
          <p:cNvSpPr txBox="1"/>
          <p:nvPr/>
        </p:nvSpPr>
        <p:spPr>
          <a:xfrm>
            <a:off x="711200" y="2540000"/>
            <a:ext cx="241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Top Issue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A543092-F9C1-48A8-9811-14211A3C4044}"/>
              </a:ext>
            </a:extLst>
          </p:cNvPr>
          <p:cNvSpPr/>
          <p:nvPr/>
        </p:nvSpPr>
        <p:spPr>
          <a:xfrm>
            <a:off x="482600" y="3289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B5B80-9522-4BA3-BAC6-4B471E7F17D6}"/>
              </a:ext>
            </a:extLst>
          </p:cNvPr>
          <p:cNvSpPr txBox="1"/>
          <p:nvPr/>
        </p:nvSpPr>
        <p:spPr>
          <a:xfrm>
            <a:off x="711200" y="3238500"/>
            <a:ext cx="241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Category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CC31593-2E29-4591-8A2E-666A37BEE853}"/>
              </a:ext>
            </a:extLst>
          </p:cNvPr>
          <p:cNvSpPr/>
          <p:nvPr/>
        </p:nvSpPr>
        <p:spPr>
          <a:xfrm>
            <a:off x="482600" y="3987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9668DA-AB22-495E-9643-BC99F9EBDA7F}"/>
              </a:ext>
            </a:extLst>
          </p:cNvPr>
          <p:cNvSpPr txBox="1"/>
          <p:nvPr/>
        </p:nvSpPr>
        <p:spPr>
          <a:xfrm>
            <a:off x="711200" y="3937000"/>
            <a:ext cx="241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Major Part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4226DC9-D975-417C-A3AF-71E58FD6763E}"/>
              </a:ext>
            </a:extLst>
          </p:cNvPr>
          <p:cNvSpPr/>
          <p:nvPr/>
        </p:nvSpPr>
        <p:spPr>
          <a:xfrm>
            <a:off x="482600" y="4686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EEAC03-CDD0-4006-B1AD-9A541181EE19}"/>
              </a:ext>
            </a:extLst>
          </p:cNvPr>
          <p:cNvSpPr txBox="1"/>
          <p:nvPr/>
        </p:nvSpPr>
        <p:spPr>
          <a:xfrm>
            <a:off x="711200" y="4635500"/>
            <a:ext cx="241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Failure Factor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CEB284-9A34-4BEB-B798-9EE81C65FFB5}"/>
              </a:ext>
            </a:extLst>
          </p:cNvPr>
          <p:cNvSpPr txBox="1"/>
          <p:nvPr/>
        </p:nvSpPr>
        <p:spPr>
          <a:xfrm>
            <a:off x="533400" y="5397500"/>
            <a:ext cx="2286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 b="1">
                <a:solidFill>
                  <a:srgbClr val="1E5799"/>
                </a:solidFill>
                <a:latin typeface="Aptos"/>
              </a:rPr>
              <a:t>Acciones disponibles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6ABE1C-A622-430D-BEB7-B502995BE68C}"/>
              </a:ext>
            </a:extLst>
          </p:cNvPr>
          <p:cNvSpPr txBox="1"/>
          <p:nvPr/>
        </p:nvSpPr>
        <p:spPr>
          <a:xfrm>
            <a:off x="533400" y="5727700"/>
            <a:ext cx="2667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Agregar · Buscar · Editar · Desactivar · Eliminar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23CDCAA-727B-4CD5-93BD-E41045C57EF4}"/>
              </a:ext>
            </a:extLst>
          </p:cNvPr>
          <p:cNvSpPr/>
          <p:nvPr/>
        </p:nvSpPr>
        <p:spPr>
          <a:xfrm>
            <a:off x="4876800" y="2418521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96A458-7217-4DD9-90AA-617676055062}"/>
              </a:ext>
            </a:extLst>
          </p:cNvPr>
          <p:cNvSpPr txBox="1"/>
          <p:nvPr/>
        </p:nvSpPr>
        <p:spPr>
          <a:xfrm>
            <a:off x="4889500" y="2469321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 dirty="0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0BD111-613B-48E9-94AE-5FC172054155}"/>
              </a:ext>
            </a:extLst>
          </p:cNvPr>
          <p:cNvSpPr txBox="1"/>
          <p:nvPr/>
        </p:nvSpPr>
        <p:spPr>
          <a:xfrm>
            <a:off x="5321300" y="2496979"/>
            <a:ext cx="127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Nuevo valor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540DD64-A4F7-40CA-A8A9-303D7FA628BC}"/>
              </a:ext>
            </a:extLst>
          </p:cNvPr>
          <p:cNvSpPr/>
          <p:nvPr/>
        </p:nvSpPr>
        <p:spPr>
          <a:xfrm>
            <a:off x="4889500" y="2784648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EA1AA6-0433-4E1B-B4CB-8066DF2028D3}"/>
              </a:ext>
            </a:extLst>
          </p:cNvPr>
          <p:cNvSpPr txBox="1"/>
          <p:nvPr/>
        </p:nvSpPr>
        <p:spPr>
          <a:xfrm>
            <a:off x="4902200" y="2835448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620733-EBEB-40AA-AF06-CEB80E07D442}"/>
              </a:ext>
            </a:extLst>
          </p:cNvPr>
          <p:cNvSpPr txBox="1"/>
          <p:nvPr/>
        </p:nvSpPr>
        <p:spPr>
          <a:xfrm>
            <a:off x="5321300" y="2859269"/>
            <a:ext cx="1016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Buscar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45B85C-9298-45DF-89E6-02C06494A89B}"/>
              </a:ext>
            </a:extLst>
          </p:cNvPr>
          <p:cNvSpPr/>
          <p:nvPr/>
        </p:nvSpPr>
        <p:spPr>
          <a:xfrm>
            <a:off x="3581400" y="3149600"/>
            <a:ext cx="8102600" cy="279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19436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7F4C2F-240F-4876-9253-8892AC56261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2179F-AB8B-4D19-A6A9-F9DCB5F6DE23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189E40-6593-44A0-B31B-3503FEF715B2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CONFIGURACIÓN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A6BA83-433B-4889-B8EC-346259F1421E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E41C080C-DDEF-4CB0-B7F7-67BE622EE66B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E7C40-FFB3-40BD-9352-63E87FACF02D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27</a:t>
            </a:r>
            <a:endParaRPr lang="es-MX" sz="800" b="1" dirty="0">
              <a:solidFill>
                <a:srgbClr val="5D6B82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D72EFA-ED44-43A8-8FAC-FF3A525D0428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 dirty="0">
                <a:solidFill>
                  <a:srgbClr val="0B2F5B"/>
                </a:solidFill>
                <a:latin typeface="Aptos"/>
              </a:rPr>
              <a:t>19. Administrar usuarios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1465BC-7FE4-4892-ACEC-832159E5DF60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Disponible únicamente para el rol Admin.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EE3F4E-18D6-448F-9F83-3B18949BD905}"/>
              </a:ext>
            </a:extLst>
          </p:cNvPr>
          <p:cNvSpPr/>
          <p:nvPr/>
        </p:nvSpPr>
        <p:spPr>
          <a:xfrm>
            <a:off x="482600" y="1892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0AE903-3027-418D-B022-5C35D20CC0D1}"/>
              </a:ext>
            </a:extLst>
          </p:cNvPr>
          <p:cNvSpPr txBox="1"/>
          <p:nvPr/>
        </p:nvSpPr>
        <p:spPr>
          <a:xfrm>
            <a:off x="711200" y="1841500"/>
            <a:ext cx="2667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Agregar usuarios autorizados.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337E08-23DD-451B-ABF0-04B180ECDF3B}"/>
              </a:ext>
            </a:extLst>
          </p:cNvPr>
          <p:cNvSpPr/>
          <p:nvPr/>
        </p:nvSpPr>
        <p:spPr>
          <a:xfrm>
            <a:off x="482600" y="2590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C16955-F667-4D90-8DB7-948000F9EF9A}"/>
              </a:ext>
            </a:extLst>
          </p:cNvPr>
          <p:cNvSpPr txBox="1"/>
          <p:nvPr/>
        </p:nvSpPr>
        <p:spPr>
          <a:xfrm>
            <a:off x="711200" y="2540000"/>
            <a:ext cx="2667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 dirty="0">
                <a:solidFill>
                  <a:srgbClr val="172033"/>
                </a:solidFill>
                <a:latin typeface="Aptos"/>
              </a:rPr>
              <a:t>Asignar Rol: </a:t>
            </a:r>
            <a:r>
              <a:rPr lang="es-MX" sz="1100" dirty="0" err="1">
                <a:solidFill>
                  <a:srgbClr val="172033"/>
                </a:solidFill>
                <a:latin typeface="Aptos"/>
              </a:rPr>
              <a:t>Admin</a:t>
            </a:r>
            <a:r>
              <a:rPr lang="es-MX" sz="1100" dirty="0">
                <a:solidFill>
                  <a:srgbClr val="172033"/>
                </a:solidFill>
                <a:latin typeface="Aptos"/>
              </a:rPr>
              <a:t>, </a:t>
            </a:r>
            <a:r>
              <a:rPr lang="es-MX" sz="1100" dirty="0" err="1">
                <a:solidFill>
                  <a:srgbClr val="172033"/>
                </a:solidFill>
                <a:latin typeface="Aptos"/>
              </a:rPr>
              <a:t>User</a:t>
            </a:r>
            <a:r>
              <a:rPr lang="es-MX" sz="1100" dirty="0">
                <a:solidFill>
                  <a:srgbClr val="172033"/>
                </a:solidFill>
                <a:latin typeface="Aptos"/>
              </a:rPr>
              <a:t> o </a:t>
            </a:r>
            <a:r>
              <a:rPr lang="es-MX" sz="1100" dirty="0" err="1">
                <a:solidFill>
                  <a:srgbClr val="172033"/>
                </a:solidFill>
                <a:latin typeface="Aptos"/>
              </a:rPr>
              <a:t>Viewer</a:t>
            </a:r>
            <a:r>
              <a:rPr lang="es-MX" sz="110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D64D5D-56E9-4DBE-A7F9-BB23DB7C1C5E}"/>
              </a:ext>
            </a:extLst>
          </p:cNvPr>
          <p:cNvSpPr/>
          <p:nvPr/>
        </p:nvSpPr>
        <p:spPr>
          <a:xfrm>
            <a:off x="482600" y="32893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6F7D84-DEEB-40A2-97C4-8329357B662C}"/>
              </a:ext>
            </a:extLst>
          </p:cNvPr>
          <p:cNvSpPr txBox="1"/>
          <p:nvPr/>
        </p:nvSpPr>
        <p:spPr>
          <a:xfrm>
            <a:off x="711200" y="3238500"/>
            <a:ext cx="2667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Activar, editar o eliminar cuentas.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5DE4A98-ABD4-462F-AF60-C331A18EEC0B}"/>
              </a:ext>
            </a:extLst>
          </p:cNvPr>
          <p:cNvSpPr/>
          <p:nvPr/>
        </p:nvSpPr>
        <p:spPr>
          <a:xfrm>
            <a:off x="482600" y="3987800"/>
            <a:ext cx="101600" cy="101600"/>
          </a:xfrm>
          <a:prstGeom prst="round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80EF2D-5705-44AB-884C-D00E3A000CDD}"/>
              </a:ext>
            </a:extLst>
          </p:cNvPr>
          <p:cNvSpPr txBox="1"/>
          <p:nvPr/>
        </p:nvSpPr>
        <p:spPr>
          <a:xfrm>
            <a:off x="711200" y="3937000"/>
            <a:ext cx="2667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La cuenta propia no puede desactivarse por accidente.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312471B-F0FA-402F-A39E-4F07E33DE085}"/>
              </a:ext>
            </a:extLst>
          </p:cNvPr>
          <p:cNvSpPr/>
          <p:nvPr/>
        </p:nvSpPr>
        <p:spPr>
          <a:xfrm>
            <a:off x="3238500" y="1612900"/>
            <a:ext cx="8572500" cy="487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0" name="Picture 19" descr="Captura de KittyHP en la diapositiva 27.">
            <a:extLst>
              <a:ext uri="{FF2B5EF4-FFF2-40B4-BE49-F238E27FC236}">
                <a16:creationId xmlns:a16="http://schemas.microsoft.com/office/drawing/2014/main" id="{6AD158B8-FBE4-400A-AB0D-4A0963504FC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0" y="1676400"/>
            <a:ext cx="8445500" cy="47498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492FB289-8B1E-411E-BBD5-13A62A978EE1}"/>
              </a:ext>
            </a:extLst>
          </p:cNvPr>
          <p:cNvSpPr/>
          <p:nvPr/>
        </p:nvSpPr>
        <p:spPr>
          <a:xfrm>
            <a:off x="10325100" y="2010777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E8FB08-F481-4336-A1CF-2F6443D9C79F}"/>
              </a:ext>
            </a:extLst>
          </p:cNvPr>
          <p:cNvSpPr txBox="1"/>
          <p:nvPr/>
        </p:nvSpPr>
        <p:spPr>
          <a:xfrm>
            <a:off x="10337800" y="2061577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869259-DC81-4211-88F5-8C90748309DD}"/>
              </a:ext>
            </a:extLst>
          </p:cNvPr>
          <p:cNvSpPr txBox="1"/>
          <p:nvPr/>
        </p:nvSpPr>
        <p:spPr>
          <a:xfrm>
            <a:off x="10655300" y="2253669"/>
            <a:ext cx="133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Agregar usuario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13F8D8A-A5D1-4E4C-9AEC-ACAADB6AC634}"/>
              </a:ext>
            </a:extLst>
          </p:cNvPr>
          <p:cNvSpPr/>
          <p:nvPr/>
        </p:nvSpPr>
        <p:spPr>
          <a:xfrm>
            <a:off x="4318000" y="2370723"/>
            <a:ext cx="330200" cy="330200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2E1D49-1BA8-41B6-B305-FA4C8AD64788}"/>
              </a:ext>
            </a:extLst>
          </p:cNvPr>
          <p:cNvSpPr txBox="1"/>
          <p:nvPr/>
        </p:nvSpPr>
        <p:spPr>
          <a:xfrm>
            <a:off x="4330700" y="2421523"/>
            <a:ext cx="30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100" b="1">
                <a:solidFill>
                  <a:srgbClr val="0B2F5B"/>
                </a:solidFill>
                <a:latin typeface="Aptos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F17BC5-FD90-49BC-BDE6-C83081ED334A}"/>
              </a:ext>
            </a:extLst>
          </p:cNvPr>
          <p:cNvSpPr txBox="1"/>
          <p:nvPr/>
        </p:nvSpPr>
        <p:spPr>
          <a:xfrm>
            <a:off x="4699000" y="2448699"/>
            <a:ext cx="1270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000" b="1" dirty="0">
                <a:solidFill>
                  <a:srgbClr val="172033"/>
                </a:solidFill>
                <a:latin typeface="Aptos"/>
              </a:rPr>
              <a:t>Buscar correo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3D2FB2-2E4E-40D8-A256-A96A0BB8B9D5}"/>
              </a:ext>
            </a:extLst>
          </p:cNvPr>
          <p:cNvSpPr/>
          <p:nvPr/>
        </p:nvSpPr>
        <p:spPr>
          <a:xfrm>
            <a:off x="3378200" y="2743200"/>
            <a:ext cx="8280400" cy="279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3007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D08EAE-3FFE-46EC-8519-1F7BCBEAFF4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440838-FFE8-42BA-AA00-6E32D0FE679C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01DBFA-EF09-492C-8F4D-445777ABE9F1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ARCHIVOS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E6D5B0-C655-4D46-93EE-1D5269009EA6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F0BC9555-EFFA-484B-ADA4-7E3009680CF4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3049C2-46F6-4AB7-9085-47310979B689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28</a:t>
            </a:r>
            <a:endParaRPr lang="es-MX" sz="800" b="1" dirty="0">
              <a:solidFill>
                <a:srgbClr val="5D6B82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4283A7-09D8-4015-98DD-A22BF41DCE26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 dirty="0">
                <a:solidFill>
                  <a:srgbClr val="0B2F5B"/>
                </a:solidFill>
                <a:latin typeface="Aptos"/>
              </a:rPr>
              <a:t>20. Descargar Excel e imágenes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80B73B-0E6F-450E-9054-D87514DCC91E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La exportación respeta el conjunto filtrado de reportes.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4FA10D-50E5-46F1-ADD8-43ED04871256}"/>
              </a:ext>
            </a:extLst>
          </p:cNvPr>
          <p:cNvSpPr/>
          <p:nvPr/>
        </p:nvSpPr>
        <p:spPr>
          <a:xfrm>
            <a:off x="635000" y="1968500"/>
            <a:ext cx="4953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8733DE-8CE2-44BA-BD93-1E470ECF08E7}"/>
              </a:ext>
            </a:extLst>
          </p:cNvPr>
          <p:cNvSpPr txBox="1"/>
          <p:nvPr/>
        </p:nvSpPr>
        <p:spPr>
          <a:xfrm>
            <a:off x="952500" y="2286000"/>
            <a:ext cx="3810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900" b="1">
                <a:solidFill>
                  <a:srgbClr val="1E5799"/>
                </a:solidFill>
                <a:latin typeface="Aptos"/>
              </a:rPr>
              <a:t>Descargar Excel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891848-B97F-4A83-95EA-0591BDDD9E21}"/>
              </a:ext>
            </a:extLst>
          </p:cNvPr>
          <p:cNvSpPr txBox="1"/>
          <p:nvPr/>
        </p:nvSpPr>
        <p:spPr>
          <a:xfrm>
            <a:off x="952500" y="2921000"/>
            <a:ext cx="4064000" cy="80021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>
                <a:solidFill>
                  <a:srgbClr val="172033"/>
                </a:solidFill>
                <a:latin typeface="Aptos"/>
              </a:rPr>
              <a:t>• Incluye los datos visibles.
• Fail picture y Evidence pueden contener varias imágenes.
• Todas las imágenes del arreglo se insertan en la exportación.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B105B9-AC44-4FDE-9622-F56FFA9898CA}"/>
              </a:ext>
            </a:extLst>
          </p:cNvPr>
          <p:cNvSpPr/>
          <p:nvPr/>
        </p:nvSpPr>
        <p:spPr>
          <a:xfrm>
            <a:off x="6604000" y="1968500"/>
            <a:ext cx="4953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F9772A-9CB7-4B3F-9894-F73DE22F148E}"/>
              </a:ext>
            </a:extLst>
          </p:cNvPr>
          <p:cNvSpPr txBox="1"/>
          <p:nvPr/>
        </p:nvSpPr>
        <p:spPr>
          <a:xfrm>
            <a:off x="6921500" y="2286000"/>
            <a:ext cx="3810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900" b="1">
                <a:solidFill>
                  <a:srgbClr val="1E5799"/>
                </a:solidFill>
                <a:latin typeface="Aptos"/>
              </a:rPr>
              <a:t>Carrusel de imágenes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0E2F69-8D13-4EF9-8D66-CD51E1423032}"/>
              </a:ext>
            </a:extLst>
          </p:cNvPr>
          <p:cNvSpPr txBox="1"/>
          <p:nvPr/>
        </p:nvSpPr>
        <p:spPr>
          <a:xfrm>
            <a:off x="6921500" y="2921000"/>
            <a:ext cx="4064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>
                <a:solidFill>
                  <a:srgbClr val="172033"/>
                </a:solidFill>
                <a:latin typeface="Aptos"/>
              </a:rPr>
              <a:t>• Flechas izquierda y derecha.
• Contador de posición: 1/10, 2/10…
• Opción de eliminar en edición.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D4E0E2-E9E5-4236-AD7B-3D290C6ADB06}"/>
              </a:ext>
            </a:extLst>
          </p:cNvPr>
          <p:cNvSpPr txBox="1"/>
          <p:nvPr/>
        </p:nvSpPr>
        <p:spPr>
          <a:xfrm>
            <a:off x="635000" y="5334000"/>
            <a:ext cx="1092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300" b="1">
                <a:solidFill>
                  <a:srgbClr val="C8243A"/>
                </a:solidFill>
                <a:latin typeface="Aptos"/>
              </a:rPr>
              <a:t>La descarga está deshabilitada para Viewer.</a:t>
            </a:r>
          </a:p>
        </p:txBody>
      </p:sp>
    </p:spTree>
    <p:extLst>
      <p:ext uri="{BB962C8B-B14F-4D97-AF65-F5344CB8AC3E}">
        <p14:creationId xmlns:p14="http://schemas.microsoft.com/office/powerpoint/2010/main" val="6189652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67BBD1-E55F-46E4-A7C4-149AD6E3441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E6F60E-000B-41AB-80F2-F03E19D0F31C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5490DC-C87F-4588-A7D4-4477C8F06296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PRODUCTIVIDAD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84B39F-9E28-4B80-B163-929DF64D6C2D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82DC331D-0393-49CE-8216-B28A527FE42E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FBA46-D6BB-4802-8C86-9B39481C1FE1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29</a:t>
            </a:r>
            <a:endParaRPr lang="es-MX" sz="800" b="1" dirty="0">
              <a:solidFill>
                <a:srgbClr val="5D6B82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28D07B-754D-483E-BC55-F52EB48C3260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 dirty="0">
                <a:solidFill>
                  <a:srgbClr val="0B2F5B"/>
                </a:solidFill>
                <a:latin typeface="Aptos"/>
              </a:rPr>
              <a:t>21. Atajos de teclado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531383-228C-4674-918D-AC27D376C379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Funcionan sin mostrar etiquetas visuales en la interfaz.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33F9CF-1F95-4EAB-8353-3D0A6AD5D98E}"/>
              </a:ext>
            </a:extLst>
          </p:cNvPr>
          <p:cNvSpPr/>
          <p:nvPr/>
        </p:nvSpPr>
        <p:spPr>
          <a:xfrm>
            <a:off x="698500" y="1905000"/>
            <a:ext cx="533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D6CCC4-61D9-484C-979E-203F7C63FF81}"/>
              </a:ext>
            </a:extLst>
          </p:cNvPr>
          <p:cNvSpPr/>
          <p:nvPr/>
        </p:nvSpPr>
        <p:spPr>
          <a:xfrm>
            <a:off x="927100" y="2120900"/>
            <a:ext cx="1397000" cy="533400"/>
          </a:xfrm>
          <a:prstGeom prst="roundRect">
            <a:avLst/>
          </a:prstGeom>
          <a:solidFill>
            <a:srgbClr val="0B2F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5E50AA-599A-461D-9A89-D0E28B40D2B8}"/>
              </a:ext>
            </a:extLst>
          </p:cNvPr>
          <p:cNvSpPr txBox="1"/>
          <p:nvPr/>
        </p:nvSpPr>
        <p:spPr>
          <a:xfrm>
            <a:off x="952500" y="2260600"/>
            <a:ext cx="1346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Aptos"/>
              </a:rPr>
              <a:t>Ctrl + 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9D12B4-76A9-474D-8429-63DE29C0720D}"/>
              </a:ext>
            </a:extLst>
          </p:cNvPr>
          <p:cNvSpPr txBox="1"/>
          <p:nvPr/>
        </p:nvSpPr>
        <p:spPr>
          <a:xfrm>
            <a:off x="2578100" y="2171700"/>
            <a:ext cx="3111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Enfocar la búsqueda de Reportes.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844BCB-749C-4088-AB51-E33789957D39}"/>
              </a:ext>
            </a:extLst>
          </p:cNvPr>
          <p:cNvSpPr/>
          <p:nvPr/>
        </p:nvSpPr>
        <p:spPr>
          <a:xfrm>
            <a:off x="6477000" y="1905000"/>
            <a:ext cx="533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01E41F-6342-484D-A076-688175E1C395}"/>
              </a:ext>
            </a:extLst>
          </p:cNvPr>
          <p:cNvSpPr/>
          <p:nvPr/>
        </p:nvSpPr>
        <p:spPr>
          <a:xfrm>
            <a:off x="6705600" y="2120900"/>
            <a:ext cx="1397000" cy="533400"/>
          </a:xfrm>
          <a:prstGeom prst="roundRect">
            <a:avLst/>
          </a:prstGeom>
          <a:solidFill>
            <a:srgbClr val="0B2F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8D9CE0-698F-44E3-BCCC-51AEAE6E0EFC}"/>
              </a:ext>
            </a:extLst>
          </p:cNvPr>
          <p:cNvSpPr txBox="1"/>
          <p:nvPr/>
        </p:nvSpPr>
        <p:spPr>
          <a:xfrm>
            <a:off x="6731000" y="2260600"/>
            <a:ext cx="1346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Aptos"/>
              </a:rPr>
              <a:t>Ctrl + 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9A0617-246D-4545-82C3-0D792D8B7A29}"/>
              </a:ext>
            </a:extLst>
          </p:cNvPr>
          <p:cNvSpPr txBox="1"/>
          <p:nvPr/>
        </p:nvSpPr>
        <p:spPr>
          <a:xfrm>
            <a:off x="8356600" y="2171700"/>
            <a:ext cx="3111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Guardar el formulario o la semana activa.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ADCDB46-6D1F-4C58-A515-F977B6D5650F}"/>
              </a:ext>
            </a:extLst>
          </p:cNvPr>
          <p:cNvSpPr/>
          <p:nvPr/>
        </p:nvSpPr>
        <p:spPr>
          <a:xfrm>
            <a:off x="698500" y="3238500"/>
            <a:ext cx="533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9C4676C-4622-4594-8941-C4B6E5852084}"/>
              </a:ext>
            </a:extLst>
          </p:cNvPr>
          <p:cNvSpPr/>
          <p:nvPr/>
        </p:nvSpPr>
        <p:spPr>
          <a:xfrm>
            <a:off x="927100" y="3454400"/>
            <a:ext cx="1397000" cy="533400"/>
          </a:xfrm>
          <a:prstGeom prst="roundRect">
            <a:avLst/>
          </a:prstGeom>
          <a:solidFill>
            <a:srgbClr val="0B2F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F85CA7-0A77-4D46-9DA1-690C14CACC9C}"/>
              </a:ext>
            </a:extLst>
          </p:cNvPr>
          <p:cNvSpPr txBox="1"/>
          <p:nvPr/>
        </p:nvSpPr>
        <p:spPr>
          <a:xfrm>
            <a:off x="952500" y="3594100"/>
            <a:ext cx="1346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Aptos"/>
              </a:rPr>
              <a:t>Ctrl + 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5A706A-A1C3-4C24-B99C-0147B1E43A50}"/>
              </a:ext>
            </a:extLst>
          </p:cNvPr>
          <p:cNvSpPr txBox="1"/>
          <p:nvPr/>
        </p:nvSpPr>
        <p:spPr>
          <a:xfrm>
            <a:off x="2578100" y="3505200"/>
            <a:ext cx="3111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Mostrar u ocultar Detalles.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3EA11AD-DCAF-4EDA-A493-E4004C7F1BF0}"/>
              </a:ext>
            </a:extLst>
          </p:cNvPr>
          <p:cNvSpPr/>
          <p:nvPr/>
        </p:nvSpPr>
        <p:spPr>
          <a:xfrm>
            <a:off x="6477000" y="3238500"/>
            <a:ext cx="533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1C25E71-C1CF-4034-92E5-73DC40386E03}"/>
              </a:ext>
            </a:extLst>
          </p:cNvPr>
          <p:cNvSpPr/>
          <p:nvPr/>
        </p:nvSpPr>
        <p:spPr>
          <a:xfrm>
            <a:off x="6705600" y="3454400"/>
            <a:ext cx="1397000" cy="533400"/>
          </a:xfrm>
          <a:prstGeom prst="roundRect">
            <a:avLst/>
          </a:prstGeom>
          <a:solidFill>
            <a:srgbClr val="0B2F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784F-2151-4985-9CF5-794CBD890FEB}"/>
              </a:ext>
            </a:extLst>
          </p:cNvPr>
          <p:cNvSpPr txBox="1"/>
          <p:nvPr/>
        </p:nvSpPr>
        <p:spPr>
          <a:xfrm>
            <a:off x="6731000" y="3594100"/>
            <a:ext cx="1346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Aptos"/>
              </a:rPr>
              <a:t>ESC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FF67C7-1B1A-4823-A337-DBC4C3D08F08}"/>
              </a:ext>
            </a:extLst>
          </p:cNvPr>
          <p:cNvSpPr txBox="1"/>
          <p:nvPr/>
        </p:nvSpPr>
        <p:spPr>
          <a:xfrm>
            <a:off x="8356600" y="3505200"/>
            <a:ext cx="3111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1200">
                <a:solidFill>
                  <a:srgbClr val="172033"/>
                </a:solidFill>
                <a:latin typeface="Aptos"/>
              </a:rPr>
              <a:t>Cerrar menús/modales o regresar.</a:t>
            </a:r>
            <a:endParaRPr lang="es-MX" sz="120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7B6E033-1BC9-400F-A367-7CB86B0024A3}"/>
              </a:ext>
            </a:extLst>
          </p:cNvPr>
          <p:cNvSpPr/>
          <p:nvPr/>
        </p:nvSpPr>
        <p:spPr>
          <a:xfrm>
            <a:off x="698500" y="4572000"/>
            <a:ext cx="533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DFA778C-40A5-4288-B2C2-42C470D90548}"/>
              </a:ext>
            </a:extLst>
          </p:cNvPr>
          <p:cNvSpPr/>
          <p:nvPr/>
        </p:nvSpPr>
        <p:spPr>
          <a:xfrm>
            <a:off x="927100" y="4787900"/>
            <a:ext cx="1397000" cy="533400"/>
          </a:xfrm>
          <a:prstGeom prst="roundRect">
            <a:avLst/>
          </a:prstGeom>
          <a:solidFill>
            <a:srgbClr val="0B2F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6DB747-6B75-49A8-8101-4273FE0DB0B6}"/>
              </a:ext>
            </a:extLst>
          </p:cNvPr>
          <p:cNvSpPr txBox="1"/>
          <p:nvPr/>
        </p:nvSpPr>
        <p:spPr>
          <a:xfrm>
            <a:off x="952500" y="4927600"/>
            <a:ext cx="1346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Aptos"/>
              </a:rPr>
              <a:t>←  →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D075B1-F505-4FB9-A081-EEAD8AD01818}"/>
              </a:ext>
            </a:extLst>
          </p:cNvPr>
          <p:cNvSpPr txBox="1"/>
          <p:nvPr/>
        </p:nvSpPr>
        <p:spPr>
          <a:xfrm>
            <a:off x="2578100" y="4838700"/>
            <a:ext cx="3111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Moverse por el carrusel de imágenes.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F7BE074-7BF3-4A13-8C84-3ACFE0A51B9E}"/>
              </a:ext>
            </a:extLst>
          </p:cNvPr>
          <p:cNvSpPr/>
          <p:nvPr/>
        </p:nvSpPr>
        <p:spPr>
          <a:xfrm>
            <a:off x="6477000" y="4572000"/>
            <a:ext cx="533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7D94D56-C324-4F21-82B9-0C8DE82B4B21}"/>
              </a:ext>
            </a:extLst>
          </p:cNvPr>
          <p:cNvSpPr/>
          <p:nvPr/>
        </p:nvSpPr>
        <p:spPr>
          <a:xfrm>
            <a:off x="6705600" y="4787900"/>
            <a:ext cx="1397000" cy="533400"/>
          </a:xfrm>
          <a:prstGeom prst="roundRect">
            <a:avLst/>
          </a:prstGeom>
          <a:solidFill>
            <a:srgbClr val="0B2F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11C4E4-95BE-4E34-9509-19179D1C0182}"/>
              </a:ext>
            </a:extLst>
          </p:cNvPr>
          <p:cNvSpPr txBox="1"/>
          <p:nvPr/>
        </p:nvSpPr>
        <p:spPr>
          <a:xfrm>
            <a:off x="6731000" y="4927600"/>
            <a:ext cx="1346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FFFFFF"/>
                </a:solidFill>
                <a:latin typeface="Aptos"/>
              </a:rPr>
              <a:t>Ctrl + Enter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5959A5-904F-4E9C-96CF-1302887955D0}"/>
              </a:ext>
            </a:extLst>
          </p:cNvPr>
          <p:cNvSpPr txBox="1"/>
          <p:nvPr/>
        </p:nvSpPr>
        <p:spPr>
          <a:xfrm>
            <a:off x="8356600" y="4838700"/>
            <a:ext cx="3111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Confirmar una alerta bloqueante.</a:t>
            </a:r>
          </a:p>
        </p:txBody>
      </p:sp>
    </p:spTree>
    <p:extLst>
      <p:ext uri="{BB962C8B-B14F-4D97-AF65-F5344CB8AC3E}">
        <p14:creationId xmlns:p14="http://schemas.microsoft.com/office/powerpoint/2010/main" val="3818357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B7A65D-6401-4BAC-B642-D0612F1AFF7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2447B-5BBE-43EB-93DA-DF13A9990F26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F219F-A158-4FC2-9AA1-D0376F34D624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AYUDA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3CF2C4-7C16-4792-ADB1-4A07B76F15A9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FC14A735-1C0B-4761-B5F9-6E418A713F15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8E6ECD-4CC4-4A7F-A4AE-E0944BD189BA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30</a:t>
            </a:r>
            <a:endParaRPr lang="es-MX" sz="800" b="1" dirty="0">
              <a:solidFill>
                <a:srgbClr val="5D6B82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A3A6E6-E3E7-4BD3-8A0F-A9E3D49052C7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 dirty="0">
                <a:solidFill>
                  <a:srgbClr val="0B2F5B"/>
                </a:solidFill>
                <a:latin typeface="Aptos"/>
              </a:rPr>
              <a:t>22. Alertas, confirmaciones y errores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1FFF97-76B4-4436-BC71-0450B18372A1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El feedback se muestra centrado en la parte superior.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8BDE0E8-38C6-47BA-9DEA-42B209F22C4A}"/>
              </a:ext>
            </a:extLst>
          </p:cNvPr>
          <p:cNvSpPr/>
          <p:nvPr/>
        </p:nvSpPr>
        <p:spPr>
          <a:xfrm>
            <a:off x="635000" y="2032000"/>
            <a:ext cx="3302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0B3D1B-7E10-4AD1-B6DB-2A60143F6157}"/>
              </a:ext>
            </a:extLst>
          </p:cNvPr>
          <p:cNvSpPr/>
          <p:nvPr/>
        </p:nvSpPr>
        <p:spPr>
          <a:xfrm>
            <a:off x="635000" y="2032000"/>
            <a:ext cx="101600" cy="1397000"/>
          </a:xfrm>
          <a:prstGeom prst="rect">
            <a:avLst/>
          </a:prstGeom>
          <a:solidFill>
            <a:srgbClr val="1683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0A856E-2F35-4CE1-9825-D804932E568D}"/>
              </a:ext>
            </a:extLst>
          </p:cNvPr>
          <p:cNvSpPr txBox="1"/>
          <p:nvPr/>
        </p:nvSpPr>
        <p:spPr>
          <a:xfrm>
            <a:off x="990600" y="2286000"/>
            <a:ext cx="241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6836B"/>
                </a:solidFill>
                <a:latin typeface="Aptos"/>
              </a:rPr>
              <a:t>Éxito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CE5A35-9D12-40EA-84A0-464C94897172}"/>
              </a:ext>
            </a:extLst>
          </p:cNvPr>
          <p:cNvSpPr txBox="1"/>
          <p:nvPr/>
        </p:nvSpPr>
        <p:spPr>
          <a:xfrm>
            <a:off x="990600" y="2768600"/>
            <a:ext cx="260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La operación se completó.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7CF17E-5243-4946-A621-E16BCD874391}"/>
              </a:ext>
            </a:extLst>
          </p:cNvPr>
          <p:cNvSpPr/>
          <p:nvPr/>
        </p:nvSpPr>
        <p:spPr>
          <a:xfrm>
            <a:off x="4445000" y="2032000"/>
            <a:ext cx="3302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542AFB-31EF-48F0-AD2C-2513CDC10AAA}"/>
              </a:ext>
            </a:extLst>
          </p:cNvPr>
          <p:cNvSpPr/>
          <p:nvPr/>
        </p:nvSpPr>
        <p:spPr>
          <a:xfrm>
            <a:off x="4445000" y="2032000"/>
            <a:ext cx="101600" cy="1397000"/>
          </a:xfrm>
          <a:prstGeom prst="rect">
            <a:avLst/>
          </a:prstGeom>
          <a:solidFill>
            <a:srgbClr val="F3A71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A62B23-478E-4AD8-A540-D48D77ABF544}"/>
              </a:ext>
            </a:extLst>
          </p:cNvPr>
          <p:cNvSpPr txBox="1"/>
          <p:nvPr/>
        </p:nvSpPr>
        <p:spPr>
          <a:xfrm>
            <a:off x="4800600" y="2286000"/>
            <a:ext cx="241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F3A712"/>
                </a:solidFill>
                <a:latin typeface="Aptos"/>
              </a:rPr>
              <a:t>Advertencia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C1446F-789E-4AC1-AF40-77B4B0F34E20}"/>
              </a:ext>
            </a:extLst>
          </p:cNvPr>
          <p:cNvSpPr txBox="1"/>
          <p:nvPr/>
        </p:nvSpPr>
        <p:spPr>
          <a:xfrm>
            <a:off x="4800600" y="2768600"/>
            <a:ext cx="260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Revisa datos o exclusiones.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BBB02C3-569D-43DB-998F-607D3B090E74}"/>
              </a:ext>
            </a:extLst>
          </p:cNvPr>
          <p:cNvSpPr/>
          <p:nvPr/>
        </p:nvSpPr>
        <p:spPr>
          <a:xfrm>
            <a:off x="8255000" y="2032000"/>
            <a:ext cx="33020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33FD9E-F64E-4E83-A30D-EF458147410C}"/>
              </a:ext>
            </a:extLst>
          </p:cNvPr>
          <p:cNvSpPr/>
          <p:nvPr/>
        </p:nvSpPr>
        <p:spPr>
          <a:xfrm>
            <a:off x="8255000" y="2032000"/>
            <a:ext cx="101600" cy="1397000"/>
          </a:xfrm>
          <a:prstGeom prst="rect">
            <a:avLst/>
          </a:prstGeom>
          <a:solidFill>
            <a:srgbClr val="C824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A50B10-265C-4B65-8FF0-844D42AB276E}"/>
              </a:ext>
            </a:extLst>
          </p:cNvPr>
          <p:cNvSpPr txBox="1"/>
          <p:nvPr/>
        </p:nvSpPr>
        <p:spPr>
          <a:xfrm>
            <a:off x="8610600" y="2286000"/>
            <a:ext cx="2413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C8243A"/>
                </a:solidFill>
                <a:latin typeface="Aptos"/>
              </a:rPr>
              <a:t>Error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3EE492-62F1-4790-8381-4830CBEEE17A}"/>
              </a:ext>
            </a:extLst>
          </p:cNvPr>
          <p:cNvSpPr txBox="1"/>
          <p:nvPr/>
        </p:nvSpPr>
        <p:spPr>
          <a:xfrm>
            <a:off x="8610600" y="2768600"/>
            <a:ext cx="2603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100">
                <a:solidFill>
                  <a:srgbClr val="172033"/>
                </a:solidFill>
                <a:latin typeface="Aptos"/>
              </a:rPr>
              <a:t>La operación no se guardó.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A90E437-6C98-4277-878C-EF587D2F3848}"/>
              </a:ext>
            </a:extLst>
          </p:cNvPr>
          <p:cNvSpPr/>
          <p:nvPr/>
        </p:nvSpPr>
        <p:spPr>
          <a:xfrm>
            <a:off x="635000" y="3873500"/>
            <a:ext cx="10922000" cy="152400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0ABCDA-FD08-4467-BE04-D941CEC44A5E}"/>
              </a:ext>
            </a:extLst>
          </p:cNvPr>
          <p:cNvSpPr txBox="1"/>
          <p:nvPr/>
        </p:nvSpPr>
        <p:spPr>
          <a:xfrm>
            <a:off x="914400" y="4165600"/>
            <a:ext cx="279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0B2F5B"/>
                </a:solidFill>
                <a:latin typeface="Aptos"/>
              </a:rPr>
              <a:t>Confirmaciones críticas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CB3FA4-E62C-4552-A6D5-4DE4A5328F51}"/>
              </a:ext>
            </a:extLst>
          </p:cNvPr>
          <p:cNvSpPr txBox="1"/>
          <p:nvPr/>
        </p:nvSpPr>
        <p:spPr>
          <a:xfrm>
            <a:off x="914400" y="4635500"/>
            <a:ext cx="10033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300">
                <a:solidFill>
                  <a:srgbClr val="172033"/>
                </a:solidFill>
                <a:latin typeface="Aptos"/>
              </a:rPr>
              <a:t>Bloquean temporalmente navegación y clics. Usa Cancelar o ESC para cerrar; confirma únicamente después de revisar el registro afectado.</a:t>
            </a:r>
          </a:p>
        </p:txBody>
      </p:sp>
      <p:sp>
        <p:nvSpPr>
          <p:cNvPr id="25" name="TextBox 24">
            <a:hlinkClick r:id="rId2"/>
            <a:extLst>
              <a:ext uri="{FF2B5EF4-FFF2-40B4-BE49-F238E27FC236}">
                <a16:creationId xmlns:a16="http://schemas.microsoft.com/office/drawing/2014/main" id="{C888028F-AAB1-4C26-913A-D767D11890E5}"/>
              </a:ext>
            </a:extLst>
          </p:cNvPr>
          <p:cNvSpPr txBox="1"/>
          <p:nvPr/>
        </p:nvSpPr>
        <p:spPr>
          <a:xfrm>
            <a:off x="635000" y="5791200"/>
            <a:ext cx="1092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MX" sz="1200" b="1">
                <a:solidFill>
                  <a:srgbClr val="1E5799"/>
                </a:solidFill>
                <a:latin typeface="Aptos"/>
              </a:rPr>
              <a:t>Si un error persiste: captura el mensaje y contacta Ramos.Rey@inventec.com.</a:t>
            </a:r>
          </a:p>
        </p:txBody>
      </p:sp>
    </p:spTree>
    <p:extLst>
      <p:ext uri="{BB962C8B-B14F-4D97-AF65-F5344CB8AC3E}">
        <p14:creationId xmlns:p14="http://schemas.microsoft.com/office/powerpoint/2010/main" val="30668787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2A6161-3D6A-4CA4-AE27-D9EE0724949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0A041E-DB49-418C-A473-B9C2DA19C1E5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E21331-FAEC-477C-86A4-280CD6BD5430}"/>
              </a:ext>
            </a:extLst>
          </p:cNvPr>
          <p:cNvSpPr txBox="1"/>
          <p:nvPr/>
        </p:nvSpPr>
        <p:spPr>
          <a:xfrm>
            <a:off x="8763000" y="279400"/>
            <a:ext cx="298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AYUDA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4409D6-EF52-40E1-BD23-4382CA547C95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74CCB720-E221-48F3-AB85-B6240BF33256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412B84-4AEA-492E-974A-CC7B0A27FF7E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31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A54EF0-02B3-4CA3-9CB0-C4CE50C3EC8E}"/>
              </a:ext>
            </a:extLst>
          </p:cNvPr>
          <p:cNvSpPr txBox="1"/>
          <p:nvPr/>
        </p:nvSpPr>
        <p:spPr>
          <a:xfrm>
            <a:off x="431800" y="660400"/>
            <a:ext cx="1117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Diagnóstico, soporte y versión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806523-1BA3-4B73-958F-A5ED096BAC64}"/>
              </a:ext>
            </a:extLst>
          </p:cNvPr>
          <p:cNvSpPr txBox="1"/>
          <p:nvPr/>
        </p:nvSpPr>
        <p:spPr>
          <a:xfrm>
            <a:off x="444500" y="1193800"/>
            <a:ext cx="1111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Qué revisar antes de solicitar ayuda y qué información enviar.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0510D8-0337-4788-B905-C608156E3E5F}"/>
              </a:ext>
            </a:extLst>
          </p:cNvPr>
          <p:cNvSpPr/>
          <p:nvPr/>
        </p:nvSpPr>
        <p:spPr>
          <a:xfrm>
            <a:off x="508000" y="1841500"/>
            <a:ext cx="2857500" cy="482600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24C54-3D6B-4877-A309-3660B39C82F9}"/>
              </a:ext>
            </a:extLst>
          </p:cNvPr>
          <p:cNvSpPr txBox="1"/>
          <p:nvPr/>
        </p:nvSpPr>
        <p:spPr>
          <a:xfrm>
            <a:off x="635000" y="1974850"/>
            <a:ext cx="2603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 b="1">
                <a:solidFill>
                  <a:srgbClr val="FFFFFF"/>
                </a:solidFill>
                <a:latin typeface="Aptos"/>
              </a:rPr>
              <a:t>Situación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59ED65-8330-476E-945F-66990586E6B8}"/>
              </a:ext>
            </a:extLst>
          </p:cNvPr>
          <p:cNvSpPr/>
          <p:nvPr/>
        </p:nvSpPr>
        <p:spPr>
          <a:xfrm>
            <a:off x="3365500" y="1841500"/>
            <a:ext cx="8318500" cy="482600"/>
          </a:xfrm>
          <a:prstGeom prst="rect">
            <a:avLst/>
          </a:prstGeom>
          <a:solidFill>
            <a:srgbClr val="0B2F5B"/>
          </a:solidFill>
          <a:ln w="12700">
            <a:solidFill>
              <a:srgbClr val="0B2F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64D822-E85F-4526-95AB-B08F2F3E290E}"/>
              </a:ext>
            </a:extLst>
          </p:cNvPr>
          <p:cNvSpPr txBox="1"/>
          <p:nvPr/>
        </p:nvSpPr>
        <p:spPr>
          <a:xfrm>
            <a:off x="3492500" y="1974850"/>
            <a:ext cx="806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 b="1">
                <a:solidFill>
                  <a:srgbClr val="FFFFFF"/>
                </a:solidFill>
                <a:latin typeface="Aptos"/>
              </a:rPr>
              <a:t>Acción recomendada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3031FF-A166-4DAD-AE14-A4763A2D3462}"/>
              </a:ext>
            </a:extLst>
          </p:cNvPr>
          <p:cNvSpPr/>
          <p:nvPr/>
        </p:nvSpPr>
        <p:spPr>
          <a:xfrm>
            <a:off x="508000" y="2324100"/>
            <a:ext cx="2857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0641B9-C9FB-4BD7-B206-731ACFCF72CC}"/>
              </a:ext>
            </a:extLst>
          </p:cNvPr>
          <p:cNvSpPr txBox="1"/>
          <p:nvPr/>
        </p:nvSpPr>
        <p:spPr>
          <a:xfrm>
            <a:off x="635000" y="2520950"/>
            <a:ext cx="2603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 b="1">
                <a:solidFill>
                  <a:srgbClr val="0B2F5B"/>
                </a:solidFill>
                <a:latin typeface="Aptos"/>
              </a:rPr>
              <a:t>Archivo rechazado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D81B8F-2278-4489-8D5C-A0F0C7C204B7}"/>
              </a:ext>
            </a:extLst>
          </p:cNvPr>
          <p:cNvSpPr/>
          <p:nvPr/>
        </p:nvSpPr>
        <p:spPr>
          <a:xfrm>
            <a:off x="3365500" y="2324100"/>
            <a:ext cx="8318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74B015-0B31-45C8-844C-4D931B49ABE8}"/>
              </a:ext>
            </a:extLst>
          </p:cNvPr>
          <p:cNvSpPr txBox="1"/>
          <p:nvPr/>
        </p:nvSpPr>
        <p:spPr>
          <a:xfrm>
            <a:off x="3492500" y="2520950"/>
            <a:ext cx="806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Confirma .xlsx, nombre Reporte MM DD Est.50.xlsx y hojas exactas.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E5ADCE-A7E9-4F21-AFD8-E7AFB3F42406}"/>
              </a:ext>
            </a:extLst>
          </p:cNvPr>
          <p:cNvSpPr/>
          <p:nvPr/>
        </p:nvSpPr>
        <p:spPr>
          <a:xfrm>
            <a:off x="508000" y="2933700"/>
            <a:ext cx="2857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2EE2E8-03C5-4942-82C2-229FCF1C4A64}"/>
              </a:ext>
            </a:extLst>
          </p:cNvPr>
          <p:cNvSpPr txBox="1"/>
          <p:nvPr/>
        </p:nvSpPr>
        <p:spPr>
          <a:xfrm>
            <a:off x="635000" y="3130550"/>
            <a:ext cx="2603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 b="1">
                <a:solidFill>
                  <a:srgbClr val="0B2F5B"/>
                </a:solidFill>
                <a:latin typeface="Aptos"/>
              </a:rPr>
              <a:t>Datos incompletos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51C59C-9FCA-4FEA-B9C6-A3F7B999CA5F}"/>
              </a:ext>
            </a:extLst>
          </p:cNvPr>
          <p:cNvSpPr/>
          <p:nvPr/>
        </p:nvSpPr>
        <p:spPr>
          <a:xfrm>
            <a:off x="3365500" y="2933700"/>
            <a:ext cx="8318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FA0FDC-3F65-454E-98DE-AE5F74DF7EDA}"/>
              </a:ext>
            </a:extLst>
          </p:cNvPr>
          <p:cNvSpPr txBox="1"/>
          <p:nvPr/>
        </p:nvSpPr>
        <p:spPr>
          <a:xfrm>
            <a:off x="3492500" y="3130550"/>
            <a:ext cx="806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Revisa encabezados, exclusiones y los valores editables de la vista previa.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F47170-0E03-4EC5-A435-6750762E08A0}"/>
              </a:ext>
            </a:extLst>
          </p:cNvPr>
          <p:cNvSpPr/>
          <p:nvPr/>
        </p:nvSpPr>
        <p:spPr>
          <a:xfrm>
            <a:off x="508000" y="3543300"/>
            <a:ext cx="2857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F6E9FB-0E86-4128-AFB6-D8308910829B}"/>
              </a:ext>
            </a:extLst>
          </p:cNvPr>
          <p:cNvSpPr txBox="1"/>
          <p:nvPr/>
        </p:nvSpPr>
        <p:spPr>
          <a:xfrm>
            <a:off x="635000" y="3740150"/>
            <a:ext cx="2603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 b="1" dirty="0">
                <a:solidFill>
                  <a:srgbClr val="0B2F5B"/>
                </a:solidFill>
                <a:latin typeface="Aptos"/>
              </a:rPr>
              <a:t>Sesión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C8F120-356B-400E-A5F8-9F8C88E4CF3A}"/>
              </a:ext>
            </a:extLst>
          </p:cNvPr>
          <p:cNvSpPr/>
          <p:nvPr/>
        </p:nvSpPr>
        <p:spPr>
          <a:xfrm>
            <a:off x="3365500" y="3543300"/>
            <a:ext cx="83185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6C0ECA-37D8-44F6-9C34-CEF641EB50A0}"/>
              </a:ext>
            </a:extLst>
          </p:cNvPr>
          <p:cNvSpPr txBox="1"/>
          <p:nvPr/>
        </p:nvSpPr>
        <p:spPr>
          <a:xfrm>
            <a:off x="3492500" y="3740150"/>
            <a:ext cx="8064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200">
                <a:solidFill>
                  <a:srgbClr val="172033"/>
                </a:solidFill>
                <a:latin typeface="Aptos"/>
              </a:rPr>
              <a:t>Recarga; si continúa, registra hora, pantalla y mensaje del toast.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68DD9EB-0FB3-4CFE-8C92-6E5F1CB396AD}"/>
              </a:ext>
            </a:extLst>
          </p:cNvPr>
          <p:cNvSpPr/>
          <p:nvPr/>
        </p:nvSpPr>
        <p:spPr>
          <a:xfrm>
            <a:off x="508000" y="5016500"/>
            <a:ext cx="11176000" cy="1054100"/>
          </a:xfrm>
          <a:prstGeom prst="roundRect">
            <a:avLst/>
          </a:prstGeom>
          <a:solidFill>
            <a:srgbClr val="E8F1FB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9A5812-37A9-4E77-A5D6-159CF048D5D8}"/>
              </a:ext>
            </a:extLst>
          </p:cNvPr>
          <p:cNvSpPr txBox="1"/>
          <p:nvPr/>
        </p:nvSpPr>
        <p:spPr>
          <a:xfrm>
            <a:off x="762000" y="5219700"/>
            <a:ext cx="228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300" b="1">
                <a:solidFill>
                  <a:srgbClr val="1E5799"/>
                </a:solidFill>
                <a:latin typeface="Aptos"/>
              </a:rPr>
              <a:t>Al contactar soporte</a:t>
            </a:r>
          </a:p>
        </p:txBody>
      </p:sp>
      <p:sp>
        <p:nvSpPr>
          <p:cNvPr id="32" name="TextBox 31">
            <a:hlinkClick r:id="rId2"/>
            <a:extLst>
              <a:ext uri="{FF2B5EF4-FFF2-40B4-BE49-F238E27FC236}">
                <a16:creationId xmlns:a16="http://schemas.microsoft.com/office/drawing/2014/main" id="{1FBDBA44-8F7B-4909-8AF4-B97D74911B6C}"/>
              </a:ext>
            </a:extLst>
          </p:cNvPr>
          <p:cNvSpPr txBox="1"/>
          <p:nvPr/>
        </p:nvSpPr>
        <p:spPr>
          <a:xfrm>
            <a:off x="762000" y="5588000"/>
            <a:ext cx="1003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MX" sz="1300">
                <a:solidFill>
                  <a:srgbClr val="172033"/>
                </a:solidFill>
                <a:latin typeface="Aptos"/>
              </a:rPr>
              <a:t>Envía: usuario, fecha/hora, pantalla, pasos, mensaje y captura.  Ramos.Rey@inventec.com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4FC8AC-557F-43C4-A8E2-1024FBFC42E4}"/>
              </a:ext>
            </a:extLst>
          </p:cNvPr>
          <p:cNvSpPr txBox="1"/>
          <p:nvPr/>
        </p:nvSpPr>
        <p:spPr>
          <a:xfrm>
            <a:off x="8255000" y="6057900"/>
            <a:ext cx="342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s-MX" sz="900">
                <a:solidFill>
                  <a:srgbClr val="5D6B82"/>
                </a:solidFill>
                <a:latin typeface="Aptos"/>
              </a:rPr>
              <a:t>Manual v2.0 · Validado para KittyHP · Julio 2026</a:t>
            </a:r>
          </a:p>
        </p:txBody>
      </p:sp>
    </p:spTree>
    <p:extLst>
      <p:ext uri="{BB962C8B-B14F-4D97-AF65-F5344CB8AC3E}">
        <p14:creationId xmlns:p14="http://schemas.microsoft.com/office/powerpoint/2010/main" val="3308798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284155-C975-40F1-B95C-8D555DFE0ED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E57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CA984A-5C75-473B-BD35-0E81461FEF02}"/>
              </a:ext>
            </a:extLst>
          </p:cNvPr>
          <p:cNvSpPr txBox="1"/>
          <p:nvPr/>
        </p:nvSpPr>
        <p:spPr>
          <a:xfrm>
            <a:off x="431800" y="254000"/>
            <a:ext cx="1778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500" b="1">
                <a:solidFill>
                  <a:srgbClr val="1E5799"/>
                </a:solidFill>
                <a:latin typeface="Aptos"/>
              </a:rPr>
              <a:t>KittyHP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A0319-E99F-45DA-9D57-4BC5A8C1FB8D}"/>
              </a:ext>
            </a:extLst>
          </p:cNvPr>
          <p:cNvSpPr txBox="1"/>
          <p:nvPr/>
        </p:nvSpPr>
        <p:spPr>
          <a:xfrm>
            <a:off x="9144000" y="279400"/>
            <a:ext cx="2603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1000">
                <a:solidFill>
                  <a:srgbClr val="5D6B82"/>
                </a:solidFill>
                <a:latin typeface="Aptos"/>
              </a:rPr>
              <a:t>CIERRE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2F029F-227D-4CA2-95CE-2EB527155C78}"/>
              </a:ext>
            </a:extLst>
          </p:cNvPr>
          <p:cNvSpPr/>
          <p:nvPr/>
        </p:nvSpPr>
        <p:spPr>
          <a:xfrm>
            <a:off x="381000" y="6477000"/>
            <a:ext cx="11430000" cy="12700"/>
          </a:xfrm>
          <a:prstGeom prst="rect">
            <a:avLst/>
          </a:prstGeom>
          <a:solidFill>
            <a:srgbClr val="CFD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hlinkClick r:id="rId2"/>
            <a:extLst>
              <a:ext uri="{FF2B5EF4-FFF2-40B4-BE49-F238E27FC236}">
                <a16:creationId xmlns:a16="http://schemas.microsoft.com/office/drawing/2014/main" id="{F49C9254-DEEC-43B6-95B6-310272766941}"/>
              </a:ext>
            </a:extLst>
          </p:cNvPr>
          <p:cNvSpPr txBox="1"/>
          <p:nvPr/>
        </p:nvSpPr>
        <p:spPr>
          <a:xfrm>
            <a:off x="431800" y="6553200"/>
            <a:ext cx="5334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fi-FI" sz="800">
                <a:solidFill>
                  <a:srgbClr val="5D6B82"/>
                </a:solidFill>
                <a:latin typeface="Aptos"/>
              </a:rPr>
              <a:t>2026 · KittyHP · Ramos.Rey@inventec.com</a:t>
            </a:r>
            <a:endParaRPr lang="es-MX" sz="800">
              <a:solidFill>
                <a:srgbClr val="5D6B82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CB757E-81F0-4C7F-A7D6-2FBDAC1AC298}"/>
              </a:ext>
            </a:extLst>
          </p:cNvPr>
          <p:cNvSpPr txBox="1"/>
          <p:nvPr/>
        </p:nvSpPr>
        <p:spPr>
          <a:xfrm>
            <a:off x="11176000" y="6553200"/>
            <a:ext cx="5715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MX" sz="800" b="1">
                <a:solidFill>
                  <a:srgbClr val="5D6B82"/>
                </a:solidFill>
                <a:latin typeface="Aptos"/>
              </a:rPr>
              <a:t>32</a:t>
            </a:r>
            <a:endParaRPr lang="es-MX" sz="800" b="1" dirty="0">
              <a:solidFill>
                <a:srgbClr val="5D6B82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8488CC-AE7B-4189-8E3A-9A81BD509531}"/>
              </a:ext>
            </a:extLst>
          </p:cNvPr>
          <p:cNvSpPr txBox="1"/>
          <p:nvPr/>
        </p:nvSpPr>
        <p:spPr>
          <a:xfrm>
            <a:off x="431800" y="660400"/>
            <a:ext cx="11049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2800" b="1">
                <a:solidFill>
                  <a:srgbClr val="0B2F5B"/>
                </a:solidFill>
                <a:latin typeface="Aptos"/>
              </a:rPr>
              <a:t>Guía rápida de operación diaria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6C4F22-D73E-4EAA-8648-0365DD6E4946}"/>
              </a:ext>
            </a:extLst>
          </p:cNvPr>
          <p:cNvSpPr txBox="1"/>
          <p:nvPr/>
        </p:nvSpPr>
        <p:spPr>
          <a:xfrm>
            <a:off x="444500" y="1193800"/>
            <a:ext cx="1104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200">
                <a:solidFill>
                  <a:srgbClr val="5D6B82"/>
                </a:solidFill>
                <a:latin typeface="Aptos"/>
              </a:rPr>
              <a:t>Cinco pasos para trabajar con seguridad.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91272B-7F49-4B8E-B425-3C667F6B1496}"/>
              </a:ext>
            </a:extLst>
          </p:cNvPr>
          <p:cNvSpPr/>
          <p:nvPr/>
        </p:nvSpPr>
        <p:spPr>
          <a:xfrm>
            <a:off x="1016000" y="1841500"/>
            <a:ext cx="10160000" cy="584200"/>
          </a:xfrm>
          <a:prstGeom prst="roundRect">
            <a:avLst/>
          </a:prstGeom>
          <a:solidFill>
            <a:srgbClr val="E8F1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84D0FD-FD81-4CC0-8A79-57F47272C428}"/>
              </a:ext>
            </a:extLst>
          </p:cNvPr>
          <p:cNvSpPr txBox="1"/>
          <p:nvPr/>
        </p:nvSpPr>
        <p:spPr>
          <a:xfrm>
            <a:off x="1333500" y="2006600"/>
            <a:ext cx="952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1  Verifica fecha y filtros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8BDF78B-9CA3-47EF-B95D-D87DEA193433}"/>
              </a:ext>
            </a:extLst>
          </p:cNvPr>
          <p:cNvSpPr/>
          <p:nvPr/>
        </p:nvSpPr>
        <p:spPr>
          <a:xfrm>
            <a:off x="1016000" y="2628900"/>
            <a:ext cx="101600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072480-0A92-494C-BC44-2FA0861E42B7}"/>
              </a:ext>
            </a:extLst>
          </p:cNvPr>
          <p:cNvSpPr txBox="1"/>
          <p:nvPr/>
        </p:nvSpPr>
        <p:spPr>
          <a:xfrm>
            <a:off x="1333500" y="2794000"/>
            <a:ext cx="952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2  Importa y revisa la vista previa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77C0E1F-8883-4E19-8EDF-E66E98ED253F}"/>
              </a:ext>
            </a:extLst>
          </p:cNvPr>
          <p:cNvSpPr/>
          <p:nvPr/>
        </p:nvSpPr>
        <p:spPr>
          <a:xfrm>
            <a:off x="1016000" y="3416300"/>
            <a:ext cx="10160000" cy="584200"/>
          </a:xfrm>
          <a:prstGeom prst="roundRect">
            <a:avLst/>
          </a:prstGeom>
          <a:solidFill>
            <a:srgbClr val="E8F1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911686-9DB7-487D-9B6B-11B9ACEE7290}"/>
              </a:ext>
            </a:extLst>
          </p:cNvPr>
          <p:cNvSpPr txBox="1"/>
          <p:nvPr/>
        </p:nvSpPr>
        <p:spPr>
          <a:xfrm>
            <a:off x="1333500" y="3581400"/>
            <a:ext cx="952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3  Ajusta exclusiones y categorías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3699940-1E2B-4E81-A236-3445637246AA}"/>
              </a:ext>
            </a:extLst>
          </p:cNvPr>
          <p:cNvSpPr/>
          <p:nvPr/>
        </p:nvSpPr>
        <p:spPr>
          <a:xfrm>
            <a:off x="1016000" y="4203700"/>
            <a:ext cx="10160000" cy="58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C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E84778-EA7F-4A48-A2E7-D9E2B49A7070}"/>
              </a:ext>
            </a:extLst>
          </p:cNvPr>
          <p:cNvSpPr txBox="1"/>
          <p:nvPr/>
        </p:nvSpPr>
        <p:spPr>
          <a:xfrm>
            <a:off x="1333500" y="4368800"/>
            <a:ext cx="952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4  Confirma y valida Overall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054A6ED-8EFB-480B-B6DC-3CB32B20826C}"/>
              </a:ext>
            </a:extLst>
          </p:cNvPr>
          <p:cNvSpPr/>
          <p:nvPr/>
        </p:nvSpPr>
        <p:spPr>
          <a:xfrm>
            <a:off x="1016000" y="4991100"/>
            <a:ext cx="10160000" cy="584200"/>
          </a:xfrm>
          <a:prstGeom prst="roundRect">
            <a:avLst/>
          </a:prstGeom>
          <a:solidFill>
            <a:srgbClr val="E8F1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ABBDC9-5B64-4C19-8CDA-66BA28D3EF4D}"/>
              </a:ext>
            </a:extLst>
          </p:cNvPr>
          <p:cNvSpPr txBox="1"/>
          <p:nvPr/>
        </p:nvSpPr>
        <p:spPr>
          <a:xfrm>
            <a:off x="1333500" y="5156200"/>
            <a:ext cx="9525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MX" sz="1400" b="1">
                <a:solidFill>
                  <a:srgbClr val="0B2F5B"/>
                </a:solidFill>
                <a:latin typeface="Aptos"/>
              </a:rPr>
              <a:t>5  Completa resultados, acciones e imágenes</a:t>
            </a:r>
          </a:p>
        </p:txBody>
      </p:sp>
      <p:sp>
        <p:nvSpPr>
          <p:cNvPr id="20" name="TextBox 19">
            <a:hlinkClick r:id="rId2"/>
            <a:extLst>
              <a:ext uri="{FF2B5EF4-FFF2-40B4-BE49-F238E27FC236}">
                <a16:creationId xmlns:a16="http://schemas.microsoft.com/office/drawing/2014/main" id="{522F21C7-A7A8-4612-A493-328C69EB5D09}"/>
              </a:ext>
            </a:extLst>
          </p:cNvPr>
          <p:cNvSpPr txBox="1"/>
          <p:nvPr/>
        </p:nvSpPr>
        <p:spPr>
          <a:xfrm>
            <a:off x="1016000" y="5943600"/>
            <a:ext cx="10160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it-IT" sz="1300" b="1">
                <a:solidFill>
                  <a:srgbClr val="1E5799"/>
                </a:solidFill>
                <a:latin typeface="Aptos"/>
              </a:rPr>
              <a:t>Soporte: Ramos.Rey@inventec.com</a:t>
            </a:r>
            <a:endParaRPr lang="es-MX" sz="1300" b="1">
              <a:solidFill>
                <a:srgbClr val="1E5799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239269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2703</Words>
  <Application>Microsoft Office PowerPoint</Application>
  <PresentationFormat>Widescreen</PresentationFormat>
  <Paragraphs>569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KittyHP — Manual de usuario</dc:title>
  <dc:creator>Rey David Ramos Murillo</dc:creator>
  <cp:lastModifiedBy>Ramos.Rey IMP</cp:lastModifiedBy>
  <cp:revision>11</cp:revision>
  <dcterms:created xsi:type="dcterms:W3CDTF">2026-07-28T17:12:37Z</dcterms:created>
  <dcterms:modified xsi:type="dcterms:W3CDTF">2026-07-29T17:40:38Z</dcterms:modified>
</cp:coreProperties>
</file>